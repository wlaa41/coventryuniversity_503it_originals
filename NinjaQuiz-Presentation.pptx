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75" r:id="rId26"/>
    <p:sldId id="265" r:id="rId11"/>
    <p:sldId id="266" r:id="rId12"/>
    <p:sldId id="267" r:id="rId13"/>
    <p:sldId id="268" r:id="rId14"/>
    <p:sldId id="269" r:id="rId15"/>
    <p:sldId id="270" r:id="rId16"/>
    <p:sldId id="271" r:id="rId17"/>
    <p:sldId id="272" r:id="rId18"/>
    <p:sldId id="276" r:id="rId27"/>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3" d="100"/>
          <a:sy n="143" d="100"/>
        </p:scale>
        <p:origin x="160"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1.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2.xml"/><Relationship Id="rId26" Type="http://schemas.openxmlformats.org/officeDocument/2006/relationships/slide" Target="slides/slide11.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5444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We are The Originals. We were given a brief: build a game that teaches cyber-safety. This presentation is about how we worked together to do that.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brief existed. One in three children has already encountered an online risk — but passive teaching does not stick. The client needed something young people would actually engage with. That was our starting point.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talk about what we built — let's establish who we are and how we divided the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was divided so every person owned one module end-to-end. No overlap meant clear accountability — when something needed fixing, we knew exactly who to speak to. This was a deliberate decision made in our first meeting.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process — how we actually organised, communicated and made decisions as a team.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three tools deliberately. Trello kept tasks visible to everyone — no one had to ask 'what are you working on?' GitHub meant five people could write code at the same time without conflicts. WhatsApp was our daily pulse — stand-ups every week.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eight stand-ups over eight weeks. Same three questions every time. This kept every team member focused on progress and surfaced blockers early — before they became emergencies. The stand-up format came from Agile methodology.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in the project we recognised that undocumented decisions were causing confusion. We moved to a structured approach — minutes for every meeting, a Trello card for every decision. If someone was absent, they could catch up. Nothing was lost.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Agile methodology — five two-week sprints. Each sprint closed with a working demo and a team retrospective. This meant we were always building on something that worked, and the team reviewed its own process at the end of every cycle.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Halfway through the project, we hit our biggest challenge. This is where the team's communication structure was actually tested.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our make-or-break moment. The game ran but answer targets never appeared — the entire gameplay depended on them. The reason it was resolved in one day: the team communicated immediately. Everyone looked at the error log together. Root cause identified, component rebuilt. Not one person could have done that alone.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bug was not just a technical problem — it was a test of our process. And our process worked. Because every person knew their role, issues were raised immediately, and the team reviewed code collaboratively, we resolved it without delaying the sprint.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process covered — let's show what it produced.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delivered every client requirement. This was possible because of the structured process — clear roles, sprint planning, and documented decisions meant nothing was missed.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testing was part of Sprint 4 and 5. We gathered feedback from peers who had not seen the game before. Their responses validated that the game teaches while entertaining — and the desire to replay confirms educational retention.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Ninja Quiz in play. A cyber-safety question appears, four answer targets fly across the screen, and the player slices the correct one. The product is fully working and available for a live demo right now.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biggest takeaway from this project: the game existed because of how we communicated — not just how we coded. Structured stand-ups, documented decisions, and fast escalation of issues made the difference between a broken prototype and a working product.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and run a live demo of the game. We are also happy to walk through any part of the team process in more detail.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FFCD00"/>
          </a:solidFill>
          <a:ln/>
        </p:spPr>
        <p:txBody>
          <a:bodyPr/>
          <a:lstStyle/>
          <a:p>
            <a:endParaRPr lang="en-GB"/>
          </a:p>
        </p:txBody>
      </p:sp>
      <p:sp>
        <p:nvSpPr>
          <p:cNvPr id="3" name="Text 1"/>
          <p:cNvSpPr/>
          <p:nvPr/>
        </p:nvSpPr>
        <p:spPr>
          <a:xfrm>
            <a:off x="457200" y="1005840"/>
            <a:ext cx="8229600" cy="1463040"/>
          </a:xfrm>
          <a:prstGeom prst="rect">
            <a:avLst/>
          </a:prstGeom>
          <a:noFill/>
          <a:ln/>
        </p:spPr>
        <p:txBody>
          <a:bodyPr wrap="square" rtlCol="0" anchor="ctr"/>
          <a:lstStyle/>
          <a:p>
            <a:pPr marL="0" indent="0">
              <a:buNone/>
            </a:pPr>
            <a:r>
              <a:rPr lang="en-US" sz="10000" b="1" dirty="0">
                <a:solidFill>
                  <a:srgbClr val="FFFFFF"/>
                </a:solidFill>
                <a:latin typeface="Arial Black" pitchFamily="34" charset="0"/>
                <a:ea typeface="Arial Black" pitchFamily="34" charset="-122"/>
                <a:cs typeface="Arial Black" pitchFamily="34" charset="-120"/>
              </a:rPr>
              <a:t>Ninja</a:t>
            </a:r>
            <a:endParaRPr lang="en-US" sz="10000" dirty="0"/>
          </a:p>
        </p:txBody>
      </p:sp>
      <p:sp>
        <p:nvSpPr>
          <p:cNvPr id="4" name="Text 2"/>
          <p:cNvSpPr/>
          <p:nvPr/>
        </p:nvSpPr>
        <p:spPr>
          <a:xfrm>
            <a:off x="457200" y="2331720"/>
            <a:ext cx="8229600" cy="1463040"/>
          </a:xfrm>
          <a:prstGeom prst="rect">
            <a:avLst/>
          </a:prstGeom>
          <a:noFill/>
          <a:ln/>
        </p:spPr>
        <p:txBody>
          <a:bodyPr wrap="square" rtlCol="0" anchor="ctr"/>
          <a:lstStyle/>
          <a:p>
            <a:pPr marL="0" indent="0">
              <a:buNone/>
            </a:pPr>
            <a:r>
              <a:rPr lang="en-US" sz="10000" b="1" dirty="0">
                <a:solidFill>
                  <a:srgbClr val="FFCD00"/>
                </a:solidFill>
                <a:latin typeface="Arial Black" pitchFamily="34" charset="0"/>
                <a:ea typeface="Arial Black" pitchFamily="34" charset="-122"/>
                <a:cs typeface="Arial Black" pitchFamily="34" charset="-120"/>
              </a:rPr>
              <a:t>Quiz.</a:t>
            </a:r>
            <a:endParaRPr lang="en-US" sz="10000" dirty="0"/>
          </a:p>
        </p:txBody>
      </p:sp>
      <p:sp>
        <p:nvSpPr>
          <p:cNvPr id="5" name="Text 3"/>
          <p:cNvSpPr/>
          <p:nvPr/>
        </p:nvSpPr>
        <p:spPr>
          <a:xfrm>
            <a:off x="457200" y="3977640"/>
            <a:ext cx="5486400" cy="320040"/>
          </a:xfrm>
          <a:prstGeom prst="rect">
            <a:avLst/>
          </a:prstGeom>
          <a:noFill/>
          <a:ln/>
        </p:spPr>
        <p:txBody>
          <a:bodyPr wrap="square" rtlCol="0" anchor="ctr"/>
          <a:lstStyle/>
          <a:p>
            <a:pPr marL="0" indent="0">
              <a:buNone/>
            </a:pPr>
            <a:r>
              <a:rPr lang="en-US" sz="1400" i="1" dirty="0">
                <a:solidFill>
                  <a:srgbClr val="555555"/>
                </a:solidFill>
                <a:latin typeface="Arial" pitchFamily="34" charset="0"/>
                <a:ea typeface="Arial" pitchFamily="34" charset="-122"/>
                <a:cs typeface="Arial" pitchFamily="34" charset="-120"/>
              </a:rPr>
              <a:t>Cyber-safety for young learners</a:t>
            </a:r>
            <a:endParaRPr lang="en-US" sz="1400" dirty="0"/>
          </a:p>
        </p:txBody>
      </p:sp>
      <p:sp>
        <p:nvSpPr>
          <p:cNvPr id="6" name="Text 4"/>
          <p:cNvSpPr/>
          <p:nvPr/>
        </p:nvSpPr>
        <p:spPr>
          <a:xfrm>
            <a:off x="457200" y="4800600"/>
            <a:ext cx="8229600" cy="228600"/>
          </a:xfrm>
          <a:prstGeom prst="rect">
            <a:avLst/>
          </a:prstGeom>
          <a:noFill/>
          <a:ln/>
        </p:spPr>
        <p:txBody>
          <a:bodyPr wrap="square" rtlCol="0" anchor="ctr"/>
          <a:lstStyle/>
          <a:p>
            <a:pPr marL="0" indent="0">
              <a:buNone/>
            </a:pPr>
            <a:r>
              <a:rPr lang="en-US" sz="1000" dirty="0">
                <a:solidFill>
                  <a:srgbClr val="555555"/>
                </a:solidFill>
                <a:latin typeface="Arial" pitchFamily="34" charset="0"/>
                <a:ea typeface="Arial" pitchFamily="34" charset="-122"/>
                <a:cs typeface="Arial" pitchFamily="34" charset="-120"/>
              </a:rPr>
              <a:t>503IT  ·  Team The Originals  ·  Coventry University London</a:t>
            </a:r>
            <a:endParaRPr lang="en-US" sz="10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457200" y="256032"/>
            <a:ext cx="6400800" cy="256032"/>
          </a:xfrm>
          <a:prstGeom prst="rect">
            <a:avLst/>
          </a:prstGeom>
          <a:noFill/>
        </p:spPr>
        <p:txBody>
          <a:bodyPr wrap="square">
            <a:spAutoFit/>
          </a:bodyPr>
          <a:lstStyle/>
          <a:p>
            <a:pPr algn="l"/>
            <a:r>
              <a:rPr sz="1000" b="1" i="0">
                <a:solidFill>
                  <a:srgbClr val="888888"/>
                </a:solidFill>
              </a:rPr>
              <a:t>WHAT WE WILL COVER</a:t>
            </a:r>
          </a:p>
        </p:txBody>
      </p:sp>
      <p:sp>
        <p:nvSpPr>
          <p:cNvPr id="3" name="TextBox 2"/>
          <p:cNvSpPr txBox="1"/>
          <p:nvPr/>
        </p:nvSpPr>
        <p:spPr>
          <a:xfrm>
            <a:off x="3657600" y="4919472"/>
            <a:ext cx="5212080" cy="182880"/>
          </a:xfrm>
          <a:prstGeom prst="rect">
            <a:avLst/>
          </a:prstGeom>
          <a:noFill/>
        </p:spPr>
        <p:txBody>
          <a:bodyPr wrap="square">
            <a:spAutoFit/>
          </a:bodyPr>
          <a:lstStyle/>
          <a:p>
            <a:pPr algn="l"/>
            <a:r>
              <a:rPr sz="800" b="0" i="0">
                <a:solidFill>
                  <a:srgbClr val="444444"/>
                </a:solidFill>
              </a:rPr>
              <a:t>NINJA QUIZ  .  503IT</a:t>
            </a:r>
          </a:p>
        </p:txBody>
      </p:sp>
      <p:sp>
        <p:nvSpPr>
          <p:cNvPr id="4" name="TextBox 3"/>
          <p:cNvSpPr txBox="1"/>
          <p:nvPr/>
        </p:nvSpPr>
        <p:spPr>
          <a:xfrm>
            <a:off x="457200" y="594360"/>
            <a:ext cx="8229600" cy="1097280"/>
          </a:xfrm>
          <a:prstGeom prst="rect">
            <a:avLst/>
          </a:prstGeom>
          <a:noFill/>
        </p:spPr>
        <p:txBody>
          <a:bodyPr wrap="square">
            <a:spAutoFit/>
          </a:bodyPr>
          <a:lstStyle/>
          <a:p>
            <a:pPr algn="l"/>
            <a:r>
              <a:rPr sz="3400" b="1" i="0">
                <a:solidFill>
                  <a:srgbClr val="FFFFFF"/>
                </a:solidFill>
              </a:rPr>
              <a:t>15 minutes.</a:t>
            </a:r>
          </a:p>
          <a:p>
            <a:pPr algn="l"/>
            <a:r>
              <a:rPr sz="3400" b="1" i="0">
                <a:solidFill>
                  <a:srgbClr val="FFFFFF"/>
                </a:solidFill>
              </a:rPr>
              <a:t>One story.</a:t>
            </a:r>
          </a:p>
        </p:txBody>
      </p:sp>
      <p:sp>
        <p:nvSpPr>
          <p:cNvPr id="5" name="TextBox 4"/>
          <p:cNvSpPr txBox="1"/>
          <p:nvPr/>
        </p:nvSpPr>
        <p:spPr>
          <a:xfrm>
            <a:off x="457200" y="1874519"/>
            <a:ext cx="640080" cy="292608"/>
          </a:xfrm>
          <a:prstGeom prst="rect">
            <a:avLst/>
          </a:prstGeom>
          <a:noFill/>
        </p:spPr>
        <p:txBody>
          <a:bodyPr wrap="square">
            <a:spAutoFit/>
          </a:bodyPr>
          <a:lstStyle/>
          <a:p>
            <a:pPr algn="l"/>
            <a:r>
              <a:rPr sz="1200" b="1" i="0">
                <a:solidFill>
                  <a:srgbClr val="FFCD00"/>
                </a:solidFill>
              </a:rPr>
              <a:t>01</a:t>
            </a:r>
          </a:p>
        </p:txBody>
      </p:sp>
      <p:sp>
        <p:nvSpPr>
          <p:cNvPr id="6" name="TextBox 5"/>
          <p:cNvSpPr txBox="1"/>
          <p:nvPr/>
        </p:nvSpPr>
        <p:spPr>
          <a:xfrm>
            <a:off x="1188720" y="1874519"/>
            <a:ext cx="7680960" cy="292608"/>
          </a:xfrm>
          <a:prstGeom prst="rect">
            <a:avLst/>
          </a:prstGeom>
          <a:noFill/>
        </p:spPr>
        <p:txBody>
          <a:bodyPr wrap="square">
            <a:spAutoFit/>
          </a:bodyPr>
          <a:lstStyle/>
          <a:p>
            <a:pPr algn="l"/>
            <a:r>
              <a:rPr sz="1200" b="0" i="0">
                <a:solidFill>
                  <a:srgbClr val="DDDDDD"/>
                </a:solidFill>
              </a:rPr>
              <a:t>The brief — and why we chose this audience</a:t>
            </a:r>
          </a:p>
        </p:txBody>
      </p:sp>
      <p:sp>
        <p:nvSpPr>
          <p:cNvPr id="7" name="TextBox 6"/>
          <p:cNvSpPr txBox="1"/>
          <p:nvPr/>
        </p:nvSpPr>
        <p:spPr>
          <a:xfrm>
            <a:off x="457200" y="2331720"/>
            <a:ext cx="640080" cy="292608"/>
          </a:xfrm>
          <a:prstGeom prst="rect">
            <a:avLst/>
          </a:prstGeom>
          <a:noFill/>
        </p:spPr>
        <p:txBody>
          <a:bodyPr wrap="square">
            <a:spAutoFit/>
          </a:bodyPr>
          <a:lstStyle/>
          <a:p>
            <a:pPr algn="l"/>
            <a:r>
              <a:rPr sz="1200" b="1" i="0">
                <a:solidFill>
                  <a:srgbClr val="FFCD00"/>
                </a:solidFill>
              </a:rPr>
              <a:t>02</a:t>
            </a:r>
          </a:p>
        </p:txBody>
      </p:sp>
      <p:sp>
        <p:nvSpPr>
          <p:cNvPr id="8" name="TextBox 7"/>
          <p:cNvSpPr txBox="1"/>
          <p:nvPr/>
        </p:nvSpPr>
        <p:spPr>
          <a:xfrm>
            <a:off x="1188720" y="2331720"/>
            <a:ext cx="7680960" cy="292608"/>
          </a:xfrm>
          <a:prstGeom prst="rect">
            <a:avLst/>
          </a:prstGeom>
          <a:noFill/>
        </p:spPr>
        <p:txBody>
          <a:bodyPr wrap="square">
            <a:spAutoFit/>
          </a:bodyPr>
          <a:lstStyle/>
          <a:p>
            <a:pPr algn="l"/>
            <a:r>
              <a:rPr sz="1200" b="0" i="0">
                <a:solidFill>
                  <a:srgbClr val="DDDDDD"/>
                </a:solidFill>
              </a:rPr>
              <a:t>Our team — roles and Belbin framework</a:t>
            </a:r>
          </a:p>
        </p:txBody>
      </p:sp>
      <p:sp>
        <p:nvSpPr>
          <p:cNvPr id="9" name="TextBox 8"/>
          <p:cNvSpPr txBox="1"/>
          <p:nvPr/>
        </p:nvSpPr>
        <p:spPr>
          <a:xfrm>
            <a:off x="457200" y="2788920"/>
            <a:ext cx="640080" cy="292608"/>
          </a:xfrm>
          <a:prstGeom prst="rect">
            <a:avLst/>
          </a:prstGeom>
          <a:noFill/>
        </p:spPr>
        <p:txBody>
          <a:bodyPr wrap="square">
            <a:spAutoFit/>
          </a:bodyPr>
          <a:lstStyle/>
          <a:p>
            <a:pPr algn="l"/>
            <a:r>
              <a:rPr sz="1200" b="1" i="0">
                <a:solidFill>
                  <a:srgbClr val="FFCD00"/>
                </a:solidFill>
              </a:rPr>
              <a:t>03</a:t>
            </a:r>
          </a:p>
        </p:txBody>
      </p:sp>
      <p:sp>
        <p:nvSpPr>
          <p:cNvPr id="10" name="TextBox 9"/>
          <p:cNvSpPr txBox="1"/>
          <p:nvPr/>
        </p:nvSpPr>
        <p:spPr>
          <a:xfrm>
            <a:off x="1188720" y="2788920"/>
            <a:ext cx="7680960" cy="292608"/>
          </a:xfrm>
          <a:prstGeom prst="rect">
            <a:avLst/>
          </a:prstGeom>
          <a:noFill/>
        </p:spPr>
        <p:txBody>
          <a:bodyPr wrap="square">
            <a:spAutoFit/>
          </a:bodyPr>
          <a:lstStyle/>
          <a:p>
            <a:pPr algn="l"/>
            <a:r>
              <a:rPr sz="1200" b="0" i="0">
                <a:solidFill>
                  <a:srgbClr val="DDDDDD"/>
                </a:solidFill>
              </a:rPr>
              <a:t>How we planned, communicated and tracked work</a:t>
            </a:r>
          </a:p>
        </p:txBody>
      </p:sp>
      <p:sp>
        <p:nvSpPr>
          <p:cNvPr id="11" name="TextBox 10"/>
          <p:cNvSpPr txBox="1"/>
          <p:nvPr/>
        </p:nvSpPr>
        <p:spPr>
          <a:xfrm>
            <a:off x="457200" y="3246120"/>
            <a:ext cx="640080" cy="292608"/>
          </a:xfrm>
          <a:prstGeom prst="rect">
            <a:avLst/>
          </a:prstGeom>
          <a:noFill/>
        </p:spPr>
        <p:txBody>
          <a:bodyPr wrap="square">
            <a:spAutoFit/>
          </a:bodyPr>
          <a:lstStyle/>
          <a:p>
            <a:pPr algn="l"/>
            <a:r>
              <a:rPr sz="1200" b="1" i="0">
                <a:solidFill>
                  <a:srgbClr val="FFCD00"/>
                </a:solidFill>
              </a:rPr>
              <a:t>04</a:t>
            </a:r>
          </a:p>
        </p:txBody>
      </p:sp>
      <p:sp>
        <p:nvSpPr>
          <p:cNvPr id="12" name="TextBox 11"/>
          <p:cNvSpPr txBox="1"/>
          <p:nvPr/>
        </p:nvSpPr>
        <p:spPr>
          <a:xfrm>
            <a:off x="1188720" y="3246120"/>
            <a:ext cx="7680960" cy="292608"/>
          </a:xfrm>
          <a:prstGeom prst="rect">
            <a:avLst/>
          </a:prstGeom>
          <a:noFill/>
        </p:spPr>
        <p:txBody>
          <a:bodyPr wrap="square">
            <a:spAutoFit/>
          </a:bodyPr>
          <a:lstStyle/>
          <a:p>
            <a:pPr algn="l"/>
            <a:r>
              <a:rPr sz="1200" b="0" i="0">
                <a:solidFill>
                  <a:srgbClr val="DDDDDD"/>
                </a:solidFill>
              </a:rPr>
              <a:t>Our delivery — 5 sprints and what each taught us</a:t>
            </a:r>
          </a:p>
        </p:txBody>
      </p:sp>
      <p:sp>
        <p:nvSpPr>
          <p:cNvPr id="13" name="TextBox 12"/>
          <p:cNvSpPr txBox="1"/>
          <p:nvPr/>
        </p:nvSpPr>
        <p:spPr>
          <a:xfrm>
            <a:off x="457200" y="3703320"/>
            <a:ext cx="640080" cy="292608"/>
          </a:xfrm>
          <a:prstGeom prst="rect">
            <a:avLst/>
          </a:prstGeom>
          <a:noFill/>
        </p:spPr>
        <p:txBody>
          <a:bodyPr wrap="square">
            <a:spAutoFit/>
          </a:bodyPr>
          <a:lstStyle/>
          <a:p>
            <a:pPr algn="l"/>
            <a:r>
              <a:rPr sz="1200" b="1" i="0">
                <a:solidFill>
                  <a:srgbClr val="FFCD00"/>
                </a:solidFill>
              </a:rPr>
              <a:t>05</a:t>
            </a:r>
          </a:p>
        </p:txBody>
      </p:sp>
      <p:sp>
        <p:nvSpPr>
          <p:cNvPr id="14" name="TextBox 13"/>
          <p:cNvSpPr txBox="1"/>
          <p:nvPr/>
        </p:nvSpPr>
        <p:spPr>
          <a:xfrm>
            <a:off x="1188720" y="3703320"/>
            <a:ext cx="7680960" cy="292608"/>
          </a:xfrm>
          <a:prstGeom prst="rect">
            <a:avLst/>
          </a:prstGeom>
          <a:noFill/>
        </p:spPr>
        <p:txBody>
          <a:bodyPr wrap="square">
            <a:spAutoFit/>
          </a:bodyPr>
          <a:lstStyle/>
          <a:p>
            <a:pPr algn="l"/>
            <a:r>
              <a:rPr sz="1200" b="0" i="0">
                <a:solidFill>
                  <a:srgbClr val="DDDDDD"/>
                </a:solidFill>
              </a:rPr>
              <a:t>The product — a live, playable prototype</a:t>
            </a:r>
          </a:p>
        </p:txBody>
      </p:sp>
      <p:sp>
        <p:nvSpPr>
          <p:cNvPr id="15" name="TextBox 14"/>
          <p:cNvSpPr txBox="1"/>
          <p:nvPr/>
        </p:nvSpPr>
        <p:spPr>
          <a:xfrm>
            <a:off x="457200" y="4160520"/>
            <a:ext cx="640080" cy="292608"/>
          </a:xfrm>
          <a:prstGeom prst="rect">
            <a:avLst/>
          </a:prstGeom>
          <a:noFill/>
        </p:spPr>
        <p:txBody>
          <a:bodyPr wrap="square">
            <a:spAutoFit/>
          </a:bodyPr>
          <a:lstStyle/>
          <a:p>
            <a:pPr algn="l"/>
            <a:r>
              <a:rPr sz="1200" b="1" i="0">
                <a:solidFill>
                  <a:srgbClr val="FFCD00"/>
                </a:solidFill>
              </a:rPr>
              <a:t>06</a:t>
            </a:r>
          </a:p>
        </p:txBody>
      </p:sp>
      <p:sp>
        <p:nvSpPr>
          <p:cNvPr id="16" name="TextBox 15"/>
          <p:cNvSpPr txBox="1"/>
          <p:nvPr/>
        </p:nvSpPr>
        <p:spPr>
          <a:xfrm>
            <a:off x="1188720" y="4160520"/>
            <a:ext cx="7680960" cy="292608"/>
          </a:xfrm>
          <a:prstGeom prst="rect">
            <a:avLst/>
          </a:prstGeom>
          <a:noFill/>
        </p:spPr>
        <p:txBody>
          <a:bodyPr wrap="square">
            <a:spAutoFit/>
          </a:bodyPr>
          <a:lstStyle/>
          <a:p>
            <a:pPr algn="l"/>
            <a:r>
              <a:rPr sz="1200" b="0" i="0">
                <a:solidFill>
                  <a:srgbClr val="DDDDDD"/>
                </a:solidFill>
              </a:rPr>
              <a:t>What we learned — and how it shapes our careers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FFCD00"/>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r>
              <a:rPr lang="en-US" sz="1000" b="1" kern="0" spc="200" dirty="0">
                <a:solidFill>
                  <a:srgbClr val="555555"/>
                </a:solidFill>
                <a:latin typeface="Arial" pitchFamily="34" charset="0"/>
                <a:ea typeface="Arial" pitchFamily="34" charset="-122"/>
                <a:cs typeface="Arial" pitchFamily="34" charset="-120"/>
              </a:rPr>
              <a:t>THE BRIEF</a:t>
            </a: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555555"/>
                </a:solidFill>
                <a:latin typeface="Arial" pitchFamily="34" charset="0"/>
                <a:ea typeface="Arial" pitchFamily="34" charset="-122"/>
                <a:cs typeface="Arial" pitchFamily="34" charset="-120"/>
              </a:rPr>
              <a:t>NINJA QUIZ  ·  503IT  ·  02 / 18</a:t>
            </a:r>
            <a:endParaRPr lang="en-US" sz="900" dirty="0"/>
          </a:p>
        </p:txBody>
      </p:sp>
      <p:sp>
        <p:nvSpPr>
          <p:cNvPr id="5" name="Text 3"/>
          <p:cNvSpPr/>
          <p:nvPr/>
        </p:nvSpPr>
        <p:spPr>
          <a:xfrm>
            <a:off x="457200" y="822960"/>
            <a:ext cx="8229600" cy="2438400"/>
          </a:xfrm>
          <a:prstGeom prst="rect">
            <a:avLst/>
          </a:prstGeom>
          <a:noFill/>
          <a:ln/>
        </p:spPr>
        <p:txBody>
          <a:bodyPr wrap="square" rtlCol="0" anchor="ctr"/>
          <a:lstStyle/>
          <a:p>
            <a:pPr marL="0" indent="0">
              <a:buNone/>
            </a:pPr>
            <a:r>
              <a:rPr lang="en-US" sz="9600" b="1" dirty="0">
                <a:solidFill>
                  <a:srgbClr val="FFCD00"/>
                </a:solidFill>
                <a:latin typeface="Arial Black" pitchFamily="34" charset="0"/>
                <a:ea typeface="Arial Black" pitchFamily="34" charset="-122"/>
                <a:cs typeface="Arial Black" pitchFamily="34" charset="-120"/>
              </a:rPr>
              <a:t>1 in 3</a:t>
            </a:r>
            <a:endParaRPr lang="en-US" sz="9600" dirty="0"/>
          </a:p>
        </p:txBody>
      </p:sp>
      <p:sp>
        <p:nvSpPr>
          <p:cNvPr id="6" name="Text 4"/>
          <p:cNvSpPr/>
          <p:nvPr/>
        </p:nvSpPr>
        <p:spPr>
          <a:xfrm>
            <a:off x="457200" y="2468880"/>
            <a:ext cx="7772400" cy="320040"/>
          </a:xfrm>
          <a:prstGeom prst="rect">
            <a:avLst/>
          </a:prstGeom>
          <a:noFill/>
          <a:ln/>
        </p:spPr>
        <p:txBody>
          <a:bodyPr wrap="square" rtlCol="0" anchor="ctr"/>
          <a:lstStyle/>
          <a:p>
            <a:pPr marL="0" indent="0">
              <a:buNone/>
            </a:pPr>
            <a:r>
              <a:rPr lang="en-US" sz="1400" dirty="0">
                <a:solidFill>
                  <a:srgbClr val="555555"/>
                </a:solidFill>
                <a:latin typeface="Arial" pitchFamily="34" charset="0"/>
                <a:ea typeface="Arial" pitchFamily="34" charset="-122"/>
                <a:cs typeface="Arial" pitchFamily="34" charset="-120"/>
              </a:rPr>
              <a:t>children have already faced an online risk.</a:t>
            </a:r>
            <a:endParaRPr lang="en-US" sz="1400" dirty="0"/>
          </a:p>
        </p:txBody>
      </p:sp>
      <p:sp>
        <p:nvSpPr>
          <p:cNvPr id="7" name="Text 5"/>
          <p:cNvSpPr/>
          <p:nvPr/>
        </p:nvSpPr>
        <p:spPr>
          <a:xfrm>
            <a:off x="457200" y="2926080"/>
            <a:ext cx="7772400" cy="320040"/>
          </a:xfrm>
          <a:prstGeom prst="rect">
            <a:avLst/>
          </a:prstGeom>
          <a:noFill/>
          <a:ln/>
        </p:spPr>
        <p:txBody>
          <a:bodyPr wrap="square" rtlCol="0" anchor="ctr"/>
          <a:lstStyle/>
          <a:p>
            <a:pPr marL="0" indent="0">
              <a:buNone/>
            </a:pPr>
            <a:r>
              <a:rPr lang="en-US" sz="1400" dirty="0">
                <a:solidFill>
                  <a:srgbClr val="555555"/>
                </a:solidFill>
                <a:latin typeface="Arial" pitchFamily="34" charset="0"/>
                <a:ea typeface="Arial" pitchFamily="34" charset="-122"/>
                <a:cs typeface="Arial" pitchFamily="34" charset="-120"/>
              </a:rPr>
              <a:t>The brief: build a game that actually teaches them to stay safe.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FFCD00"/>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555555"/>
                </a:solidFill>
                <a:latin typeface="Arial" pitchFamily="34" charset="0"/>
                <a:ea typeface="Arial" pitchFamily="34" charset="-122"/>
                <a:cs typeface="Arial" pitchFamily="34" charset="-120"/>
              </a:rPr>
              <a:t>NINJA QUIZ  ·  503IT  ·  03 / 18</a:t>
            </a:r>
            <a:endParaRPr lang="en-US" sz="900" dirty="0"/>
          </a:p>
        </p:txBody>
      </p:sp>
      <p:sp>
        <p:nvSpPr>
          <p:cNvPr id="5" name="Text 3"/>
          <p:cNvSpPr/>
          <p:nvPr/>
        </p:nvSpPr>
        <p:spPr>
          <a:xfrm>
            <a:off x="457200" y="1463040"/>
            <a:ext cx="8229600" cy="1524000"/>
          </a:xfrm>
          <a:prstGeom prst="rect">
            <a:avLst/>
          </a:prstGeom>
          <a:noFill/>
          <a:ln/>
        </p:spPr>
        <p:txBody>
          <a:bodyPr wrap="square" rtlCol="0" anchor="ctr"/>
          <a:lstStyle/>
          <a:p>
            <a:pPr marL="0" indent="0">
              <a:buNone/>
            </a:pPr>
            <a:r>
              <a:rPr lang="en-US" sz="6000" b="1" dirty="0">
                <a:solidFill>
                  <a:srgbClr val="FFFFFF"/>
                </a:solidFill>
                <a:latin typeface="Arial Black" pitchFamily="34" charset="0"/>
                <a:ea typeface="Arial Black" pitchFamily="34" charset="-122"/>
                <a:cs typeface="Arial Black" pitchFamily="34" charset="-120"/>
              </a:rPr>
              <a:t>The team.</a:t>
            </a:r>
            <a:endParaRPr lang="en-US" sz="6000" dirty="0"/>
          </a:p>
        </p:txBody>
      </p:sp>
      <p:sp>
        <p:nvSpPr>
          <p:cNvPr id="6" name="Text 4"/>
          <p:cNvSpPr/>
          <p:nvPr/>
        </p:nvSpPr>
        <p:spPr>
          <a:xfrm>
            <a:off x="457200" y="3200400"/>
            <a:ext cx="7772400" cy="320040"/>
          </a:xfrm>
          <a:prstGeom prst="rect">
            <a:avLst/>
          </a:prstGeom>
          <a:noFill/>
          <a:ln/>
        </p:spPr>
        <p:txBody>
          <a:bodyPr wrap="square" rtlCol="0" anchor="ctr"/>
          <a:lstStyle/>
          <a:p>
            <a:pPr marL="0" indent="0">
              <a:buNone/>
            </a:pPr>
            <a:r>
              <a:rPr lang="en-US" sz="1400" dirty="0">
                <a:solidFill>
                  <a:srgbClr val="555555"/>
                </a:solidFill>
                <a:latin typeface="Arial" pitchFamily="34" charset="0"/>
                <a:ea typeface="Arial" pitchFamily="34" charset="-122"/>
                <a:cs typeface="Arial" pitchFamily="34" charset="-120"/>
              </a:rPr>
              <a:t>Who we are. What we each owned.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DDDDDD"/>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r>
              <a:rPr lang="en-US" sz="1000" b="1" kern="0" spc="200" dirty="0">
                <a:solidFill>
                  <a:srgbClr val="888888"/>
                </a:solidFill>
                <a:latin typeface="Arial" pitchFamily="34" charset="0"/>
                <a:ea typeface="Arial" pitchFamily="34" charset="-122"/>
                <a:cs typeface="Arial" pitchFamily="34" charset="-120"/>
              </a:rPr>
              <a:t>THE TEAM</a:t>
            </a: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888888"/>
                </a:solidFill>
                <a:latin typeface="Arial" pitchFamily="34" charset="0"/>
                <a:ea typeface="Arial" pitchFamily="34" charset="-122"/>
                <a:cs typeface="Arial" pitchFamily="34" charset="-120"/>
              </a:rPr>
              <a:t>NINJA QUIZ  ·  503IT  ·  04 / 18</a:t>
            </a:r>
            <a:endParaRPr lang="en-US" sz="900" dirty="0"/>
          </a:p>
        </p:txBody>
      </p:sp>
      <p:sp>
        <p:nvSpPr>
          <p:cNvPr id="5" name="Text 3"/>
          <p:cNvSpPr/>
          <p:nvPr/>
        </p:nvSpPr>
        <p:spPr>
          <a:xfrm>
            <a:off x="457200" y="685800"/>
            <a:ext cx="8229600" cy="812800"/>
          </a:xfrm>
          <a:prstGeom prst="rect">
            <a:avLst/>
          </a:prstGeom>
          <a:noFill/>
          <a:ln/>
        </p:spPr>
        <p:txBody>
          <a:bodyPr wrap="square" rtlCol="0" anchor="ctr"/>
          <a:lstStyle/>
          <a:p>
            <a:pPr marL="0" indent="0">
              <a:buNone/>
            </a:pPr>
            <a:r>
              <a:rPr lang="en-US" sz="3200" b="1" dirty="0">
                <a:solidFill>
                  <a:srgbClr val="111111"/>
                </a:solidFill>
                <a:latin typeface="Arial Black" pitchFamily="34" charset="0"/>
                <a:ea typeface="Arial Black" pitchFamily="34" charset="-122"/>
                <a:cs typeface="Arial Black" pitchFamily="34" charset="-120"/>
              </a:rPr>
              <a:t>Five people. One piece each.</a:t>
            </a:r>
            <a:endParaRPr lang="en-US" sz="3200" dirty="0"/>
          </a:p>
        </p:txBody>
      </p:sp>
      <p:sp>
        <p:nvSpPr>
          <p:cNvPr id="6" name="Shape 4"/>
          <p:cNvSpPr/>
          <p:nvPr/>
        </p:nvSpPr>
        <p:spPr>
          <a:xfrm>
            <a:off x="457200" y="1463040"/>
            <a:ext cx="8229600" cy="10973"/>
          </a:xfrm>
          <a:prstGeom prst="rect">
            <a:avLst/>
          </a:prstGeom>
          <a:solidFill>
            <a:srgbClr val="EEEEEE"/>
          </a:solidFill>
          <a:ln/>
        </p:spPr>
        <p:txBody>
          <a:bodyPr/>
          <a:lstStyle/>
          <a:p>
            <a:endParaRPr lang="en-GB"/>
          </a:p>
        </p:txBody>
      </p:sp>
      <p:sp>
        <p:nvSpPr>
          <p:cNvPr id="7" name="Text 5"/>
          <p:cNvSpPr/>
          <p:nvPr/>
        </p:nvSpPr>
        <p:spPr>
          <a:xfrm>
            <a:off x="457200" y="1609344"/>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01</a:t>
            </a:r>
            <a:endParaRPr lang="en-US" sz="2000" dirty="0"/>
          </a:p>
        </p:txBody>
      </p:sp>
      <p:sp>
        <p:nvSpPr>
          <p:cNvPr id="8" name="Text 6"/>
          <p:cNvSpPr/>
          <p:nvPr/>
        </p:nvSpPr>
        <p:spPr>
          <a:xfrm>
            <a:off x="1371600" y="1591056"/>
            <a:ext cx="347472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Mukesh</a:t>
            </a:r>
            <a:endParaRPr lang="en-US" sz="1700" dirty="0"/>
          </a:p>
        </p:txBody>
      </p:sp>
      <p:sp>
        <p:nvSpPr>
          <p:cNvPr id="9" name="Text 7"/>
          <p:cNvSpPr/>
          <p:nvPr/>
        </p:nvSpPr>
        <p:spPr>
          <a:xfrm>
            <a:off x="1371600" y="1892808"/>
            <a:ext cx="347472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Coordinator — planning, integration, client liaison</a:t>
            </a:r>
            <a:endParaRPr lang="en-US" sz="1200" dirty="0"/>
          </a:p>
        </p:txBody>
      </p:sp>
      <p:sp>
        <p:nvSpPr>
          <p:cNvPr id="10" name="Text 8"/>
          <p:cNvSpPr/>
          <p:nvPr/>
        </p:nvSpPr>
        <p:spPr>
          <a:xfrm>
            <a:off x="457200" y="2276856"/>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02</a:t>
            </a:r>
            <a:endParaRPr lang="en-US" sz="2000" dirty="0"/>
          </a:p>
        </p:txBody>
      </p:sp>
      <p:sp>
        <p:nvSpPr>
          <p:cNvPr id="11" name="Text 9"/>
          <p:cNvSpPr/>
          <p:nvPr/>
        </p:nvSpPr>
        <p:spPr>
          <a:xfrm>
            <a:off x="1371600" y="2258568"/>
            <a:ext cx="347472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Suman</a:t>
            </a:r>
            <a:endParaRPr lang="en-US" sz="1700" dirty="0"/>
          </a:p>
        </p:txBody>
      </p:sp>
      <p:sp>
        <p:nvSpPr>
          <p:cNvPr id="12" name="Text 10"/>
          <p:cNvSpPr/>
          <p:nvPr/>
        </p:nvSpPr>
        <p:spPr>
          <a:xfrm>
            <a:off x="1371600" y="2560320"/>
            <a:ext cx="347472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Login and registration system</a:t>
            </a:r>
            <a:endParaRPr lang="en-US" sz="1200" dirty="0"/>
          </a:p>
        </p:txBody>
      </p:sp>
      <p:sp>
        <p:nvSpPr>
          <p:cNvPr id="13" name="Text 11"/>
          <p:cNvSpPr/>
          <p:nvPr/>
        </p:nvSpPr>
        <p:spPr>
          <a:xfrm>
            <a:off x="457200" y="2944368"/>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03</a:t>
            </a:r>
            <a:endParaRPr lang="en-US" sz="2000" dirty="0"/>
          </a:p>
        </p:txBody>
      </p:sp>
      <p:sp>
        <p:nvSpPr>
          <p:cNvPr id="14" name="Text 12"/>
          <p:cNvSpPr/>
          <p:nvPr/>
        </p:nvSpPr>
        <p:spPr>
          <a:xfrm>
            <a:off x="1371600" y="2926080"/>
            <a:ext cx="347472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Kishor</a:t>
            </a:r>
            <a:endParaRPr lang="en-US" sz="1700" dirty="0"/>
          </a:p>
        </p:txBody>
      </p:sp>
      <p:sp>
        <p:nvSpPr>
          <p:cNvPr id="15" name="Text 13"/>
          <p:cNvSpPr/>
          <p:nvPr/>
        </p:nvSpPr>
        <p:spPr>
          <a:xfrm>
            <a:off x="1371600" y="3227832"/>
            <a:ext cx="347472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Question system and countdown timer</a:t>
            </a:r>
            <a:endParaRPr lang="en-US" sz="1200" dirty="0"/>
          </a:p>
        </p:txBody>
      </p:sp>
      <p:sp>
        <p:nvSpPr>
          <p:cNvPr id="16" name="Text 14"/>
          <p:cNvSpPr/>
          <p:nvPr/>
        </p:nvSpPr>
        <p:spPr>
          <a:xfrm>
            <a:off x="457200" y="3611880"/>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04</a:t>
            </a:r>
            <a:endParaRPr lang="en-US" sz="2000" dirty="0"/>
          </a:p>
        </p:txBody>
      </p:sp>
      <p:sp>
        <p:nvSpPr>
          <p:cNvPr id="17" name="Text 15"/>
          <p:cNvSpPr/>
          <p:nvPr/>
        </p:nvSpPr>
        <p:spPr>
          <a:xfrm>
            <a:off x="1371600" y="3593592"/>
            <a:ext cx="347472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Bishal</a:t>
            </a:r>
            <a:endParaRPr lang="en-US" sz="1700" dirty="0"/>
          </a:p>
        </p:txBody>
      </p:sp>
      <p:sp>
        <p:nvSpPr>
          <p:cNvPr id="18" name="Text 16"/>
          <p:cNvSpPr/>
          <p:nvPr/>
        </p:nvSpPr>
        <p:spPr>
          <a:xfrm>
            <a:off x="1371600" y="3895344"/>
            <a:ext cx="347472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Slicing mechanics and visual effects</a:t>
            </a:r>
            <a:endParaRPr lang="en-US" sz="1200" dirty="0"/>
          </a:p>
        </p:txBody>
      </p:sp>
      <p:sp>
        <p:nvSpPr>
          <p:cNvPr id="19" name="Text 17"/>
          <p:cNvSpPr/>
          <p:nvPr/>
        </p:nvSpPr>
        <p:spPr>
          <a:xfrm>
            <a:off x="457200" y="4279392"/>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05</a:t>
            </a:r>
            <a:endParaRPr lang="en-US" sz="2000" dirty="0"/>
          </a:p>
        </p:txBody>
      </p:sp>
      <p:sp>
        <p:nvSpPr>
          <p:cNvPr id="20" name="Text 18"/>
          <p:cNvSpPr/>
          <p:nvPr/>
        </p:nvSpPr>
        <p:spPr>
          <a:xfrm>
            <a:off x="1371600" y="4261104"/>
            <a:ext cx="347472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Aakash</a:t>
            </a:r>
            <a:endParaRPr lang="en-US" sz="1700" dirty="0"/>
          </a:p>
        </p:txBody>
      </p:sp>
      <p:sp>
        <p:nvSpPr>
          <p:cNvPr id="21" name="Text 19"/>
          <p:cNvSpPr/>
          <p:nvPr/>
        </p:nvSpPr>
        <p:spPr>
          <a:xfrm>
            <a:off x="1371600" y="4562856"/>
            <a:ext cx="347472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Scoring system and results screen</a:t>
            </a:r>
            <a:endParaRPr lang="en-US" sz="1200" dirty="0"/>
          </a:p>
        </p:txBody>
      </p:sp>
      <p:sp>
        <p:nvSpPr>
          <p:cNvPr id="22" name="TextBox 21"/>
          <p:cNvSpPr txBox="1"/>
          <p:nvPr/>
        </p:nvSpPr>
        <p:spPr>
          <a:xfrm>
            <a:off x="5303520" y="1298448"/>
            <a:ext cx="3474720" cy="256032"/>
          </a:xfrm>
          <a:prstGeom prst="rect">
            <a:avLst/>
          </a:prstGeom>
          <a:noFill/>
        </p:spPr>
        <p:txBody>
          <a:bodyPr wrap="square">
            <a:spAutoFit/>
          </a:bodyPr>
          <a:lstStyle/>
          <a:p>
            <a:pPr algn="l"/>
            <a:r>
              <a:rPr sz="900" b="1" i="0">
                <a:solidFill>
                  <a:srgbClr val="888888"/>
                </a:solidFill>
              </a:rPr>
              <a:t>BELBIN ROLE</a:t>
            </a:r>
          </a:p>
        </p:txBody>
      </p:sp>
      <p:sp>
        <p:nvSpPr>
          <p:cNvPr id="23" name="TextBox 22"/>
          <p:cNvSpPr txBox="1"/>
          <p:nvPr/>
        </p:nvSpPr>
        <p:spPr>
          <a:xfrm>
            <a:off x="5303520" y="1591056"/>
            <a:ext cx="3474720" cy="292608"/>
          </a:xfrm>
          <a:prstGeom prst="rect">
            <a:avLst/>
          </a:prstGeom>
          <a:noFill/>
        </p:spPr>
        <p:txBody>
          <a:bodyPr wrap="square">
            <a:spAutoFit/>
          </a:bodyPr>
          <a:lstStyle/>
          <a:p>
            <a:pPr algn="l"/>
            <a:r>
              <a:rPr sz="1200" b="1" i="0">
                <a:solidFill>
                  <a:srgbClr val="FFCD00"/>
                </a:solidFill>
              </a:rPr>
              <a:t>Coordinator</a:t>
            </a:r>
          </a:p>
        </p:txBody>
      </p:sp>
      <p:sp>
        <p:nvSpPr>
          <p:cNvPr id="24" name="TextBox 23"/>
          <p:cNvSpPr txBox="1"/>
          <p:nvPr/>
        </p:nvSpPr>
        <p:spPr>
          <a:xfrm>
            <a:off x="5303520" y="2258568"/>
            <a:ext cx="3474720" cy="292608"/>
          </a:xfrm>
          <a:prstGeom prst="rect">
            <a:avLst/>
          </a:prstGeom>
          <a:noFill/>
        </p:spPr>
        <p:txBody>
          <a:bodyPr wrap="square">
            <a:spAutoFit/>
          </a:bodyPr>
          <a:lstStyle/>
          <a:p>
            <a:pPr algn="l"/>
            <a:r>
              <a:rPr sz="1200" b="1" i="0">
                <a:solidFill>
                  <a:srgbClr val="FFCD00"/>
                </a:solidFill>
              </a:rPr>
              <a:t>Implementer</a:t>
            </a:r>
          </a:p>
        </p:txBody>
      </p:sp>
      <p:sp>
        <p:nvSpPr>
          <p:cNvPr id="25" name="TextBox 24"/>
          <p:cNvSpPr txBox="1"/>
          <p:nvPr/>
        </p:nvSpPr>
        <p:spPr>
          <a:xfrm>
            <a:off x="5303520" y="2926080"/>
            <a:ext cx="3474720" cy="292608"/>
          </a:xfrm>
          <a:prstGeom prst="rect">
            <a:avLst/>
          </a:prstGeom>
          <a:noFill/>
        </p:spPr>
        <p:txBody>
          <a:bodyPr wrap="square">
            <a:spAutoFit/>
          </a:bodyPr>
          <a:lstStyle/>
          <a:p>
            <a:pPr algn="l"/>
            <a:r>
              <a:rPr sz="1200" b="1" i="0">
                <a:solidFill>
                  <a:srgbClr val="FFCD00"/>
                </a:solidFill>
              </a:rPr>
              <a:t>Specialist</a:t>
            </a:r>
          </a:p>
        </p:txBody>
      </p:sp>
      <p:sp>
        <p:nvSpPr>
          <p:cNvPr id="26" name="TextBox 25"/>
          <p:cNvSpPr txBox="1"/>
          <p:nvPr/>
        </p:nvSpPr>
        <p:spPr>
          <a:xfrm>
            <a:off x="5303520" y="3593592"/>
            <a:ext cx="3474720" cy="292608"/>
          </a:xfrm>
          <a:prstGeom prst="rect">
            <a:avLst/>
          </a:prstGeom>
          <a:noFill/>
        </p:spPr>
        <p:txBody>
          <a:bodyPr wrap="square">
            <a:spAutoFit/>
          </a:bodyPr>
          <a:lstStyle/>
          <a:p>
            <a:pPr algn="l"/>
            <a:r>
              <a:rPr sz="1200" b="1" i="0">
                <a:solidFill>
                  <a:srgbClr val="FFCD00"/>
                </a:solidFill>
              </a:rPr>
              <a:t>Plant</a:t>
            </a:r>
          </a:p>
        </p:txBody>
      </p:sp>
      <p:sp>
        <p:nvSpPr>
          <p:cNvPr id="27" name="TextBox 26"/>
          <p:cNvSpPr txBox="1"/>
          <p:nvPr/>
        </p:nvSpPr>
        <p:spPr>
          <a:xfrm>
            <a:off x="5303520" y="4261104"/>
            <a:ext cx="3474720" cy="292608"/>
          </a:xfrm>
          <a:prstGeom prst="rect">
            <a:avLst/>
          </a:prstGeom>
          <a:noFill/>
        </p:spPr>
        <p:txBody>
          <a:bodyPr wrap="square">
            <a:spAutoFit/>
          </a:bodyPr>
          <a:lstStyle/>
          <a:p>
            <a:pPr algn="l"/>
            <a:r>
              <a:rPr sz="1200" b="1" i="0">
                <a:solidFill>
                  <a:srgbClr val="FFCD00"/>
                </a:solidFill>
              </a:rPr>
              <a:t>Completer Finisher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0D0D"/>
        </a:solidFill>
        <a:effectLst/>
      </p:bgPr>
    </p:bg>
    <p:spTree>
      <p:nvGrpSpPr>
        <p:cNvPr id="1" name=""/>
        <p:cNvGrpSpPr/>
        <p:nvPr/>
      </p:nvGrpSpPr>
      <p:grpSpPr>
        <a:xfrm>
          <a:off x="0" y="0"/>
          <a:ext cx="0" cy="0"/>
          <a:chOff x="0" y="0"/>
          <a:chExt cx="0" cy="0"/>
        </a:xfrm>
      </p:grpSpPr>
      <p:sp>
        <p:nvSpPr>
          <p:cNvPr id="3" name="Text 1"/>
          <p:cNvSpPr/>
          <p:nvPr/>
        </p:nvSpPr>
        <p:spPr>
          <a:xfrm>
            <a:off x="457200" y="274320"/>
            <a:ext cx="6400800" cy="228600"/>
          </a:xfrm>
          <a:prstGeom prst="rect">
            <a:avLst/>
          </a:prstGeom>
          <a:noFill/>
          <a:ln/>
        </p:spPr>
        <p:txBody>
          <a:bodyPr wrap="square" rtlCol="0" anchor="ctr"/>
          <a:lstStyle/>
          <a:p>
            <a:pPr marL="0" indent="0">
              <a:buNone/>
            </a:pP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555555"/>
                </a:solidFill>
                <a:latin typeface="Arial" pitchFamily="34" charset="0"/>
                <a:ea typeface="Arial" pitchFamily="34" charset="-122"/>
                <a:cs typeface="Arial" pitchFamily="34" charset="-120"/>
              </a:rPr>
              <a:t>NINJA QUIZ  ·  503IT  ·  05 / 18</a:t>
            </a:r>
            <a:endParaRPr lang="en-US" sz="900" dirty="0"/>
          </a:p>
        </p:txBody>
      </p:sp>
      <p:sp>
        <p:nvSpPr>
          <p:cNvPr id="5" name="Text 3"/>
          <p:cNvSpPr/>
          <p:nvPr/>
        </p:nvSpPr>
        <p:spPr>
          <a:xfrm>
            <a:off x="457200" y="1371600"/>
            <a:ext cx="8229600" cy="1422400"/>
          </a:xfrm>
          <a:prstGeom prst="rect">
            <a:avLst/>
          </a:prstGeom>
          <a:noFill/>
          <a:ln/>
        </p:spPr>
        <p:txBody>
          <a:bodyPr wrap="square" rtlCol="0" anchor="ctr"/>
          <a:lstStyle/>
          <a:p>
            <a:pPr marL="0" indent="0">
              <a:buNone/>
            </a:pPr>
            <a:r>
              <a:rPr lang="en-US" sz="5600" b="1" dirty="0">
                <a:solidFill>
                  <a:srgbClr val="FFFFFF"/>
                </a:solidFill>
                <a:latin typeface="Arial Black" pitchFamily="34" charset="0"/>
                <a:ea typeface="Arial Black" pitchFamily="34" charset="-122"/>
                <a:cs typeface="Arial Black" pitchFamily="34" charset="-120"/>
              </a:rPr>
              <a:t>How we worked.</a:t>
            </a:r>
            <a:endParaRPr lang="en-US" sz="5600" dirty="0"/>
          </a:p>
        </p:txBody>
      </p:sp>
      <p:sp>
        <p:nvSpPr>
          <p:cNvPr id="6" name="Text 4"/>
          <p:cNvSpPr/>
          <p:nvPr/>
        </p:nvSpPr>
        <p:spPr>
          <a:xfrm>
            <a:off x="457200" y="3108960"/>
            <a:ext cx="7772400" cy="320040"/>
          </a:xfrm>
          <a:prstGeom prst="rect">
            <a:avLst/>
          </a:prstGeom>
          <a:noFill/>
          <a:ln/>
        </p:spPr>
        <p:txBody>
          <a:bodyPr wrap="square" rtlCol="0" anchor="ctr"/>
          <a:lstStyle/>
          <a:p>
            <a:pPr marL="0" indent="0">
              <a:buNone/>
            </a:pPr>
            <a:r>
              <a:rPr lang="en-US" sz="1400" dirty="0">
                <a:solidFill>
                  <a:srgbClr val="555555"/>
                </a:solidFill>
                <a:latin typeface="Arial" pitchFamily="34" charset="0"/>
                <a:ea typeface="Arial" pitchFamily="34" charset="-122"/>
                <a:cs typeface="Arial" pitchFamily="34" charset="-120"/>
              </a:rPr>
              <a:t>Three tools. </a:t>
            </a:r>
            <a:r>
              <a:rPr lang="en-US" sz="1400">
                <a:solidFill>
                  <a:srgbClr val="555555"/>
                </a:solidFill>
                <a:latin typeface="Arial" pitchFamily="34" charset="0"/>
                <a:ea typeface="Arial" pitchFamily="34" charset="-122"/>
                <a:cs typeface="Arial" pitchFamily="34" charset="-120"/>
              </a:rPr>
              <a:t>4 weeks</a:t>
            </a:r>
            <a:r>
              <a:rPr lang="en-US" sz="1400" dirty="0">
                <a:solidFill>
                  <a:srgbClr val="555555"/>
                </a:solidFill>
                <a:latin typeface="Arial" pitchFamily="34" charset="0"/>
                <a:ea typeface="Arial" pitchFamily="34" charset="-122"/>
                <a:cs typeface="Arial" pitchFamily="34" charset="-120"/>
              </a:rPr>
              <a:t>. Every decision documented.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DDDDDD"/>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r>
              <a:rPr lang="en-US" sz="1000" b="1" kern="0" spc="200" dirty="0">
                <a:solidFill>
                  <a:srgbClr val="888888"/>
                </a:solidFill>
                <a:latin typeface="Arial" pitchFamily="34" charset="0"/>
                <a:ea typeface="Arial" pitchFamily="34" charset="-122"/>
                <a:cs typeface="Arial" pitchFamily="34" charset="-120"/>
              </a:rPr>
              <a:t>COLLABORATION TOOLS</a:t>
            </a: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888888"/>
                </a:solidFill>
                <a:latin typeface="Arial" pitchFamily="34" charset="0"/>
                <a:ea typeface="Arial" pitchFamily="34" charset="-122"/>
                <a:cs typeface="Arial" pitchFamily="34" charset="-120"/>
              </a:rPr>
              <a:t>NINJA QUIZ  ·  503IT  ·  06 / 18</a:t>
            </a:r>
            <a:endParaRPr lang="en-US" sz="900" dirty="0"/>
          </a:p>
        </p:txBody>
      </p:sp>
      <p:sp>
        <p:nvSpPr>
          <p:cNvPr id="5" name="Text 3"/>
          <p:cNvSpPr/>
          <p:nvPr/>
        </p:nvSpPr>
        <p:spPr>
          <a:xfrm>
            <a:off x="457200" y="685800"/>
            <a:ext cx="8229600" cy="812800"/>
          </a:xfrm>
          <a:prstGeom prst="rect">
            <a:avLst/>
          </a:prstGeom>
          <a:noFill/>
          <a:ln/>
        </p:spPr>
        <p:txBody>
          <a:bodyPr wrap="square" rtlCol="0" anchor="ctr"/>
          <a:lstStyle/>
          <a:p>
            <a:pPr marL="0" indent="0">
              <a:buNone/>
            </a:pPr>
            <a:r>
              <a:rPr lang="en-US" sz="3200" b="1" dirty="0">
                <a:solidFill>
                  <a:srgbClr val="111111"/>
                </a:solidFill>
                <a:latin typeface="Arial Black" pitchFamily="34" charset="0"/>
                <a:ea typeface="Arial Black" pitchFamily="34" charset="-122"/>
                <a:cs typeface="Arial Black" pitchFamily="34" charset="-120"/>
              </a:rPr>
              <a:t>Three tools kept us aligned.</a:t>
            </a:r>
            <a:endParaRPr lang="en-US" sz="3200" dirty="0"/>
          </a:p>
        </p:txBody>
      </p:sp>
      <p:sp>
        <p:nvSpPr>
          <p:cNvPr id="6" name="Shape 4"/>
          <p:cNvSpPr/>
          <p:nvPr/>
        </p:nvSpPr>
        <p:spPr>
          <a:xfrm>
            <a:off x="457200" y="1463040"/>
            <a:ext cx="8229600" cy="10973"/>
          </a:xfrm>
          <a:prstGeom prst="rect">
            <a:avLst/>
          </a:prstGeom>
          <a:solidFill>
            <a:srgbClr val="EEEEEE"/>
          </a:solidFill>
          <a:ln/>
        </p:spPr>
        <p:txBody>
          <a:bodyPr/>
          <a:lstStyle/>
          <a:p>
            <a:endParaRPr lang="en-GB"/>
          </a:p>
        </p:txBody>
      </p:sp>
      <p:sp>
        <p:nvSpPr>
          <p:cNvPr id="7" name="Text 5"/>
          <p:cNvSpPr/>
          <p:nvPr/>
        </p:nvSpPr>
        <p:spPr>
          <a:xfrm>
            <a:off x="457200" y="1609344"/>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01</a:t>
            </a:r>
            <a:endParaRPr lang="en-US" sz="2000" dirty="0"/>
          </a:p>
        </p:txBody>
      </p:sp>
      <p:sp>
        <p:nvSpPr>
          <p:cNvPr id="8" name="Text 6"/>
          <p:cNvSpPr/>
          <p:nvPr/>
        </p:nvSpPr>
        <p:spPr>
          <a:xfrm>
            <a:off x="1371600" y="1591056"/>
            <a:ext cx="384048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Trello</a:t>
            </a:r>
            <a:endParaRPr lang="en-US" sz="1700" dirty="0"/>
          </a:p>
        </p:txBody>
      </p:sp>
      <p:sp>
        <p:nvSpPr>
          <p:cNvPr id="9" name="Text 7"/>
          <p:cNvSpPr/>
          <p:nvPr/>
        </p:nvSpPr>
        <p:spPr>
          <a:xfrm>
            <a:off x="1371600" y="1892808"/>
            <a:ext cx="384048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Every task visible, assigned and prioritised — nothing fell through the gaps</a:t>
            </a:r>
            <a:endParaRPr lang="en-US" sz="1200" dirty="0"/>
          </a:p>
        </p:txBody>
      </p:sp>
      <p:sp>
        <p:nvSpPr>
          <p:cNvPr id="10" name="Text 8"/>
          <p:cNvSpPr/>
          <p:nvPr/>
        </p:nvSpPr>
        <p:spPr>
          <a:xfrm>
            <a:off x="457200" y="2432304"/>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02</a:t>
            </a:r>
            <a:endParaRPr lang="en-US" sz="2000" dirty="0"/>
          </a:p>
        </p:txBody>
      </p:sp>
      <p:sp>
        <p:nvSpPr>
          <p:cNvPr id="11" name="Text 9"/>
          <p:cNvSpPr/>
          <p:nvPr/>
        </p:nvSpPr>
        <p:spPr>
          <a:xfrm>
            <a:off x="1371600" y="2414016"/>
            <a:ext cx="384048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GitHub</a:t>
            </a:r>
            <a:endParaRPr lang="en-US" sz="1700" dirty="0"/>
          </a:p>
        </p:txBody>
      </p:sp>
      <p:sp>
        <p:nvSpPr>
          <p:cNvPr id="12" name="Text 10"/>
          <p:cNvSpPr/>
          <p:nvPr/>
        </p:nvSpPr>
        <p:spPr>
          <a:xfrm>
            <a:off x="1371600" y="2715768"/>
            <a:ext cx="384048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Branches per feature — no one overwrote anyone else's work</a:t>
            </a:r>
            <a:endParaRPr lang="en-US" sz="1200" dirty="0"/>
          </a:p>
        </p:txBody>
      </p:sp>
      <p:sp>
        <p:nvSpPr>
          <p:cNvPr id="13" name="Text 11"/>
          <p:cNvSpPr/>
          <p:nvPr/>
        </p:nvSpPr>
        <p:spPr>
          <a:xfrm>
            <a:off x="457200" y="3255264"/>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03</a:t>
            </a:r>
            <a:endParaRPr lang="en-US" sz="2000" dirty="0"/>
          </a:p>
        </p:txBody>
      </p:sp>
      <p:sp>
        <p:nvSpPr>
          <p:cNvPr id="14" name="Text 12"/>
          <p:cNvSpPr/>
          <p:nvPr/>
        </p:nvSpPr>
        <p:spPr>
          <a:xfrm>
            <a:off x="1371600" y="3236976"/>
            <a:ext cx="384048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WhatsApp</a:t>
            </a:r>
            <a:endParaRPr lang="en-US" sz="1700" dirty="0"/>
          </a:p>
        </p:txBody>
      </p:sp>
      <p:sp>
        <p:nvSpPr>
          <p:cNvPr id="15" name="Text 13"/>
          <p:cNvSpPr/>
          <p:nvPr/>
        </p:nvSpPr>
        <p:spPr>
          <a:xfrm>
            <a:off x="1371600" y="3538728"/>
            <a:ext cx="384048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Daily contact — issues raised same day, not a week later</a:t>
            </a:r>
            <a:endParaRPr lang="en-US" sz="1200" dirty="0"/>
          </a:p>
        </p:txBody>
      </p:sp>
      <p:sp>
        <p:nvSpPr>
          <p:cNvPr id="16" name="Text 14"/>
          <p:cNvSpPr/>
          <p:nvPr/>
        </p:nvSpPr>
        <p:spPr>
          <a:xfrm>
            <a:off x="457200" y="4160520"/>
            <a:ext cx="3840480" cy="320040"/>
          </a:xfrm>
          <a:prstGeom prst="rect">
            <a:avLst/>
          </a:prstGeom>
          <a:noFill/>
          <a:ln/>
        </p:spPr>
        <p:txBody>
          <a:bodyPr wrap="square" rtlCol="0" anchor="ctr"/>
          <a:lstStyle/>
          <a:p>
            <a:pPr marL="0" indent="0">
              <a:buNone/>
            </a:pPr>
            <a:r>
              <a:rPr lang="en-US" sz="1400" dirty="0">
                <a:solidFill>
                  <a:srgbClr val="444444"/>
                </a:solidFill>
                <a:latin typeface="Arial" pitchFamily="34" charset="0"/>
                <a:ea typeface="Arial" pitchFamily="34" charset="-122"/>
                <a:cs typeface="Arial" pitchFamily="34" charset="-120"/>
              </a:rPr>
              <a:t>Every tool had one purpose. No tool was used for everything.</a:t>
            </a:r>
            <a:endParaRPr lang="en-US" sz="1400" dirty="0"/>
          </a:p>
        </p:txBody>
      </p:sp>
      <p:pic>
        <p:nvPicPr>
          <p:cNvPr id="17" name="Picture 16" descr="Trello.png"/>
          <p:cNvPicPr>
            <a:picLocks noChangeAspect="1"/>
          </p:cNvPicPr>
          <p:nvPr/>
        </p:nvPicPr>
        <p:blipFill>
          <a:blip r:embed="rId3"/>
          <a:stretch>
            <a:fillRect/>
          </a:stretch>
        </p:blipFill>
        <p:spPr>
          <a:xfrm>
            <a:off x="4572000" y="1417320"/>
            <a:ext cx="4297680" cy="2514600"/>
          </a:xfrm>
          <a:prstGeom prst="rect">
            <a:avLst/>
          </a:prstGeom>
        </p:spPr>
      </p:pic>
      <p:pic>
        <p:nvPicPr>
          <p:cNvPr id="18" name="Picture 17" descr="Call in whatsapp.jpeg"/>
          <p:cNvPicPr>
            <a:picLocks noChangeAspect="1"/>
          </p:cNvPicPr>
          <p:nvPr/>
        </p:nvPicPr>
        <p:blipFill>
          <a:blip r:embed="rId4"/>
          <a:stretch>
            <a:fillRect/>
          </a:stretch>
        </p:blipFill>
        <p:spPr>
          <a:xfrm>
            <a:off x="4572000" y="4023360"/>
            <a:ext cx="960120" cy="914400"/>
          </a:xfrm>
          <a:prstGeom prst="rect">
            <a:avLst/>
          </a:prstGeom>
        </p:spPr>
      </p:pic>
      <p:sp>
        <p:nvSpPr>
          <p:cNvPr id="19" name="TextBox 18"/>
          <p:cNvSpPr txBox="1"/>
          <p:nvPr/>
        </p:nvSpPr>
        <p:spPr>
          <a:xfrm>
            <a:off x="5577840" y="4160520"/>
            <a:ext cx="3291840" cy="274320"/>
          </a:xfrm>
          <a:prstGeom prst="rect">
            <a:avLst/>
          </a:prstGeom>
          <a:noFill/>
        </p:spPr>
        <p:txBody>
          <a:bodyPr wrap="square">
            <a:spAutoFit/>
          </a:bodyPr>
          <a:lstStyle/>
          <a:p>
            <a:pPr algn="l"/>
            <a:r>
              <a:rPr sz="900" b="0" i="1">
                <a:solidFill>
                  <a:srgbClr val="888888"/>
                </a:solidFill>
              </a:rPr>
              <a:t>WhatsApp team call — 4 of 5 members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FFCD00"/>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r>
              <a:rPr lang="en-US" sz="1000" b="1" kern="0" spc="200" dirty="0">
                <a:solidFill>
                  <a:srgbClr val="555555"/>
                </a:solidFill>
                <a:latin typeface="Arial" pitchFamily="34" charset="0"/>
                <a:ea typeface="Arial" pitchFamily="34" charset="-122"/>
                <a:cs typeface="Arial" pitchFamily="34" charset="-120"/>
              </a:rPr>
              <a:t>HOW WE MET</a:t>
            </a: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555555"/>
                </a:solidFill>
                <a:latin typeface="Arial" pitchFamily="34" charset="0"/>
                <a:ea typeface="Arial" pitchFamily="34" charset="-122"/>
                <a:cs typeface="Arial" pitchFamily="34" charset="-120"/>
              </a:rPr>
              <a:t>NINJA QUIZ  ·  503IT  ·  07 / 18</a:t>
            </a:r>
            <a:endParaRPr lang="en-US" sz="900" dirty="0"/>
          </a:p>
        </p:txBody>
      </p:sp>
      <p:sp>
        <p:nvSpPr>
          <p:cNvPr id="5" name="Text 3"/>
          <p:cNvSpPr/>
          <p:nvPr/>
        </p:nvSpPr>
        <p:spPr>
          <a:xfrm>
            <a:off x="457200" y="777240"/>
            <a:ext cx="4114800" cy="1117600"/>
          </a:xfrm>
          <a:prstGeom prst="rect">
            <a:avLst/>
          </a:prstGeom>
          <a:noFill/>
          <a:ln/>
        </p:spPr>
        <p:txBody>
          <a:bodyPr wrap="square" rtlCol="0" anchor="ctr"/>
          <a:lstStyle/>
          <a:p>
            <a:pPr marL="0" indent="0">
              <a:buNone/>
            </a:pPr>
            <a:r>
              <a:rPr lang="en-US" sz="4400" b="1" dirty="0">
                <a:solidFill>
                  <a:srgbClr val="FFFFFF"/>
                </a:solidFill>
                <a:latin typeface="Arial Black" pitchFamily="34" charset="0"/>
                <a:ea typeface="Arial Black" pitchFamily="34" charset="-122"/>
                <a:cs typeface="Arial Black" pitchFamily="34" charset="-120"/>
              </a:rPr>
              <a:t>Same three questions.</a:t>
            </a:r>
            <a:endParaRPr lang="en-US" sz="4400" dirty="0"/>
          </a:p>
          <a:p>
            <a:pPr marL="0" indent="0">
              <a:buNone/>
            </a:pPr>
            <a:r>
              <a:rPr lang="en-US" sz="4400" b="1" dirty="0">
                <a:solidFill>
                  <a:srgbClr val="FFFFFF"/>
                </a:solidFill>
                <a:latin typeface="Arial Black" pitchFamily="34" charset="0"/>
                <a:ea typeface="Arial Black" pitchFamily="34" charset="-122"/>
                <a:cs typeface="Arial Black" pitchFamily="34" charset="-120"/>
              </a:rPr>
              <a:t>Every week.</a:t>
            </a:r>
            <a:endParaRPr lang="en-US" sz="4400" dirty="0"/>
          </a:p>
        </p:txBody>
      </p:sp>
      <p:sp>
        <p:nvSpPr>
          <p:cNvPr id="6" name="Shape 4"/>
          <p:cNvSpPr/>
          <p:nvPr/>
        </p:nvSpPr>
        <p:spPr>
          <a:xfrm>
            <a:off x="457200" y="2423160"/>
            <a:ext cx="8229600" cy="10973"/>
          </a:xfrm>
          <a:prstGeom prst="rect">
            <a:avLst/>
          </a:prstGeom>
          <a:solidFill>
            <a:srgbClr val="222222"/>
          </a:solidFill>
          <a:ln/>
        </p:spPr>
        <p:txBody>
          <a:bodyPr/>
          <a:lstStyle/>
          <a:p>
            <a:endParaRPr lang="en-GB"/>
          </a:p>
        </p:txBody>
      </p:sp>
      <p:sp>
        <p:nvSpPr>
          <p:cNvPr id="7" name="Text 5"/>
          <p:cNvSpPr/>
          <p:nvPr/>
        </p:nvSpPr>
        <p:spPr>
          <a:xfrm>
            <a:off x="457200" y="2560320"/>
            <a:ext cx="640080" cy="502920"/>
          </a:xfrm>
          <a:prstGeom prst="rect">
            <a:avLst/>
          </a:prstGeom>
          <a:noFill/>
          <a:ln/>
        </p:spPr>
        <p:txBody>
          <a:bodyPr wrap="square" rtlCol="0" anchor="ctr"/>
          <a:lstStyle/>
          <a:p>
            <a:pPr marL="0" indent="0">
              <a:buNone/>
            </a:pPr>
            <a:r>
              <a:rPr lang="en-US" sz="2400" b="1" dirty="0">
                <a:solidFill>
                  <a:srgbClr val="FFCD00"/>
                </a:solidFill>
                <a:latin typeface="Arial Black" pitchFamily="34" charset="0"/>
                <a:ea typeface="Arial Black" pitchFamily="34" charset="-122"/>
                <a:cs typeface="Arial Black" pitchFamily="34" charset="-120"/>
              </a:rPr>
              <a:t>01</a:t>
            </a:r>
            <a:endParaRPr lang="en-US" sz="2400" dirty="0"/>
          </a:p>
        </p:txBody>
      </p:sp>
      <p:sp>
        <p:nvSpPr>
          <p:cNvPr id="8" name="Text 6"/>
          <p:cNvSpPr/>
          <p:nvPr/>
        </p:nvSpPr>
        <p:spPr>
          <a:xfrm>
            <a:off x="1143000" y="2606040"/>
            <a:ext cx="4114800" cy="41148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What did I finish?</a:t>
            </a:r>
            <a:endParaRPr lang="en-US" sz="2000" dirty="0"/>
          </a:p>
        </p:txBody>
      </p:sp>
      <p:sp>
        <p:nvSpPr>
          <p:cNvPr id="9" name="Text 7"/>
          <p:cNvSpPr/>
          <p:nvPr/>
        </p:nvSpPr>
        <p:spPr>
          <a:xfrm>
            <a:off x="457200" y="3218688"/>
            <a:ext cx="4114800" cy="502920"/>
          </a:xfrm>
          <a:prstGeom prst="rect">
            <a:avLst/>
          </a:prstGeom>
          <a:noFill/>
          <a:ln/>
        </p:spPr>
        <p:txBody>
          <a:bodyPr wrap="square" rtlCol="0" anchor="ctr"/>
          <a:lstStyle/>
          <a:p>
            <a:pPr marL="0" indent="0">
              <a:buNone/>
            </a:pPr>
            <a:r>
              <a:rPr lang="en-US" sz="2400" b="1" dirty="0">
                <a:solidFill>
                  <a:srgbClr val="FFCD00"/>
                </a:solidFill>
                <a:latin typeface="Arial Black" pitchFamily="34" charset="0"/>
                <a:ea typeface="Arial Black" pitchFamily="34" charset="-122"/>
                <a:cs typeface="Arial Black" pitchFamily="34" charset="-120"/>
              </a:rPr>
              <a:t>02</a:t>
            </a:r>
            <a:endParaRPr lang="en-US" sz="2400" dirty="0"/>
          </a:p>
        </p:txBody>
      </p:sp>
      <p:sp>
        <p:nvSpPr>
          <p:cNvPr id="10" name="Text 8"/>
          <p:cNvSpPr/>
          <p:nvPr/>
        </p:nvSpPr>
        <p:spPr>
          <a:xfrm>
            <a:off x="1143000" y="3264408"/>
            <a:ext cx="4114800" cy="41148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What am I doing next?</a:t>
            </a:r>
            <a:endParaRPr lang="en-US" sz="2000" dirty="0"/>
          </a:p>
        </p:txBody>
      </p:sp>
      <p:sp>
        <p:nvSpPr>
          <p:cNvPr id="11" name="Text 9"/>
          <p:cNvSpPr/>
          <p:nvPr/>
        </p:nvSpPr>
        <p:spPr>
          <a:xfrm>
            <a:off x="457200" y="3877056"/>
            <a:ext cx="4114800" cy="502920"/>
          </a:xfrm>
          <a:prstGeom prst="rect">
            <a:avLst/>
          </a:prstGeom>
          <a:noFill/>
          <a:ln/>
        </p:spPr>
        <p:txBody>
          <a:bodyPr wrap="square" rtlCol="0" anchor="ctr"/>
          <a:lstStyle/>
          <a:p>
            <a:pPr marL="0" indent="0">
              <a:buNone/>
            </a:pPr>
            <a:r>
              <a:rPr lang="en-US" sz="2400" b="1" dirty="0">
                <a:solidFill>
                  <a:srgbClr val="FFCD00"/>
                </a:solidFill>
                <a:latin typeface="Arial Black" pitchFamily="34" charset="0"/>
                <a:ea typeface="Arial Black" pitchFamily="34" charset="-122"/>
                <a:cs typeface="Arial Black" pitchFamily="34" charset="-120"/>
              </a:rPr>
              <a:t>03</a:t>
            </a:r>
            <a:endParaRPr lang="en-US" sz="2400" dirty="0"/>
          </a:p>
        </p:txBody>
      </p:sp>
      <p:sp>
        <p:nvSpPr>
          <p:cNvPr id="12" name="Text 10"/>
          <p:cNvSpPr/>
          <p:nvPr/>
        </p:nvSpPr>
        <p:spPr>
          <a:xfrm>
            <a:off x="1143000" y="3922776"/>
            <a:ext cx="4114800" cy="41148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What is blocking me?</a:t>
            </a:r>
            <a:endParaRPr lang="en-US" sz="2000" dirty="0"/>
          </a:p>
        </p:txBody>
      </p:sp>
      <p:pic>
        <p:nvPicPr>
          <p:cNvPr id="13" name="Picture 12" descr="image.jpg"/>
          <p:cNvPicPr>
            <a:picLocks noChangeAspect="1"/>
          </p:cNvPicPr>
          <p:nvPr/>
        </p:nvPicPr>
        <p:blipFill>
          <a:blip r:embed="rId4"/>
          <a:stretch>
            <a:fillRect/>
          </a:stretch>
        </p:blipFill>
        <p:spPr>
          <a:xfrm>
            <a:off x="4663440" y="1417320"/>
            <a:ext cx="4206240" cy="32918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DDDDDD"/>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r>
              <a:rPr lang="en-US" sz="1000" b="1" kern="0" spc="200" dirty="0">
                <a:solidFill>
                  <a:srgbClr val="888888"/>
                </a:solidFill>
                <a:latin typeface="Arial" pitchFamily="34" charset="0"/>
                <a:ea typeface="Arial" pitchFamily="34" charset="-122"/>
                <a:cs typeface="Arial" pitchFamily="34" charset="-120"/>
              </a:rPr>
              <a:t>KEY DECISIONS</a:t>
            </a: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888888"/>
                </a:solidFill>
                <a:latin typeface="Arial" pitchFamily="34" charset="0"/>
                <a:ea typeface="Arial" pitchFamily="34" charset="-122"/>
                <a:cs typeface="Arial" pitchFamily="34" charset="-120"/>
              </a:rPr>
              <a:t>NINJA QUIZ  ·  503IT  ·  08 / 18</a:t>
            </a:r>
            <a:endParaRPr lang="en-US" sz="900" dirty="0"/>
          </a:p>
        </p:txBody>
      </p:sp>
      <p:sp>
        <p:nvSpPr>
          <p:cNvPr id="5" name="Text 3"/>
          <p:cNvSpPr/>
          <p:nvPr/>
        </p:nvSpPr>
        <p:spPr>
          <a:xfrm>
            <a:off x="457200" y="685800"/>
            <a:ext cx="8229600" cy="812800"/>
          </a:xfrm>
          <a:prstGeom prst="rect">
            <a:avLst/>
          </a:prstGeom>
          <a:noFill/>
          <a:ln/>
        </p:spPr>
        <p:txBody>
          <a:bodyPr wrap="square" rtlCol="0" anchor="ctr"/>
          <a:lstStyle/>
          <a:p>
            <a:pPr marL="0" indent="0">
              <a:buNone/>
            </a:pPr>
            <a:r>
              <a:rPr lang="en-US" sz="3200" b="1" dirty="0">
                <a:solidFill>
                  <a:srgbClr val="111111"/>
                </a:solidFill>
                <a:latin typeface="Arial Black" pitchFamily="34" charset="0"/>
                <a:ea typeface="Arial Black" pitchFamily="34" charset="-122"/>
                <a:cs typeface="Arial Black" pitchFamily="34" charset="-120"/>
              </a:rPr>
              <a:t>How decisions got made.</a:t>
            </a:r>
            <a:endParaRPr lang="en-US" sz="3200" dirty="0"/>
          </a:p>
        </p:txBody>
      </p:sp>
      <p:sp>
        <p:nvSpPr>
          <p:cNvPr id="6" name="Shape 4"/>
          <p:cNvSpPr/>
          <p:nvPr/>
        </p:nvSpPr>
        <p:spPr>
          <a:xfrm>
            <a:off x="457200" y="1463040"/>
            <a:ext cx="8229600" cy="10973"/>
          </a:xfrm>
          <a:prstGeom prst="rect">
            <a:avLst/>
          </a:prstGeom>
          <a:solidFill>
            <a:srgbClr val="EEEEEE"/>
          </a:solidFill>
          <a:ln/>
        </p:spPr>
        <p:txBody>
          <a:bodyPr/>
          <a:lstStyle/>
          <a:p>
            <a:endParaRPr lang="en-GB"/>
          </a:p>
        </p:txBody>
      </p:sp>
      <p:sp>
        <p:nvSpPr>
          <p:cNvPr id="7" name="Shape 5"/>
          <p:cNvSpPr/>
          <p:nvPr/>
        </p:nvSpPr>
        <p:spPr>
          <a:xfrm>
            <a:off x="457200" y="1600200"/>
            <a:ext cx="3840480" cy="2926080"/>
          </a:xfrm>
          <a:prstGeom prst="rect">
            <a:avLst/>
          </a:prstGeom>
          <a:solidFill>
            <a:srgbClr val="F5F5F5"/>
          </a:solidFill>
          <a:ln/>
        </p:spPr>
        <p:txBody>
          <a:bodyPr/>
          <a:lstStyle/>
          <a:p>
            <a:endParaRPr lang="en-GB"/>
          </a:p>
        </p:txBody>
      </p:sp>
      <p:sp>
        <p:nvSpPr>
          <p:cNvPr id="8" name="Text 6"/>
          <p:cNvSpPr/>
          <p:nvPr/>
        </p:nvSpPr>
        <p:spPr>
          <a:xfrm>
            <a:off x="594360" y="1737360"/>
            <a:ext cx="3566160" cy="274320"/>
          </a:xfrm>
          <a:prstGeom prst="rect">
            <a:avLst/>
          </a:prstGeom>
          <a:noFill/>
          <a:ln/>
        </p:spPr>
        <p:txBody>
          <a:bodyPr wrap="square" rtlCol="0" anchor="ctr"/>
          <a:lstStyle/>
          <a:p>
            <a:pPr marL="0" indent="0">
              <a:buNone/>
            </a:pPr>
            <a:r>
              <a:rPr lang="en-US" sz="1000" b="1" kern="0" spc="100" dirty="0">
                <a:solidFill>
                  <a:srgbClr val="888888"/>
                </a:solidFill>
                <a:latin typeface="Arial" pitchFamily="34" charset="0"/>
                <a:ea typeface="Arial" pitchFamily="34" charset="-122"/>
                <a:cs typeface="Arial" pitchFamily="34" charset="-120"/>
              </a:rPr>
              <a:t>WITHOUT STRUCTURE</a:t>
            </a:r>
            <a:endParaRPr lang="en-US" sz="1000" dirty="0"/>
          </a:p>
        </p:txBody>
      </p:sp>
      <p:sp>
        <p:nvSpPr>
          <p:cNvPr id="9" name="Shape 7"/>
          <p:cNvSpPr/>
          <p:nvPr/>
        </p:nvSpPr>
        <p:spPr>
          <a:xfrm>
            <a:off x="594360" y="2148840"/>
            <a:ext cx="54864" cy="182880"/>
          </a:xfrm>
          <a:prstGeom prst="rect">
            <a:avLst/>
          </a:prstGeom>
          <a:solidFill>
            <a:srgbClr val="DDDDDD"/>
          </a:solidFill>
          <a:ln/>
        </p:spPr>
        <p:txBody>
          <a:bodyPr/>
          <a:lstStyle/>
          <a:p>
            <a:endParaRPr lang="en-GB"/>
          </a:p>
        </p:txBody>
      </p:sp>
      <p:sp>
        <p:nvSpPr>
          <p:cNvPr id="10" name="Text 8"/>
          <p:cNvSpPr/>
          <p:nvPr/>
        </p:nvSpPr>
        <p:spPr>
          <a:xfrm>
            <a:off x="731520" y="2103120"/>
            <a:ext cx="3383280" cy="320040"/>
          </a:xfrm>
          <a:prstGeom prst="rect">
            <a:avLst/>
          </a:prstGeom>
          <a:noFill/>
          <a:ln/>
        </p:spPr>
        <p:txBody>
          <a:bodyPr wrap="square" rtlCol="0" anchor="ctr"/>
          <a:lstStyle/>
          <a:p>
            <a:pPr marL="0" indent="0">
              <a:buNone/>
            </a:pPr>
            <a:r>
              <a:rPr lang="en-US" sz="1400" dirty="0">
                <a:solidFill>
                  <a:srgbClr val="888888"/>
                </a:solidFill>
                <a:latin typeface="Arial" pitchFamily="34" charset="0"/>
                <a:ea typeface="Arial" pitchFamily="34" charset="-122"/>
                <a:cs typeface="Arial" pitchFamily="34" charset="-120"/>
              </a:rPr>
              <a:t>Whoever spoke first won</a:t>
            </a:r>
            <a:endParaRPr lang="en-US" sz="1400" dirty="0"/>
          </a:p>
        </p:txBody>
      </p:sp>
      <p:sp>
        <p:nvSpPr>
          <p:cNvPr id="11" name="Shape 9"/>
          <p:cNvSpPr/>
          <p:nvPr/>
        </p:nvSpPr>
        <p:spPr>
          <a:xfrm>
            <a:off x="594360" y="2770632"/>
            <a:ext cx="54864" cy="182880"/>
          </a:xfrm>
          <a:prstGeom prst="rect">
            <a:avLst/>
          </a:prstGeom>
          <a:solidFill>
            <a:srgbClr val="DDDDDD"/>
          </a:solidFill>
          <a:ln/>
        </p:spPr>
        <p:txBody>
          <a:bodyPr/>
          <a:lstStyle/>
          <a:p>
            <a:endParaRPr lang="en-GB"/>
          </a:p>
        </p:txBody>
      </p:sp>
      <p:sp>
        <p:nvSpPr>
          <p:cNvPr id="12" name="Text 10"/>
          <p:cNvSpPr/>
          <p:nvPr/>
        </p:nvSpPr>
        <p:spPr>
          <a:xfrm>
            <a:off x="731520" y="2724912"/>
            <a:ext cx="3383280" cy="320040"/>
          </a:xfrm>
          <a:prstGeom prst="rect">
            <a:avLst/>
          </a:prstGeom>
          <a:noFill/>
          <a:ln/>
        </p:spPr>
        <p:txBody>
          <a:bodyPr wrap="square" rtlCol="0" anchor="ctr"/>
          <a:lstStyle/>
          <a:p>
            <a:pPr marL="0" indent="0">
              <a:buNone/>
            </a:pPr>
            <a:r>
              <a:rPr lang="en-US" sz="1400" dirty="0">
                <a:solidFill>
                  <a:srgbClr val="888888"/>
                </a:solidFill>
                <a:latin typeface="Arial" pitchFamily="34" charset="0"/>
                <a:ea typeface="Arial" pitchFamily="34" charset="-122"/>
                <a:cs typeface="Arial" pitchFamily="34" charset="-120"/>
              </a:rPr>
              <a:t>No record of why</a:t>
            </a:r>
            <a:endParaRPr lang="en-US" sz="1400" dirty="0"/>
          </a:p>
        </p:txBody>
      </p:sp>
      <p:sp>
        <p:nvSpPr>
          <p:cNvPr id="13" name="Shape 11"/>
          <p:cNvSpPr/>
          <p:nvPr/>
        </p:nvSpPr>
        <p:spPr>
          <a:xfrm>
            <a:off x="594360" y="3392424"/>
            <a:ext cx="54864" cy="182880"/>
          </a:xfrm>
          <a:prstGeom prst="rect">
            <a:avLst/>
          </a:prstGeom>
          <a:solidFill>
            <a:srgbClr val="DDDDDD"/>
          </a:solidFill>
          <a:ln/>
        </p:spPr>
        <p:txBody>
          <a:bodyPr/>
          <a:lstStyle/>
          <a:p>
            <a:endParaRPr lang="en-GB"/>
          </a:p>
        </p:txBody>
      </p:sp>
      <p:sp>
        <p:nvSpPr>
          <p:cNvPr id="14" name="Text 12"/>
          <p:cNvSpPr/>
          <p:nvPr/>
        </p:nvSpPr>
        <p:spPr>
          <a:xfrm>
            <a:off x="731520" y="3346704"/>
            <a:ext cx="3383280" cy="320040"/>
          </a:xfrm>
          <a:prstGeom prst="rect">
            <a:avLst/>
          </a:prstGeom>
          <a:noFill/>
          <a:ln/>
        </p:spPr>
        <p:txBody>
          <a:bodyPr wrap="square" rtlCol="0" anchor="ctr"/>
          <a:lstStyle/>
          <a:p>
            <a:pPr marL="0" indent="0">
              <a:buNone/>
            </a:pPr>
            <a:r>
              <a:rPr lang="en-US" sz="1400" dirty="0">
                <a:solidFill>
                  <a:srgbClr val="888888"/>
                </a:solidFill>
                <a:latin typeface="Arial" pitchFamily="34" charset="0"/>
                <a:ea typeface="Arial" pitchFamily="34" charset="-122"/>
                <a:cs typeface="Arial" pitchFamily="34" charset="-120"/>
              </a:rPr>
              <a:t>Decisions changed mid-sprint</a:t>
            </a:r>
            <a:endParaRPr lang="en-US" sz="1400" dirty="0"/>
          </a:p>
        </p:txBody>
      </p:sp>
      <p:sp>
        <p:nvSpPr>
          <p:cNvPr id="15" name="Shape 13"/>
          <p:cNvSpPr/>
          <p:nvPr/>
        </p:nvSpPr>
        <p:spPr>
          <a:xfrm>
            <a:off x="4846320" y="1600200"/>
            <a:ext cx="3840480" cy="2926080"/>
          </a:xfrm>
          <a:prstGeom prst="rect">
            <a:avLst/>
          </a:prstGeom>
          <a:solidFill>
            <a:srgbClr val="111111"/>
          </a:solidFill>
          <a:ln/>
        </p:spPr>
        <p:txBody>
          <a:bodyPr/>
          <a:lstStyle/>
          <a:p>
            <a:endParaRPr lang="en-GB"/>
          </a:p>
        </p:txBody>
      </p:sp>
      <p:sp>
        <p:nvSpPr>
          <p:cNvPr id="16" name="Shape 14"/>
          <p:cNvSpPr/>
          <p:nvPr/>
        </p:nvSpPr>
        <p:spPr>
          <a:xfrm>
            <a:off x="4846320" y="1600200"/>
            <a:ext cx="54864" cy="2926080"/>
          </a:xfrm>
          <a:prstGeom prst="rect">
            <a:avLst/>
          </a:prstGeom>
          <a:solidFill>
            <a:srgbClr val="FFCD00"/>
          </a:solidFill>
          <a:ln/>
        </p:spPr>
        <p:txBody>
          <a:bodyPr/>
          <a:lstStyle/>
          <a:p>
            <a:endParaRPr lang="en-GB"/>
          </a:p>
        </p:txBody>
      </p:sp>
      <p:sp>
        <p:nvSpPr>
          <p:cNvPr id="17" name="Text 15"/>
          <p:cNvSpPr/>
          <p:nvPr/>
        </p:nvSpPr>
        <p:spPr>
          <a:xfrm>
            <a:off x="5029200" y="1737360"/>
            <a:ext cx="3566160" cy="274320"/>
          </a:xfrm>
          <a:prstGeom prst="rect">
            <a:avLst/>
          </a:prstGeom>
          <a:noFill/>
          <a:ln/>
        </p:spPr>
        <p:txBody>
          <a:bodyPr wrap="square" rtlCol="0" anchor="ctr"/>
          <a:lstStyle/>
          <a:p>
            <a:pPr marL="0" indent="0">
              <a:buNone/>
            </a:pPr>
            <a:r>
              <a:rPr lang="en-US" sz="1000" b="1" kern="0" spc="100" dirty="0">
                <a:solidFill>
                  <a:srgbClr val="FFCD00"/>
                </a:solidFill>
                <a:latin typeface="Arial" pitchFamily="34" charset="0"/>
                <a:ea typeface="Arial" pitchFamily="34" charset="-122"/>
                <a:cs typeface="Arial" pitchFamily="34" charset="-120"/>
              </a:rPr>
              <a:t>WITH STRUCTURE</a:t>
            </a:r>
            <a:endParaRPr lang="en-US" sz="1000" dirty="0"/>
          </a:p>
        </p:txBody>
      </p:sp>
      <p:sp>
        <p:nvSpPr>
          <p:cNvPr id="18" name="Shape 16"/>
          <p:cNvSpPr/>
          <p:nvPr/>
        </p:nvSpPr>
        <p:spPr>
          <a:xfrm>
            <a:off x="5029200" y="2148840"/>
            <a:ext cx="54864" cy="182880"/>
          </a:xfrm>
          <a:prstGeom prst="rect">
            <a:avLst/>
          </a:prstGeom>
          <a:solidFill>
            <a:srgbClr val="FFCD00"/>
          </a:solidFill>
          <a:ln/>
        </p:spPr>
        <p:txBody>
          <a:bodyPr/>
          <a:lstStyle/>
          <a:p>
            <a:endParaRPr lang="en-GB"/>
          </a:p>
        </p:txBody>
      </p:sp>
      <p:sp>
        <p:nvSpPr>
          <p:cNvPr id="19" name="Text 17"/>
          <p:cNvSpPr/>
          <p:nvPr/>
        </p:nvSpPr>
        <p:spPr>
          <a:xfrm>
            <a:off x="5166360" y="2103120"/>
            <a:ext cx="3383280" cy="320040"/>
          </a:xfrm>
          <a:prstGeom prst="rect">
            <a:avLst/>
          </a:prstGeom>
          <a:noFill/>
          <a:ln/>
        </p:spPr>
        <p:txBody>
          <a:bodyPr wrap="square" rtlCol="0" anchor="ctr"/>
          <a:lstStyle/>
          <a:p>
            <a:pPr marL="0" indent="0">
              <a:buNone/>
            </a:pPr>
            <a:r>
              <a:rPr lang="en-US" sz="1400" dirty="0">
                <a:solidFill>
                  <a:srgbClr val="FFFFFF"/>
                </a:solidFill>
                <a:latin typeface="Arial" pitchFamily="34" charset="0"/>
                <a:ea typeface="Arial" pitchFamily="34" charset="-122"/>
                <a:cs typeface="Arial" pitchFamily="34" charset="-120"/>
              </a:rPr>
              <a:t>Meeting minutes documented</a:t>
            </a:r>
            <a:endParaRPr lang="en-US" sz="1400" dirty="0"/>
          </a:p>
        </p:txBody>
      </p:sp>
      <p:sp>
        <p:nvSpPr>
          <p:cNvPr id="20" name="Shape 18"/>
          <p:cNvSpPr/>
          <p:nvPr/>
        </p:nvSpPr>
        <p:spPr>
          <a:xfrm>
            <a:off x="5029200" y="2770632"/>
            <a:ext cx="54864" cy="182880"/>
          </a:xfrm>
          <a:prstGeom prst="rect">
            <a:avLst/>
          </a:prstGeom>
          <a:solidFill>
            <a:srgbClr val="FFCD00"/>
          </a:solidFill>
          <a:ln/>
        </p:spPr>
        <p:txBody>
          <a:bodyPr/>
          <a:lstStyle/>
          <a:p>
            <a:endParaRPr lang="en-GB"/>
          </a:p>
        </p:txBody>
      </p:sp>
      <p:sp>
        <p:nvSpPr>
          <p:cNvPr id="21" name="Text 19"/>
          <p:cNvSpPr/>
          <p:nvPr/>
        </p:nvSpPr>
        <p:spPr>
          <a:xfrm>
            <a:off x="5166360" y="2724912"/>
            <a:ext cx="3383280" cy="320040"/>
          </a:xfrm>
          <a:prstGeom prst="rect">
            <a:avLst/>
          </a:prstGeom>
          <a:noFill/>
          <a:ln/>
        </p:spPr>
        <p:txBody>
          <a:bodyPr wrap="square" rtlCol="0" anchor="ctr"/>
          <a:lstStyle/>
          <a:p>
            <a:pPr marL="0" indent="0">
              <a:buNone/>
            </a:pPr>
            <a:r>
              <a:rPr lang="en-US" sz="1400" dirty="0">
                <a:solidFill>
                  <a:srgbClr val="FFFFFF"/>
                </a:solidFill>
                <a:latin typeface="Arial" pitchFamily="34" charset="0"/>
                <a:ea typeface="Arial" pitchFamily="34" charset="-122"/>
                <a:cs typeface="Arial" pitchFamily="34" charset="-120"/>
              </a:rPr>
              <a:t>Trello card created for each decision</a:t>
            </a:r>
            <a:endParaRPr lang="en-US" sz="1400" dirty="0"/>
          </a:p>
        </p:txBody>
      </p:sp>
      <p:sp>
        <p:nvSpPr>
          <p:cNvPr id="22" name="Shape 20"/>
          <p:cNvSpPr/>
          <p:nvPr/>
        </p:nvSpPr>
        <p:spPr>
          <a:xfrm>
            <a:off x="5029200" y="3392424"/>
            <a:ext cx="54864" cy="182880"/>
          </a:xfrm>
          <a:prstGeom prst="rect">
            <a:avLst/>
          </a:prstGeom>
          <a:solidFill>
            <a:srgbClr val="FFCD00"/>
          </a:solidFill>
          <a:ln/>
        </p:spPr>
        <p:txBody>
          <a:bodyPr/>
          <a:lstStyle/>
          <a:p>
            <a:endParaRPr lang="en-GB"/>
          </a:p>
        </p:txBody>
      </p:sp>
      <p:sp>
        <p:nvSpPr>
          <p:cNvPr id="23" name="Text 21"/>
          <p:cNvSpPr/>
          <p:nvPr/>
        </p:nvSpPr>
        <p:spPr>
          <a:xfrm>
            <a:off x="5166360" y="3346704"/>
            <a:ext cx="3383280" cy="320040"/>
          </a:xfrm>
          <a:prstGeom prst="rect">
            <a:avLst/>
          </a:prstGeom>
          <a:noFill/>
          <a:ln/>
        </p:spPr>
        <p:txBody>
          <a:bodyPr wrap="square" rtlCol="0" anchor="ctr"/>
          <a:lstStyle/>
          <a:p>
            <a:pPr marL="0" indent="0">
              <a:buNone/>
            </a:pPr>
            <a:r>
              <a:rPr lang="en-US" sz="1400" dirty="0">
                <a:solidFill>
                  <a:srgbClr val="FFFFFF"/>
                </a:solidFill>
                <a:latin typeface="Arial" pitchFamily="34" charset="0"/>
                <a:ea typeface="Arial" pitchFamily="34" charset="-122"/>
                <a:cs typeface="Arial" pitchFamily="34" charset="-120"/>
              </a:rPr>
              <a:t>Everyone had a vote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DDDDDD"/>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r>
              <a:rPr lang="en-US" sz="1000" b="1" kern="0" spc="200" dirty="0">
                <a:solidFill>
                  <a:srgbClr val="888888"/>
                </a:solidFill>
                <a:latin typeface="Arial" pitchFamily="34" charset="0"/>
                <a:ea typeface="Arial" pitchFamily="34" charset="-122"/>
                <a:cs typeface="Arial" pitchFamily="34" charset="-120"/>
              </a:rPr>
              <a:t>DELIVERY PROCESS</a:t>
            </a: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888888"/>
                </a:solidFill>
                <a:latin typeface="Arial" pitchFamily="34" charset="0"/>
                <a:ea typeface="Arial" pitchFamily="34" charset="-122"/>
                <a:cs typeface="Arial" pitchFamily="34" charset="-120"/>
              </a:rPr>
              <a:t>NINJA QUIZ  ·  503IT  ·  09 / 18</a:t>
            </a:r>
            <a:endParaRPr lang="en-US" sz="900" dirty="0"/>
          </a:p>
        </p:txBody>
      </p:sp>
      <p:sp>
        <p:nvSpPr>
          <p:cNvPr id="5" name="Text 3"/>
          <p:cNvSpPr/>
          <p:nvPr/>
        </p:nvSpPr>
        <p:spPr>
          <a:xfrm>
            <a:off x="457200" y="685800"/>
            <a:ext cx="8229600" cy="812800"/>
          </a:xfrm>
          <a:prstGeom prst="rect">
            <a:avLst/>
          </a:prstGeom>
          <a:noFill/>
          <a:ln/>
        </p:spPr>
        <p:txBody>
          <a:bodyPr wrap="square" rtlCol="0" anchor="ctr"/>
          <a:lstStyle/>
          <a:p>
            <a:pPr marL="0" indent="0">
              <a:buNone/>
            </a:pPr>
            <a:r>
              <a:rPr lang="en-US" sz="3200" b="1" dirty="0">
                <a:solidFill>
                  <a:srgbClr val="111111"/>
                </a:solidFill>
                <a:latin typeface="Arial Black" pitchFamily="34" charset="0"/>
                <a:ea typeface="Arial Black" pitchFamily="34" charset="-122"/>
                <a:cs typeface="Arial Black" pitchFamily="34" charset="-120"/>
              </a:rPr>
              <a:t>Built in five sprints.</a:t>
            </a:r>
            <a:endParaRPr lang="en-US" sz="3200" dirty="0"/>
          </a:p>
        </p:txBody>
      </p:sp>
      <p:sp>
        <p:nvSpPr>
          <p:cNvPr id="6" name="Shape 4"/>
          <p:cNvSpPr/>
          <p:nvPr/>
        </p:nvSpPr>
        <p:spPr>
          <a:xfrm>
            <a:off x="457200" y="1463040"/>
            <a:ext cx="8229600" cy="10973"/>
          </a:xfrm>
          <a:prstGeom prst="rect">
            <a:avLst/>
          </a:prstGeom>
          <a:solidFill>
            <a:srgbClr val="EEEEEE"/>
          </a:solidFill>
          <a:ln/>
        </p:spPr>
        <p:txBody>
          <a:bodyPr/>
          <a:lstStyle/>
          <a:p>
            <a:endParaRPr lang="en-GB"/>
          </a:p>
        </p:txBody>
      </p:sp>
      <p:sp>
        <p:nvSpPr>
          <p:cNvPr id="7" name="Text 5"/>
          <p:cNvSpPr/>
          <p:nvPr/>
        </p:nvSpPr>
        <p:spPr>
          <a:xfrm>
            <a:off x="457200" y="1609344"/>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01</a:t>
            </a:r>
            <a:endParaRPr lang="en-US" sz="2000" dirty="0"/>
          </a:p>
        </p:txBody>
      </p:sp>
      <p:sp>
        <p:nvSpPr>
          <p:cNvPr id="8" name="Text 6"/>
          <p:cNvSpPr/>
          <p:nvPr/>
        </p:nvSpPr>
        <p:spPr>
          <a:xfrm>
            <a:off x="1371600" y="1591056"/>
            <a:ext cx="731520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Sprint 1  —  Login &amp; menu</a:t>
            </a:r>
            <a:endParaRPr lang="en-US" sz="1700" dirty="0"/>
          </a:p>
        </p:txBody>
      </p:sp>
      <p:sp>
        <p:nvSpPr>
          <p:cNvPr id="9" name="Text 7"/>
          <p:cNvSpPr/>
          <p:nvPr/>
        </p:nvSpPr>
        <p:spPr>
          <a:xfrm>
            <a:off x="1371600" y="1892808"/>
            <a:ext cx="731520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Foundation. Every member set up. GitHub branches created.</a:t>
            </a:r>
            <a:endParaRPr lang="en-US" sz="1200" dirty="0"/>
          </a:p>
        </p:txBody>
      </p:sp>
      <p:sp>
        <p:nvSpPr>
          <p:cNvPr id="10" name="Text 8"/>
          <p:cNvSpPr/>
          <p:nvPr/>
        </p:nvSpPr>
        <p:spPr>
          <a:xfrm>
            <a:off x="457200" y="2231136"/>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02</a:t>
            </a:r>
            <a:endParaRPr lang="en-US" sz="2000" dirty="0"/>
          </a:p>
        </p:txBody>
      </p:sp>
      <p:sp>
        <p:nvSpPr>
          <p:cNvPr id="11" name="Text 9"/>
          <p:cNvSpPr/>
          <p:nvPr/>
        </p:nvSpPr>
        <p:spPr>
          <a:xfrm>
            <a:off x="1371600" y="2212848"/>
            <a:ext cx="731520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Sprint 2  —  Game engine</a:t>
            </a:r>
            <a:endParaRPr lang="en-US" sz="1700" dirty="0"/>
          </a:p>
        </p:txBody>
      </p:sp>
      <p:sp>
        <p:nvSpPr>
          <p:cNvPr id="12" name="Text 10"/>
          <p:cNvSpPr/>
          <p:nvPr/>
        </p:nvSpPr>
        <p:spPr>
          <a:xfrm>
            <a:off x="1371600" y="2514600"/>
            <a:ext cx="731520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Core mechanics built. Daily check-ins via WhatsApp.</a:t>
            </a:r>
            <a:endParaRPr lang="en-US" sz="1200" dirty="0"/>
          </a:p>
        </p:txBody>
      </p:sp>
      <p:sp>
        <p:nvSpPr>
          <p:cNvPr id="13" name="Text 11"/>
          <p:cNvSpPr/>
          <p:nvPr/>
        </p:nvSpPr>
        <p:spPr>
          <a:xfrm>
            <a:off x="457200" y="2852928"/>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03</a:t>
            </a:r>
            <a:endParaRPr lang="en-US" sz="2000" dirty="0"/>
          </a:p>
        </p:txBody>
      </p:sp>
      <p:sp>
        <p:nvSpPr>
          <p:cNvPr id="14" name="Text 12"/>
          <p:cNvSpPr/>
          <p:nvPr/>
        </p:nvSpPr>
        <p:spPr>
          <a:xfrm>
            <a:off x="1371600" y="2834640"/>
            <a:ext cx="731520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Sprint 3  —  Slicing &amp; sound</a:t>
            </a:r>
            <a:endParaRPr lang="en-US" sz="1700" dirty="0"/>
          </a:p>
        </p:txBody>
      </p:sp>
      <p:sp>
        <p:nvSpPr>
          <p:cNvPr id="15" name="Text 13"/>
          <p:cNvSpPr/>
          <p:nvPr/>
        </p:nvSpPr>
        <p:spPr>
          <a:xfrm>
            <a:off x="1371600" y="3136392"/>
            <a:ext cx="731520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Visual integration. First merge conflicts resolved.</a:t>
            </a:r>
            <a:endParaRPr lang="en-US" sz="1200" dirty="0"/>
          </a:p>
        </p:txBody>
      </p:sp>
      <p:sp>
        <p:nvSpPr>
          <p:cNvPr id="16" name="Text 14"/>
          <p:cNvSpPr/>
          <p:nvPr/>
        </p:nvSpPr>
        <p:spPr>
          <a:xfrm>
            <a:off x="457200" y="3474720"/>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04</a:t>
            </a:r>
            <a:endParaRPr lang="en-US" sz="2000" dirty="0"/>
          </a:p>
        </p:txBody>
      </p:sp>
      <p:sp>
        <p:nvSpPr>
          <p:cNvPr id="17" name="Text 15"/>
          <p:cNvSpPr/>
          <p:nvPr/>
        </p:nvSpPr>
        <p:spPr>
          <a:xfrm>
            <a:off x="1371600" y="3456432"/>
            <a:ext cx="731520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Sprint 4  —  Leaderboard</a:t>
            </a:r>
            <a:endParaRPr lang="en-US" sz="1700" dirty="0"/>
          </a:p>
        </p:txBody>
      </p:sp>
      <p:sp>
        <p:nvSpPr>
          <p:cNvPr id="18" name="Text 16"/>
          <p:cNvSpPr/>
          <p:nvPr/>
        </p:nvSpPr>
        <p:spPr>
          <a:xfrm>
            <a:off x="1371600" y="3758184"/>
            <a:ext cx="731520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Peer testing begins. Feedback collected and logged.</a:t>
            </a:r>
            <a:endParaRPr lang="en-US" sz="1200" dirty="0"/>
          </a:p>
        </p:txBody>
      </p:sp>
      <p:sp>
        <p:nvSpPr>
          <p:cNvPr id="19" name="Text 17"/>
          <p:cNvSpPr/>
          <p:nvPr/>
        </p:nvSpPr>
        <p:spPr>
          <a:xfrm>
            <a:off x="457200" y="4096512"/>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05</a:t>
            </a:r>
            <a:endParaRPr lang="en-US" sz="2000" dirty="0"/>
          </a:p>
        </p:txBody>
      </p:sp>
      <p:sp>
        <p:nvSpPr>
          <p:cNvPr id="20" name="Text 18"/>
          <p:cNvSpPr/>
          <p:nvPr/>
        </p:nvSpPr>
        <p:spPr>
          <a:xfrm>
            <a:off x="1371600" y="4078224"/>
            <a:ext cx="731520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Sprint 5  —  Testing &amp; polish</a:t>
            </a:r>
            <a:endParaRPr lang="en-US" sz="1700" dirty="0"/>
          </a:p>
        </p:txBody>
      </p:sp>
      <p:sp>
        <p:nvSpPr>
          <p:cNvPr id="21" name="Text 19"/>
          <p:cNvSpPr/>
          <p:nvPr/>
        </p:nvSpPr>
        <p:spPr>
          <a:xfrm>
            <a:off x="1371600" y="4379976"/>
            <a:ext cx="731520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Bug hunt, final fixes, review before submission.</a:t>
            </a:r>
            <a:endParaRPr lang="en-US" sz="12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6400800" cy="256032"/>
          </a:xfrm>
          <a:prstGeom prst="rect">
            <a:avLst/>
          </a:prstGeom>
          <a:noFill/>
        </p:spPr>
        <p:txBody>
          <a:bodyPr wrap="square">
            <a:spAutoFit/>
          </a:bodyPr>
          <a:lstStyle/>
          <a:p>
            <a:pPr algn="l"/>
            <a:r>
              <a:rPr sz="1000" b="1" i="0">
                <a:solidFill>
                  <a:srgbClr val="888888"/>
                </a:solidFill>
              </a:rPr>
              <a:t>SPRINT OUTCOMES</a:t>
            </a:r>
          </a:p>
        </p:txBody>
      </p:sp>
      <p:sp>
        <p:nvSpPr>
          <p:cNvPr id="3" name="TextBox 2"/>
          <p:cNvSpPr txBox="1"/>
          <p:nvPr/>
        </p:nvSpPr>
        <p:spPr>
          <a:xfrm>
            <a:off x="3657600" y="4919472"/>
            <a:ext cx="5212080" cy="182880"/>
          </a:xfrm>
          <a:prstGeom prst="rect">
            <a:avLst/>
          </a:prstGeom>
          <a:noFill/>
        </p:spPr>
        <p:txBody>
          <a:bodyPr wrap="square">
            <a:spAutoFit/>
          </a:bodyPr>
          <a:lstStyle/>
          <a:p>
            <a:pPr algn="l"/>
            <a:r>
              <a:rPr sz="800" b="0" i="0">
                <a:solidFill>
                  <a:srgbClr val="888888"/>
                </a:solidFill>
              </a:rPr>
              <a:t>NINJA QUIZ  .  503IT</a:t>
            </a:r>
          </a:p>
        </p:txBody>
      </p:sp>
      <p:sp>
        <p:nvSpPr>
          <p:cNvPr id="4" name="TextBox 3"/>
          <p:cNvSpPr txBox="1"/>
          <p:nvPr/>
        </p:nvSpPr>
        <p:spPr>
          <a:xfrm>
            <a:off x="457200" y="658368"/>
            <a:ext cx="8229600" cy="365760"/>
          </a:xfrm>
          <a:prstGeom prst="rect">
            <a:avLst/>
          </a:prstGeom>
          <a:noFill/>
        </p:spPr>
        <p:txBody>
          <a:bodyPr wrap="square">
            <a:spAutoFit/>
          </a:bodyPr>
          <a:lstStyle/>
          <a:p>
            <a:pPr algn="l"/>
            <a:r>
              <a:rPr sz="1500" b="1" i="0">
                <a:solidFill>
                  <a:srgbClr val="111111"/>
                </a:solidFill>
              </a:rPr>
              <a:t>What each sprint delivered — and what it taught the team.</a:t>
            </a:r>
          </a:p>
        </p:txBody>
      </p:sp>
      <p:sp>
        <p:nvSpPr>
          <p:cNvPr id="5" name="TextBox 4"/>
          <p:cNvSpPr txBox="1"/>
          <p:nvPr/>
        </p:nvSpPr>
        <p:spPr>
          <a:xfrm>
            <a:off x="457200" y="1188720"/>
            <a:ext cx="640080" cy="274320"/>
          </a:xfrm>
          <a:prstGeom prst="rect">
            <a:avLst/>
          </a:prstGeom>
          <a:noFill/>
        </p:spPr>
        <p:txBody>
          <a:bodyPr wrap="square">
            <a:spAutoFit/>
          </a:bodyPr>
          <a:lstStyle/>
          <a:p>
            <a:pPr algn="l"/>
            <a:r>
              <a:rPr sz="1200" b="1" i="0">
                <a:solidFill>
                  <a:srgbClr val="FFCD00"/>
                </a:solidFill>
              </a:rPr>
              <a:t>01</a:t>
            </a:r>
          </a:p>
        </p:txBody>
      </p:sp>
      <p:sp>
        <p:nvSpPr>
          <p:cNvPr id="6" name="TextBox 5"/>
          <p:cNvSpPr txBox="1"/>
          <p:nvPr/>
        </p:nvSpPr>
        <p:spPr>
          <a:xfrm>
            <a:off x="1188720" y="1188720"/>
            <a:ext cx="3657600" cy="256032"/>
          </a:xfrm>
          <a:prstGeom prst="rect">
            <a:avLst/>
          </a:prstGeom>
          <a:noFill/>
        </p:spPr>
        <p:txBody>
          <a:bodyPr wrap="square">
            <a:spAutoFit/>
          </a:bodyPr>
          <a:lstStyle/>
          <a:p>
            <a:pPr algn="l"/>
            <a:r>
              <a:rPr sz="1200" b="1" i="0">
                <a:solidFill>
                  <a:srgbClr val="111111"/>
                </a:solidFill>
              </a:rPr>
              <a:t>Sprint 1 — Setup &amp; Login</a:t>
            </a:r>
          </a:p>
        </p:txBody>
      </p:sp>
      <p:sp>
        <p:nvSpPr>
          <p:cNvPr id="7" name="TextBox 6"/>
          <p:cNvSpPr txBox="1"/>
          <p:nvPr/>
        </p:nvSpPr>
        <p:spPr>
          <a:xfrm>
            <a:off x="1188720" y="1463040"/>
            <a:ext cx="7680960" cy="457200"/>
          </a:xfrm>
          <a:prstGeom prst="rect">
            <a:avLst/>
          </a:prstGeom>
          <a:noFill/>
        </p:spPr>
        <p:txBody>
          <a:bodyPr wrap="square">
            <a:spAutoFit/>
          </a:bodyPr>
          <a:lstStyle/>
          <a:p>
            <a:pPr algn="l"/>
            <a:r>
              <a:rPr sz="900" b="0" i="0">
                <a:solidFill>
                  <a:srgbClr val="555555"/>
                </a:solidFill>
              </a:rPr>
              <a:t>Built: auth system, GitHub branches, role structure.</a:t>
            </a:r>
          </a:p>
          <a:p>
            <a:pPr algn="l"/>
            <a:r>
              <a:rPr sz="900" b="0" i="0">
                <a:solidFill>
                  <a:srgbClr val="555555"/>
                </a:solidFill>
              </a:rPr>
              <a:t>Learned: agreeing roles before coding prevented overlap and blame.</a:t>
            </a:r>
          </a:p>
        </p:txBody>
      </p:sp>
      <p:sp>
        <p:nvSpPr>
          <p:cNvPr id="8" name="TextBox 7"/>
          <p:cNvSpPr txBox="1"/>
          <p:nvPr/>
        </p:nvSpPr>
        <p:spPr>
          <a:xfrm>
            <a:off x="457200" y="1938528"/>
            <a:ext cx="640080" cy="274320"/>
          </a:xfrm>
          <a:prstGeom prst="rect">
            <a:avLst/>
          </a:prstGeom>
          <a:noFill/>
        </p:spPr>
        <p:txBody>
          <a:bodyPr wrap="square">
            <a:spAutoFit/>
          </a:bodyPr>
          <a:lstStyle/>
          <a:p>
            <a:pPr algn="l"/>
            <a:r>
              <a:rPr sz="1200" b="1" i="0">
                <a:solidFill>
                  <a:srgbClr val="FFCD00"/>
                </a:solidFill>
              </a:rPr>
              <a:t>02</a:t>
            </a:r>
          </a:p>
        </p:txBody>
      </p:sp>
      <p:sp>
        <p:nvSpPr>
          <p:cNvPr id="9" name="TextBox 8"/>
          <p:cNvSpPr txBox="1"/>
          <p:nvPr/>
        </p:nvSpPr>
        <p:spPr>
          <a:xfrm>
            <a:off x="1188720" y="1938528"/>
            <a:ext cx="3657600" cy="256032"/>
          </a:xfrm>
          <a:prstGeom prst="rect">
            <a:avLst/>
          </a:prstGeom>
          <a:noFill/>
        </p:spPr>
        <p:txBody>
          <a:bodyPr wrap="square">
            <a:spAutoFit/>
          </a:bodyPr>
          <a:lstStyle/>
          <a:p>
            <a:pPr algn="l"/>
            <a:r>
              <a:rPr sz="1200" b="1" i="0">
                <a:solidFill>
                  <a:srgbClr val="111111"/>
                </a:solidFill>
              </a:rPr>
              <a:t>Sprint 2 — Game Engine</a:t>
            </a:r>
          </a:p>
        </p:txBody>
      </p:sp>
      <p:sp>
        <p:nvSpPr>
          <p:cNvPr id="10" name="TextBox 9"/>
          <p:cNvSpPr txBox="1"/>
          <p:nvPr/>
        </p:nvSpPr>
        <p:spPr>
          <a:xfrm>
            <a:off x="1188720" y="2212848"/>
            <a:ext cx="7680960" cy="457200"/>
          </a:xfrm>
          <a:prstGeom prst="rect">
            <a:avLst/>
          </a:prstGeom>
          <a:noFill/>
        </p:spPr>
        <p:txBody>
          <a:bodyPr wrap="square">
            <a:spAutoFit/>
          </a:bodyPr>
          <a:lstStyle/>
          <a:p>
            <a:pPr algn="l"/>
            <a:r>
              <a:rPr sz="900" b="0" i="0">
                <a:solidFill>
                  <a:srgbClr val="555555"/>
                </a:solidFill>
              </a:rPr>
              <a:t>Built: core quiz loop, slash mechanic.</a:t>
            </a:r>
          </a:p>
          <a:p>
            <a:pPr algn="l"/>
            <a:r>
              <a:rPr sz="900" b="0" i="0">
                <a:solidFill>
                  <a:srgbClr val="555555"/>
                </a:solidFill>
              </a:rPr>
              <a:t>Learned: daily WhatsApp check-ins replaced long weekly catch-ups and kept everyone unblocked.</a:t>
            </a:r>
          </a:p>
        </p:txBody>
      </p:sp>
      <p:sp>
        <p:nvSpPr>
          <p:cNvPr id="11" name="TextBox 10"/>
          <p:cNvSpPr txBox="1"/>
          <p:nvPr/>
        </p:nvSpPr>
        <p:spPr>
          <a:xfrm>
            <a:off x="457200" y="2688336"/>
            <a:ext cx="640080" cy="274320"/>
          </a:xfrm>
          <a:prstGeom prst="rect">
            <a:avLst/>
          </a:prstGeom>
          <a:noFill/>
        </p:spPr>
        <p:txBody>
          <a:bodyPr wrap="square">
            <a:spAutoFit/>
          </a:bodyPr>
          <a:lstStyle/>
          <a:p>
            <a:pPr algn="l"/>
            <a:r>
              <a:rPr sz="1200" b="1" i="0">
                <a:solidFill>
                  <a:srgbClr val="FFCD00"/>
                </a:solidFill>
              </a:rPr>
              <a:t>03</a:t>
            </a:r>
          </a:p>
        </p:txBody>
      </p:sp>
      <p:sp>
        <p:nvSpPr>
          <p:cNvPr id="12" name="TextBox 11"/>
          <p:cNvSpPr txBox="1"/>
          <p:nvPr/>
        </p:nvSpPr>
        <p:spPr>
          <a:xfrm>
            <a:off x="1188720" y="2688336"/>
            <a:ext cx="3657600" cy="256032"/>
          </a:xfrm>
          <a:prstGeom prst="rect">
            <a:avLst/>
          </a:prstGeom>
          <a:noFill/>
        </p:spPr>
        <p:txBody>
          <a:bodyPr wrap="square">
            <a:spAutoFit/>
          </a:bodyPr>
          <a:lstStyle/>
          <a:p>
            <a:pPr algn="l"/>
            <a:r>
              <a:rPr sz="1200" b="1" i="0">
                <a:solidFill>
                  <a:srgbClr val="111111"/>
                </a:solidFill>
              </a:rPr>
              <a:t>Sprint 3 — Slicing &amp; Sound</a:t>
            </a:r>
          </a:p>
        </p:txBody>
      </p:sp>
      <p:sp>
        <p:nvSpPr>
          <p:cNvPr id="13" name="TextBox 12"/>
          <p:cNvSpPr txBox="1"/>
          <p:nvPr/>
        </p:nvSpPr>
        <p:spPr>
          <a:xfrm>
            <a:off x="1188720" y="2962656"/>
            <a:ext cx="7680960" cy="457200"/>
          </a:xfrm>
          <a:prstGeom prst="rect">
            <a:avLst/>
          </a:prstGeom>
          <a:noFill/>
        </p:spPr>
        <p:txBody>
          <a:bodyPr wrap="square">
            <a:spAutoFit/>
          </a:bodyPr>
          <a:lstStyle/>
          <a:p>
            <a:pPr algn="l"/>
            <a:r>
              <a:rPr sz="900" b="0" i="0">
                <a:solidFill>
                  <a:srgbClr val="555555"/>
                </a:solidFill>
              </a:rPr>
              <a:t>Built: animations, visual effects, audio.</a:t>
            </a:r>
          </a:p>
          <a:p>
            <a:pPr algn="l"/>
            <a:r>
              <a:rPr sz="900" b="0" i="0">
                <a:solidFill>
                  <a:srgbClr val="555555"/>
                </a:solidFill>
              </a:rPr>
              <a:t>Learned: first merge conflicts taught us to always pull before push — a discipline we kept.</a:t>
            </a:r>
          </a:p>
        </p:txBody>
      </p:sp>
      <p:sp>
        <p:nvSpPr>
          <p:cNvPr id="14" name="TextBox 13"/>
          <p:cNvSpPr txBox="1"/>
          <p:nvPr/>
        </p:nvSpPr>
        <p:spPr>
          <a:xfrm>
            <a:off x="457200" y="3438144"/>
            <a:ext cx="640080" cy="274320"/>
          </a:xfrm>
          <a:prstGeom prst="rect">
            <a:avLst/>
          </a:prstGeom>
          <a:noFill/>
        </p:spPr>
        <p:txBody>
          <a:bodyPr wrap="square">
            <a:spAutoFit/>
          </a:bodyPr>
          <a:lstStyle/>
          <a:p>
            <a:pPr algn="l"/>
            <a:r>
              <a:rPr sz="1200" b="1" i="0">
                <a:solidFill>
                  <a:srgbClr val="FFCD00"/>
                </a:solidFill>
              </a:rPr>
              <a:t>04</a:t>
            </a:r>
          </a:p>
        </p:txBody>
      </p:sp>
      <p:sp>
        <p:nvSpPr>
          <p:cNvPr id="15" name="TextBox 14"/>
          <p:cNvSpPr txBox="1"/>
          <p:nvPr/>
        </p:nvSpPr>
        <p:spPr>
          <a:xfrm>
            <a:off x="1188720" y="3438144"/>
            <a:ext cx="3657600" cy="256032"/>
          </a:xfrm>
          <a:prstGeom prst="rect">
            <a:avLst/>
          </a:prstGeom>
          <a:noFill/>
        </p:spPr>
        <p:txBody>
          <a:bodyPr wrap="square">
            <a:spAutoFit/>
          </a:bodyPr>
          <a:lstStyle/>
          <a:p>
            <a:pPr algn="l"/>
            <a:r>
              <a:rPr sz="1200" b="1" i="0">
                <a:solidFill>
                  <a:srgbClr val="111111"/>
                </a:solidFill>
              </a:rPr>
              <a:t>Sprint 4 — Leaderboard &amp; Test</a:t>
            </a:r>
          </a:p>
        </p:txBody>
      </p:sp>
      <p:sp>
        <p:nvSpPr>
          <p:cNvPr id="16" name="TextBox 15"/>
          <p:cNvSpPr txBox="1"/>
          <p:nvPr/>
        </p:nvSpPr>
        <p:spPr>
          <a:xfrm>
            <a:off x="1188720" y="3712463"/>
            <a:ext cx="7680960" cy="457200"/>
          </a:xfrm>
          <a:prstGeom prst="rect">
            <a:avLst/>
          </a:prstGeom>
          <a:noFill/>
        </p:spPr>
        <p:txBody>
          <a:bodyPr wrap="square">
            <a:spAutoFit/>
          </a:bodyPr>
          <a:lstStyle/>
          <a:p>
            <a:pPr algn="l"/>
            <a:r>
              <a:rPr sz="900" b="0" i="0">
                <a:solidFill>
                  <a:srgbClr val="555555"/>
                </a:solidFill>
              </a:rPr>
              <a:t>Built: scoring, peer testing sessions.</a:t>
            </a:r>
          </a:p>
          <a:p>
            <a:pPr algn="l"/>
            <a:r>
              <a:rPr sz="900" b="0" i="0">
                <a:solidFill>
                  <a:srgbClr val="555555"/>
                </a:solidFill>
              </a:rPr>
              <a:t>Learned: external testers found issues we missed — peer testing is essential, not optional.</a:t>
            </a:r>
          </a:p>
        </p:txBody>
      </p:sp>
      <p:sp>
        <p:nvSpPr>
          <p:cNvPr id="17" name="TextBox 16"/>
          <p:cNvSpPr txBox="1"/>
          <p:nvPr/>
        </p:nvSpPr>
        <p:spPr>
          <a:xfrm>
            <a:off x="457200" y="4187952"/>
            <a:ext cx="640080" cy="274320"/>
          </a:xfrm>
          <a:prstGeom prst="rect">
            <a:avLst/>
          </a:prstGeom>
          <a:noFill/>
        </p:spPr>
        <p:txBody>
          <a:bodyPr wrap="square">
            <a:spAutoFit/>
          </a:bodyPr>
          <a:lstStyle/>
          <a:p>
            <a:pPr algn="l"/>
            <a:r>
              <a:rPr sz="1200" b="1" i="0">
                <a:solidFill>
                  <a:srgbClr val="FFCD00"/>
                </a:solidFill>
              </a:rPr>
              <a:t>05</a:t>
            </a:r>
          </a:p>
        </p:txBody>
      </p:sp>
      <p:sp>
        <p:nvSpPr>
          <p:cNvPr id="18" name="TextBox 17"/>
          <p:cNvSpPr txBox="1"/>
          <p:nvPr/>
        </p:nvSpPr>
        <p:spPr>
          <a:xfrm>
            <a:off x="1188720" y="4187952"/>
            <a:ext cx="3657600" cy="256032"/>
          </a:xfrm>
          <a:prstGeom prst="rect">
            <a:avLst/>
          </a:prstGeom>
          <a:noFill/>
        </p:spPr>
        <p:txBody>
          <a:bodyPr wrap="square">
            <a:spAutoFit/>
          </a:bodyPr>
          <a:lstStyle/>
          <a:p>
            <a:pPr algn="l"/>
            <a:r>
              <a:rPr sz="1200" b="1" i="0">
                <a:solidFill>
                  <a:srgbClr val="111111"/>
                </a:solidFill>
              </a:rPr>
              <a:t>Sprint 5 — Polish &amp; Submit</a:t>
            </a:r>
          </a:p>
        </p:txBody>
      </p:sp>
      <p:sp>
        <p:nvSpPr>
          <p:cNvPr id="19" name="TextBox 18"/>
          <p:cNvSpPr txBox="1"/>
          <p:nvPr/>
        </p:nvSpPr>
        <p:spPr>
          <a:xfrm>
            <a:off x="1188720" y="4462272"/>
            <a:ext cx="7680960" cy="457200"/>
          </a:xfrm>
          <a:prstGeom prst="rect">
            <a:avLst/>
          </a:prstGeom>
          <a:noFill/>
        </p:spPr>
        <p:txBody>
          <a:bodyPr wrap="square">
            <a:spAutoFit/>
          </a:bodyPr>
          <a:lstStyle/>
          <a:p>
            <a:pPr algn="l"/>
            <a:r>
              <a:rPr sz="900" b="0" i="0">
                <a:solidFill>
                  <a:srgbClr val="555555"/>
                </a:solidFill>
              </a:rPr>
              <a:t>Built: final bug fixes, documentation.</a:t>
            </a:r>
          </a:p>
          <a:p>
            <a:pPr algn="l"/>
            <a:r>
              <a:rPr sz="900" b="0" i="0">
                <a:solidFill>
                  <a:srgbClr val="555555"/>
                </a:solidFill>
              </a:rPr>
              <a:t>Learned: a team that communicates daily ships on time. We did.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FFCD00"/>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555555"/>
                </a:solidFill>
                <a:latin typeface="Arial" pitchFamily="34" charset="0"/>
                <a:ea typeface="Arial" pitchFamily="34" charset="-122"/>
                <a:cs typeface="Arial" pitchFamily="34" charset="-120"/>
              </a:rPr>
              <a:t>NINJA QUIZ  ·  503IT  ·  10 / 18</a:t>
            </a:r>
            <a:endParaRPr lang="en-US" sz="900" dirty="0"/>
          </a:p>
        </p:txBody>
      </p:sp>
      <p:sp>
        <p:nvSpPr>
          <p:cNvPr id="5" name="Text 3"/>
          <p:cNvSpPr/>
          <p:nvPr/>
        </p:nvSpPr>
        <p:spPr>
          <a:xfrm>
            <a:off x="457200" y="1463040"/>
            <a:ext cx="8229600" cy="1524000"/>
          </a:xfrm>
          <a:prstGeom prst="rect">
            <a:avLst/>
          </a:prstGeom>
          <a:noFill/>
          <a:ln/>
        </p:spPr>
        <p:txBody>
          <a:bodyPr wrap="square" rtlCol="0" anchor="ctr"/>
          <a:lstStyle/>
          <a:p>
            <a:pPr marL="0" indent="0">
              <a:buNone/>
            </a:pPr>
            <a:r>
              <a:rPr lang="en-US" sz="6000" b="1" dirty="0">
                <a:solidFill>
                  <a:srgbClr val="FFFFFF"/>
                </a:solidFill>
                <a:latin typeface="Arial Black" pitchFamily="34" charset="0"/>
                <a:ea typeface="Arial Black" pitchFamily="34" charset="-122"/>
                <a:cs typeface="Arial Black" pitchFamily="34" charset="-120"/>
              </a:rPr>
              <a:t>Then it broke.</a:t>
            </a:r>
            <a:endParaRPr lang="en-US" sz="6000" dirty="0"/>
          </a:p>
        </p:txBody>
      </p:sp>
      <p:sp>
        <p:nvSpPr>
          <p:cNvPr id="6" name="Text 4"/>
          <p:cNvSpPr/>
          <p:nvPr/>
        </p:nvSpPr>
        <p:spPr>
          <a:xfrm>
            <a:off x="457200" y="3200400"/>
            <a:ext cx="7772400" cy="320040"/>
          </a:xfrm>
          <a:prstGeom prst="rect">
            <a:avLst/>
          </a:prstGeom>
          <a:noFill/>
          <a:ln/>
        </p:spPr>
        <p:txBody>
          <a:bodyPr wrap="square" rtlCol="0" anchor="ctr"/>
          <a:lstStyle/>
          <a:p>
            <a:pPr marL="0" indent="0">
              <a:buNone/>
            </a:pPr>
            <a:r>
              <a:rPr lang="en-US" sz="1400" dirty="0">
                <a:solidFill>
                  <a:srgbClr val="555555"/>
                </a:solidFill>
                <a:latin typeface="Arial" pitchFamily="34" charset="0"/>
                <a:ea typeface="Arial" pitchFamily="34" charset="-122"/>
                <a:cs typeface="Arial" pitchFamily="34" charset="-120"/>
              </a:rPr>
              <a:t>How the team responded under pressure.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FFCD00"/>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r>
              <a:rPr lang="en-US" sz="1000" b="1" kern="0" spc="200" dirty="0">
                <a:solidFill>
                  <a:srgbClr val="555555"/>
                </a:solidFill>
                <a:latin typeface="Arial" pitchFamily="34" charset="0"/>
                <a:ea typeface="Arial" pitchFamily="34" charset="-122"/>
                <a:cs typeface="Arial" pitchFamily="34" charset="-120"/>
              </a:rPr>
              <a:t>PROBLEM &amp; SOLUTION</a:t>
            </a: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555555"/>
                </a:solidFill>
                <a:latin typeface="Arial" pitchFamily="34" charset="0"/>
                <a:ea typeface="Arial" pitchFamily="34" charset="-122"/>
                <a:cs typeface="Arial" pitchFamily="34" charset="-120"/>
              </a:rPr>
              <a:t>NINJA QUIZ  ·  503IT  ·  11 / 18</a:t>
            </a:r>
            <a:endParaRPr lang="en-US" sz="900" dirty="0"/>
          </a:p>
        </p:txBody>
      </p:sp>
      <p:sp>
        <p:nvSpPr>
          <p:cNvPr id="5" name="Text 3"/>
          <p:cNvSpPr/>
          <p:nvPr/>
        </p:nvSpPr>
        <p:spPr>
          <a:xfrm>
            <a:off x="457200" y="594360"/>
            <a:ext cx="8229600" cy="762000"/>
          </a:xfrm>
          <a:prstGeom prst="rect">
            <a:avLst/>
          </a:prstGeom>
          <a:noFill/>
          <a:ln/>
        </p:spPr>
        <p:txBody>
          <a:bodyPr wrap="square" rtlCol="0" anchor="ctr"/>
          <a:lstStyle/>
          <a:p>
            <a:pPr marL="0" indent="0">
              <a:buNone/>
            </a:pPr>
            <a:r>
              <a:rPr lang="en-US" sz="3000" b="1" dirty="0">
                <a:solidFill>
                  <a:srgbClr val="FFFFFF"/>
                </a:solidFill>
                <a:latin typeface="Arial Black" pitchFamily="34" charset="0"/>
                <a:ea typeface="Arial Black" pitchFamily="34" charset="-122"/>
                <a:cs typeface="Arial Black" pitchFamily="34" charset="-120"/>
              </a:rPr>
              <a:t>The game stopped working.</a:t>
            </a:r>
            <a:endParaRPr lang="en-US" sz="3000" dirty="0"/>
          </a:p>
        </p:txBody>
      </p:sp>
      <p:sp>
        <p:nvSpPr>
          <p:cNvPr id="6" name="Shape 4"/>
          <p:cNvSpPr/>
          <p:nvPr/>
        </p:nvSpPr>
        <p:spPr>
          <a:xfrm>
            <a:off x="457200" y="1463040"/>
            <a:ext cx="3840480" cy="3108960"/>
          </a:xfrm>
          <a:prstGeom prst="rect">
            <a:avLst/>
          </a:prstGeom>
          <a:solidFill>
            <a:srgbClr val="1A1A1A"/>
          </a:solidFill>
          <a:ln/>
        </p:spPr>
        <p:txBody>
          <a:bodyPr/>
          <a:lstStyle/>
          <a:p>
            <a:endParaRPr lang="en-GB"/>
          </a:p>
        </p:txBody>
      </p:sp>
      <p:sp>
        <p:nvSpPr>
          <p:cNvPr id="7" name="Shape 5"/>
          <p:cNvSpPr/>
          <p:nvPr/>
        </p:nvSpPr>
        <p:spPr>
          <a:xfrm>
            <a:off x="457200" y="1463040"/>
            <a:ext cx="3840480" cy="54864"/>
          </a:xfrm>
          <a:prstGeom prst="rect">
            <a:avLst/>
          </a:prstGeom>
          <a:solidFill>
            <a:srgbClr val="444444"/>
          </a:solidFill>
          <a:ln/>
        </p:spPr>
        <p:txBody>
          <a:bodyPr/>
          <a:lstStyle/>
          <a:p>
            <a:endParaRPr lang="en-GB"/>
          </a:p>
        </p:txBody>
      </p:sp>
      <p:sp>
        <p:nvSpPr>
          <p:cNvPr id="8" name="Text 6"/>
          <p:cNvSpPr/>
          <p:nvPr/>
        </p:nvSpPr>
        <p:spPr>
          <a:xfrm>
            <a:off x="640080" y="1600200"/>
            <a:ext cx="3474720" cy="274320"/>
          </a:xfrm>
          <a:prstGeom prst="rect">
            <a:avLst/>
          </a:prstGeom>
          <a:noFill/>
          <a:ln/>
        </p:spPr>
        <p:txBody>
          <a:bodyPr wrap="square" rtlCol="0" anchor="ctr"/>
          <a:lstStyle/>
          <a:p>
            <a:pPr marL="0" indent="0">
              <a:buNone/>
            </a:pPr>
            <a:r>
              <a:rPr lang="en-US" sz="1000" b="1" kern="0" spc="100" dirty="0">
                <a:solidFill>
                  <a:srgbClr val="555555"/>
                </a:solidFill>
                <a:latin typeface="Arial" pitchFamily="34" charset="0"/>
                <a:ea typeface="Arial" pitchFamily="34" charset="-122"/>
                <a:cs typeface="Arial" pitchFamily="34" charset="-120"/>
              </a:rPr>
              <a:t>THE DEFECT</a:t>
            </a:r>
            <a:endParaRPr lang="en-US" sz="1000" dirty="0"/>
          </a:p>
        </p:txBody>
      </p:sp>
      <p:sp>
        <p:nvSpPr>
          <p:cNvPr id="9" name="Text 7"/>
          <p:cNvSpPr/>
          <p:nvPr/>
        </p:nvSpPr>
        <p:spPr>
          <a:xfrm>
            <a:off x="640080" y="2011680"/>
            <a:ext cx="3383280" cy="411480"/>
          </a:xfrm>
          <a:prstGeom prst="rect">
            <a:avLst/>
          </a:prstGeom>
          <a:noFill/>
          <a:ln/>
        </p:spPr>
        <p:txBody>
          <a:bodyPr wrap="square" rtlCol="0" anchor="ctr"/>
          <a:lstStyle/>
          <a:p>
            <a:pPr marL="0" indent="0">
              <a:buNone/>
            </a:pPr>
            <a:r>
              <a:rPr lang="en-US" sz="1500" dirty="0">
                <a:solidFill>
                  <a:srgbClr val="FFFFFF"/>
                </a:solidFill>
                <a:latin typeface="Arial" pitchFamily="34" charset="0"/>
                <a:ea typeface="Arial" pitchFamily="34" charset="-122"/>
                <a:cs typeface="Arial" pitchFamily="34" charset="-120"/>
              </a:rPr>
              <a:t>Game ran.</a:t>
            </a:r>
            <a:endParaRPr lang="en-US" sz="1500" dirty="0"/>
          </a:p>
        </p:txBody>
      </p:sp>
      <p:sp>
        <p:nvSpPr>
          <p:cNvPr id="10" name="Text 8"/>
          <p:cNvSpPr/>
          <p:nvPr/>
        </p:nvSpPr>
        <p:spPr>
          <a:xfrm>
            <a:off x="640080" y="2542032"/>
            <a:ext cx="3383280" cy="411480"/>
          </a:xfrm>
          <a:prstGeom prst="rect">
            <a:avLst/>
          </a:prstGeom>
          <a:noFill/>
          <a:ln/>
        </p:spPr>
        <p:txBody>
          <a:bodyPr wrap="square" rtlCol="0" anchor="ctr"/>
          <a:lstStyle/>
          <a:p>
            <a:pPr marL="0" indent="0">
              <a:buNone/>
            </a:pPr>
            <a:r>
              <a:rPr lang="en-US" sz="1500" dirty="0">
                <a:solidFill>
                  <a:srgbClr val="FFFFFF"/>
                </a:solidFill>
                <a:latin typeface="Arial" pitchFamily="34" charset="0"/>
                <a:ea typeface="Arial" pitchFamily="34" charset="-122"/>
                <a:cs typeface="Arial" pitchFamily="34" charset="-120"/>
              </a:rPr>
              <a:t>Question loaded.</a:t>
            </a:r>
            <a:endParaRPr lang="en-US" sz="1500" dirty="0"/>
          </a:p>
        </p:txBody>
      </p:sp>
      <p:sp>
        <p:nvSpPr>
          <p:cNvPr id="11" name="Text 9"/>
          <p:cNvSpPr/>
          <p:nvPr/>
        </p:nvSpPr>
        <p:spPr>
          <a:xfrm>
            <a:off x="640080" y="3072384"/>
            <a:ext cx="3383280" cy="411480"/>
          </a:xfrm>
          <a:prstGeom prst="rect">
            <a:avLst/>
          </a:prstGeom>
          <a:noFill/>
          <a:ln/>
        </p:spPr>
        <p:txBody>
          <a:bodyPr wrap="square" rtlCol="0" anchor="ctr"/>
          <a:lstStyle/>
          <a:p>
            <a:pPr marL="0" indent="0">
              <a:buNone/>
            </a:pPr>
            <a:r>
              <a:rPr lang="en-US" sz="1500" dirty="0">
                <a:solidFill>
                  <a:srgbClr val="FFFFFF"/>
                </a:solidFill>
                <a:latin typeface="Arial" pitchFamily="34" charset="0"/>
                <a:ea typeface="Arial" pitchFamily="34" charset="-122"/>
                <a:cs typeface="Arial" pitchFamily="34" charset="-120"/>
              </a:rPr>
              <a:t>Answer targets — never appeared.</a:t>
            </a:r>
            <a:endParaRPr lang="en-US" sz="1500" dirty="0"/>
          </a:p>
        </p:txBody>
      </p:sp>
      <p:sp>
        <p:nvSpPr>
          <p:cNvPr id="12" name="Text 10"/>
          <p:cNvSpPr/>
          <p:nvPr/>
        </p:nvSpPr>
        <p:spPr>
          <a:xfrm>
            <a:off x="640080" y="3602736"/>
            <a:ext cx="3383280" cy="411480"/>
          </a:xfrm>
          <a:prstGeom prst="rect">
            <a:avLst/>
          </a:prstGeom>
          <a:noFill/>
          <a:ln/>
        </p:spPr>
        <p:txBody>
          <a:bodyPr wrap="square" rtlCol="0" anchor="ctr"/>
          <a:lstStyle/>
          <a:p>
            <a:pPr marL="0" indent="0">
              <a:buNone/>
            </a:pPr>
            <a:r>
              <a:rPr lang="en-US" sz="1500" dirty="0">
                <a:solidFill>
                  <a:srgbClr val="FFFFFF"/>
                </a:solidFill>
                <a:latin typeface="Arial" pitchFamily="34" charset="0"/>
                <a:ea typeface="Arial" pitchFamily="34" charset="-122"/>
                <a:cs typeface="Arial" pitchFamily="34" charset="-120"/>
              </a:rPr>
              <a:t>Entire game depended on them.</a:t>
            </a:r>
            <a:endParaRPr lang="en-US" sz="1500" dirty="0"/>
          </a:p>
        </p:txBody>
      </p:sp>
      <p:sp>
        <p:nvSpPr>
          <p:cNvPr id="13" name="Shape 11"/>
          <p:cNvSpPr/>
          <p:nvPr/>
        </p:nvSpPr>
        <p:spPr>
          <a:xfrm>
            <a:off x="4846320" y="1463040"/>
            <a:ext cx="3840480" cy="3108960"/>
          </a:xfrm>
          <a:prstGeom prst="rect">
            <a:avLst/>
          </a:prstGeom>
          <a:solidFill>
            <a:srgbClr val="1A1A1A"/>
          </a:solidFill>
          <a:ln/>
        </p:spPr>
        <p:txBody>
          <a:bodyPr/>
          <a:lstStyle/>
          <a:p>
            <a:endParaRPr lang="en-GB"/>
          </a:p>
        </p:txBody>
      </p:sp>
      <p:sp>
        <p:nvSpPr>
          <p:cNvPr id="14" name="Shape 12"/>
          <p:cNvSpPr/>
          <p:nvPr/>
        </p:nvSpPr>
        <p:spPr>
          <a:xfrm>
            <a:off x="4846320" y="1463040"/>
            <a:ext cx="3840480" cy="54864"/>
          </a:xfrm>
          <a:prstGeom prst="rect">
            <a:avLst/>
          </a:prstGeom>
          <a:solidFill>
            <a:srgbClr val="FFCD00"/>
          </a:solidFill>
          <a:ln/>
        </p:spPr>
        <p:txBody>
          <a:bodyPr/>
          <a:lstStyle/>
          <a:p>
            <a:endParaRPr lang="en-GB"/>
          </a:p>
        </p:txBody>
      </p:sp>
      <p:sp>
        <p:nvSpPr>
          <p:cNvPr id="15" name="Text 13"/>
          <p:cNvSpPr/>
          <p:nvPr/>
        </p:nvSpPr>
        <p:spPr>
          <a:xfrm>
            <a:off x="5029200" y="1600200"/>
            <a:ext cx="3474720" cy="274320"/>
          </a:xfrm>
          <a:prstGeom prst="rect">
            <a:avLst/>
          </a:prstGeom>
          <a:noFill/>
          <a:ln/>
        </p:spPr>
        <p:txBody>
          <a:bodyPr wrap="square" rtlCol="0" anchor="ctr"/>
          <a:lstStyle/>
          <a:p>
            <a:pPr marL="0" indent="0">
              <a:buNone/>
            </a:pPr>
            <a:r>
              <a:rPr lang="en-US" sz="1000" b="1" kern="0" spc="100" dirty="0">
                <a:solidFill>
                  <a:srgbClr val="FFCD00"/>
                </a:solidFill>
                <a:latin typeface="Arial" pitchFamily="34" charset="0"/>
                <a:ea typeface="Arial" pitchFamily="34" charset="-122"/>
                <a:cs typeface="Arial" pitchFamily="34" charset="-120"/>
              </a:rPr>
              <a:t>THE FIX</a:t>
            </a:r>
            <a:endParaRPr lang="en-US" sz="1000" dirty="0"/>
          </a:p>
        </p:txBody>
      </p:sp>
      <p:sp>
        <p:nvSpPr>
          <p:cNvPr id="16" name="Text 14"/>
          <p:cNvSpPr/>
          <p:nvPr/>
        </p:nvSpPr>
        <p:spPr>
          <a:xfrm>
            <a:off x="5029200" y="2011680"/>
            <a:ext cx="3383280" cy="411480"/>
          </a:xfrm>
          <a:prstGeom prst="rect">
            <a:avLst/>
          </a:prstGeom>
          <a:noFill/>
          <a:ln/>
        </p:spPr>
        <p:txBody>
          <a:bodyPr wrap="square" rtlCol="0" anchor="ctr"/>
          <a:lstStyle/>
          <a:p>
            <a:pPr marL="0" indent="0">
              <a:buNone/>
            </a:pPr>
            <a:r>
              <a:rPr lang="en-US" sz="1500" dirty="0">
                <a:solidFill>
                  <a:srgbClr val="FFFFFF"/>
                </a:solidFill>
                <a:latin typeface="Arial" pitchFamily="34" charset="0"/>
                <a:ea typeface="Arial" pitchFamily="34" charset="-122"/>
                <a:cs typeface="Arial" pitchFamily="34" charset="-120"/>
              </a:rPr>
              <a:t>Raised on WhatsApp immediately.</a:t>
            </a:r>
            <a:endParaRPr lang="en-US" sz="1500" dirty="0"/>
          </a:p>
        </p:txBody>
      </p:sp>
      <p:sp>
        <p:nvSpPr>
          <p:cNvPr id="17" name="Text 15"/>
          <p:cNvSpPr/>
          <p:nvPr/>
        </p:nvSpPr>
        <p:spPr>
          <a:xfrm>
            <a:off x="5029200" y="2542032"/>
            <a:ext cx="3383280" cy="411480"/>
          </a:xfrm>
          <a:prstGeom prst="rect">
            <a:avLst/>
          </a:prstGeom>
          <a:noFill/>
          <a:ln/>
        </p:spPr>
        <p:txBody>
          <a:bodyPr wrap="square" rtlCol="0" anchor="ctr"/>
          <a:lstStyle/>
          <a:p>
            <a:pPr marL="0" indent="0">
              <a:buNone/>
            </a:pPr>
            <a:r>
              <a:rPr lang="en-US" sz="1500" dirty="0">
                <a:solidFill>
                  <a:srgbClr val="FFFFFF"/>
                </a:solidFill>
                <a:latin typeface="Arial" pitchFamily="34" charset="0"/>
                <a:ea typeface="Arial" pitchFamily="34" charset="-122"/>
                <a:cs typeface="Arial" pitchFamily="34" charset="-120"/>
              </a:rPr>
              <a:t>Full team read the error log.</a:t>
            </a:r>
            <a:endParaRPr lang="en-US" sz="1500" dirty="0"/>
          </a:p>
        </p:txBody>
      </p:sp>
      <p:sp>
        <p:nvSpPr>
          <p:cNvPr id="18" name="Text 16"/>
          <p:cNvSpPr/>
          <p:nvPr/>
        </p:nvSpPr>
        <p:spPr>
          <a:xfrm>
            <a:off x="5029200" y="3072384"/>
            <a:ext cx="3383280" cy="411480"/>
          </a:xfrm>
          <a:prstGeom prst="rect">
            <a:avLst/>
          </a:prstGeom>
          <a:noFill/>
          <a:ln/>
        </p:spPr>
        <p:txBody>
          <a:bodyPr wrap="square" rtlCol="0" anchor="ctr"/>
          <a:lstStyle/>
          <a:p>
            <a:pPr marL="0" indent="0">
              <a:buNone/>
            </a:pPr>
            <a:r>
              <a:rPr lang="en-US" sz="1500" dirty="0">
                <a:solidFill>
                  <a:srgbClr val="FFFFFF"/>
                </a:solidFill>
                <a:latin typeface="Arial" pitchFamily="34" charset="0"/>
                <a:ea typeface="Arial" pitchFamily="34" charset="-122"/>
                <a:cs typeface="Arial" pitchFamily="34" charset="-120"/>
              </a:rPr>
              <a:t>Root cause: two runtime errors.</a:t>
            </a:r>
            <a:endParaRPr lang="en-US" sz="1500" dirty="0"/>
          </a:p>
        </p:txBody>
      </p:sp>
      <p:sp>
        <p:nvSpPr>
          <p:cNvPr id="19" name="Text 17"/>
          <p:cNvSpPr/>
          <p:nvPr/>
        </p:nvSpPr>
        <p:spPr>
          <a:xfrm>
            <a:off x="5029200" y="3602736"/>
            <a:ext cx="3383280" cy="411480"/>
          </a:xfrm>
          <a:prstGeom prst="rect">
            <a:avLst/>
          </a:prstGeom>
          <a:noFill/>
          <a:ln/>
        </p:spPr>
        <p:txBody>
          <a:bodyPr wrap="square" rtlCol="0" anchor="ctr"/>
          <a:lstStyle/>
          <a:p>
            <a:pPr marL="0" indent="0">
              <a:buNone/>
            </a:pPr>
            <a:r>
              <a:rPr lang="en-US" sz="1500" dirty="0">
                <a:solidFill>
                  <a:srgbClr val="FFFFFF"/>
                </a:solidFill>
                <a:latin typeface="Arial" pitchFamily="34" charset="0"/>
                <a:ea typeface="Arial" pitchFamily="34" charset="-122"/>
                <a:cs typeface="Arial" pitchFamily="34" charset="-120"/>
              </a:rPr>
              <a:t>Rebuilt in HTML. Resolved in 1 day.</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DDDDDD"/>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r>
              <a:rPr lang="en-US" sz="1000" b="1" kern="0" spc="200" dirty="0">
                <a:solidFill>
                  <a:srgbClr val="888888"/>
                </a:solidFill>
                <a:latin typeface="Arial" pitchFamily="34" charset="0"/>
                <a:ea typeface="Arial" pitchFamily="34" charset="-122"/>
                <a:cs typeface="Arial" pitchFamily="34" charset="-120"/>
              </a:rPr>
              <a:t>LESSONS FROM THE BUG</a:t>
            </a: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888888"/>
                </a:solidFill>
                <a:latin typeface="Arial" pitchFamily="34" charset="0"/>
                <a:ea typeface="Arial" pitchFamily="34" charset="-122"/>
                <a:cs typeface="Arial" pitchFamily="34" charset="-120"/>
              </a:rPr>
              <a:t>NINJA QUIZ  ·  503IT  ·  12 / 18</a:t>
            </a:r>
            <a:endParaRPr lang="en-US" sz="900" dirty="0"/>
          </a:p>
        </p:txBody>
      </p:sp>
      <p:sp>
        <p:nvSpPr>
          <p:cNvPr id="5" name="Text 3"/>
          <p:cNvSpPr/>
          <p:nvPr/>
        </p:nvSpPr>
        <p:spPr>
          <a:xfrm>
            <a:off x="457200" y="685800"/>
            <a:ext cx="8229600" cy="812800"/>
          </a:xfrm>
          <a:prstGeom prst="rect">
            <a:avLst/>
          </a:prstGeom>
          <a:noFill/>
          <a:ln/>
        </p:spPr>
        <p:txBody>
          <a:bodyPr wrap="square" rtlCol="0" anchor="ctr"/>
          <a:lstStyle/>
          <a:p>
            <a:pPr marL="0" indent="0">
              <a:buNone/>
            </a:pPr>
            <a:r>
              <a:rPr lang="en-US" sz="3200" b="1" dirty="0">
                <a:solidFill>
                  <a:srgbClr val="111111"/>
                </a:solidFill>
                <a:latin typeface="Arial Black" pitchFamily="34" charset="0"/>
                <a:ea typeface="Arial Black" pitchFamily="34" charset="-122"/>
                <a:cs typeface="Arial Black" pitchFamily="34" charset="-120"/>
              </a:rPr>
              <a:t>What fixing it taught us.</a:t>
            </a:r>
            <a:endParaRPr lang="en-US" sz="3200" dirty="0"/>
          </a:p>
        </p:txBody>
      </p:sp>
      <p:sp>
        <p:nvSpPr>
          <p:cNvPr id="6" name="Shape 4"/>
          <p:cNvSpPr/>
          <p:nvPr/>
        </p:nvSpPr>
        <p:spPr>
          <a:xfrm>
            <a:off x="457200" y="1463040"/>
            <a:ext cx="8229600" cy="10973"/>
          </a:xfrm>
          <a:prstGeom prst="rect">
            <a:avLst/>
          </a:prstGeom>
          <a:solidFill>
            <a:srgbClr val="EEEEEE"/>
          </a:solidFill>
          <a:ln/>
        </p:spPr>
        <p:txBody>
          <a:bodyPr/>
          <a:lstStyle/>
          <a:p>
            <a:endParaRPr lang="en-GB"/>
          </a:p>
        </p:txBody>
      </p:sp>
      <p:sp>
        <p:nvSpPr>
          <p:cNvPr id="7" name="Text 5"/>
          <p:cNvSpPr/>
          <p:nvPr/>
        </p:nvSpPr>
        <p:spPr>
          <a:xfrm>
            <a:off x="457200" y="1609344"/>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01</a:t>
            </a:r>
            <a:endParaRPr lang="en-US" sz="2000" dirty="0"/>
          </a:p>
        </p:txBody>
      </p:sp>
      <p:sp>
        <p:nvSpPr>
          <p:cNvPr id="8" name="Text 6"/>
          <p:cNvSpPr/>
          <p:nvPr/>
        </p:nvSpPr>
        <p:spPr>
          <a:xfrm>
            <a:off x="1371600" y="1591056"/>
            <a:ext cx="731520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Raise it fast</a:t>
            </a:r>
            <a:endParaRPr lang="en-US" sz="1700" dirty="0"/>
          </a:p>
        </p:txBody>
      </p:sp>
      <p:sp>
        <p:nvSpPr>
          <p:cNvPr id="9" name="Text 7"/>
          <p:cNvSpPr/>
          <p:nvPr/>
        </p:nvSpPr>
        <p:spPr>
          <a:xfrm>
            <a:off x="1371600" y="1892808"/>
            <a:ext cx="731520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Issue shared on WhatsApp the same hour it was found</a:t>
            </a:r>
            <a:endParaRPr lang="en-US" sz="1200" dirty="0"/>
          </a:p>
        </p:txBody>
      </p:sp>
      <p:sp>
        <p:nvSpPr>
          <p:cNvPr id="10" name="Text 8"/>
          <p:cNvSpPr/>
          <p:nvPr/>
        </p:nvSpPr>
        <p:spPr>
          <a:xfrm>
            <a:off x="457200" y="2432304"/>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02</a:t>
            </a:r>
            <a:endParaRPr lang="en-US" sz="2000" dirty="0"/>
          </a:p>
        </p:txBody>
      </p:sp>
      <p:sp>
        <p:nvSpPr>
          <p:cNvPr id="11" name="Text 9"/>
          <p:cNvSpPr/>
          <p:nvPr/>
        </p:nvSpPr>
        <p:spPr>
          <a:xfrm>
            <a:off x="1371600" y="2414016"/>
            <a:ext cx="731520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One owner per module</a:t>
            </a:r>
            <a:endParaRPr lang="en-US" sz="1700" dirty="0"/>
          </a:p>
        </p:txBody>
      </p:sp>
      <p:sp>
        <p:nvSpPr>
          <p:cNvPr id="12" name="Text 10"/>
          <p:cNvSpPr/>
          <p:nvPr/>
        </p:nvSpPr>
        <p:spPr>
          <a:xfrm>
            <a:off x="1371600" y="2715768"/>
            <a:ext cx="731520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We knew exactly whose code to look at — no confusion</a:t>
            </a:r>
            <a:endParaRPr lang="en-US" sz="1200" dirty="0"/>
          </a:p>
        </p:txBody>
      </p:sp>
      <p:sp>
        <p:nvSpPr>
          <p:cNvPr id="13" name="Text 11"/>
          <p:cNvSpPr/>
          <p:nvPr/>
        </p:nvSpPr>
        <p:spPr>
          <a:xfrm>
            <a:off x="457200" y="3255264"/>
            <a:ext cx="868680" cy="411480"/>
          </a:xfrm>
          <a:prstGeom prst="rect">
            <a:avLst/>
          </a:prstGeom>
          <a:noFill/>
          <a:ln/>
        </p:spPr>
        <p:txBody>
          <a:bodyPr wrap="square" rtlCol="0" anchor="ctr">
            <a:normAutofit/>
          </a:bodyPr>
          <a:lstStyle/>
          <a:p>
            <a:pPr marL="0" indent="0">
              <a:buNone/>
            </a:pPr>
            <a:r>
              <a:rPr lang="en-US" sz="2000" b="1" dirty="0">
                <a:solidFill>
                  <a:srgbClr val="FFCD00"/>
                </a:solidFill>
                <a:latin typeface="Arial Black" pitchFamily="34" charset="0"/>
                <a:ea typeface="Arial Black" pitchFamily="34" charset="-122"/>
                <a:cs typeface="Arial Black" pitchFamily="34" charset="-120"/>
              </a:rPr>
              <a:t>03</a:t>
            </a:r>
            <a:endParaRPr lang="en-US" sz="2000" dirty="0"/>
          </a:p>
        </p:txBody>
      </p:sp>
      <p:sp>
        <p:nvSpPr>
          <p:cNvPr id="14" name="Text 12"/>
          <p:cNvSpPr/>
          <p:nvPr/>
        </p:nvSpPr>
        <p:spPr>
          <a:xfrm>
            <a:off x="1371600" y="3236976"/>
            <a:ext cx="7315200" cy="292608"/>
          </a:xfrm>
          <a:prstGeom prst="rect">
            <a:avLst/>
          </a:prstGeom>
          <a:noFill/>
          <a:ln/>
        </p:spPr>
        <p:txBody>
          <a:bodyPr wrap="square" rtlCol="0" anchor="ctr"/>
          <a:lstStyle/>
          <a:p>
            <a:pPr marL="0" indent="0">
              <a:buNone/>
            </a:pPr>
            <a:r>
              <a:rPr lang="en-US" sz="1700" b="1" dirty="0">
                <a:solidFill>
                  <a:srgbClr val="111111"/>
                </a:solidFill>
                <a:latin typeface="Arial Black" pitchFamily="34" charset="0"/>
                <a:ea typeface="Arial Black" pitchFamily="34" charset="-122"/>
                <a:cs typeface="Arial Black" pitchFamily="34" charset="-120"/>
              </a:rPr>
              <a:t>Review together</a:t>
            </a:r>
            <a:endParaRPr lang="en-US" sz="1700" dirty="0"/>
          </a:p>
        </p:txBody>
      </p:sp>
      <p:sp>
        <p:nvSpPr>
          <p:cNvPr id="15" name="Text 13"/>
          <p:cNvSpPr/>
          <p:nvPr/>
        </p:nvSpPr>
        <p:spPr>
          <a:xfrm>
            <a:off x="1371600" y="3538728"/>
            <a:ext cx="7315200" cy="228600"/>
          </a:xfrm>
          <a:prstGeom prst="rect">
            <a:avLst/>
          </a:prstGeom>
          <a:noFill/>
          <a:ln/>
        </p:spPr>
        <p:txBody>
          <a:bodyPr wrap="square" rtlCol="0" anchor="ctr"/>
          <a:lstStyle/>
          <a:p>
            <a:pPr marL="0" indent="0">
              <a:buNone/>
            </a:pPr>
            <a:r>
              <a:rPr lang="en-US" sz="1200" dirty="0">
                <a:solidFill>
                  <a:srgbClr val="888888"/>
                </a:solidFill>
                <a:latin typeface="Arial" pitchFamily="34" charset="0"/>
                <a:ea typeface="Arial" pitchFamily="34" charset="-122"/>
                <a:cs typeface="Arial" pitchFamily="34" charset="-120"/>
              </a:rPr>
              <a:t>Team read the log as a group — solved what one person would have missed</a:t>
            </a:r>
            <a:endParaRPr lang="en-US" sz="1200" dirty="0"/>
          </a:p>
        </p:txBody>
      </p:sp>
      <p:sp>
        <p:nvSpPr>
          <p:cNvPr id="16" name="Text 14"/>
          <p:cNvSpPr/>
          <p:nvPr/>
        </p:nvSpPr>
        <p:spPr>
          <a:xfrm>
            <a:off x="457200" y="4160520"/>
            <a:ext cx="7772400" cy="320040"/>
          </a:xfrm>
          <a:prstGeom prst="rect">
            <a:avLst/>
          </a:prstGeom>
          <a:noFill/>
          <a:ln/>
        </p:spPr>
        <p:txBody>
          <a:bodyPr wrap="square" rtlCol="0" anchor="ctr"/>
          <a:lstStyle/>
          <a:p>
            <a:pPr marL="0" indent="0">
              <a:buNone/>
            </a:pPr>
            <a:r>
              <a:rPr lang="en-US" sz="1400" dirty="0">
                <a:solidFill>
                  <a:srgbClr val="444444"/>
                </a:solidFill>
                <a:latin typeface="Arial" pitchFamily="34" charset="0"/>
                <a:ea typeface="Arial" pitchFamily="34" charset="-122"/>
                <a:cs typeface="Arial" pitchFamily="34" charset="-120"/>
              </a:rPr>
              <a:t>Structured communication turned a critical bug into a one-day fix.</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FFCD00"/>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555555"/>
                </a:solidFill>
                <a:latin typeface="Arial" pitchFamily="34" charset="0"/>
                <a:ea typeface="Arial" pitchFamily="34" charset="-122"/>
                <a:cs typeface="Arial" pitchFamily="34" charset="-120"/>
              </a:rPr>
              <a:t>NINJA QUIZ  ·  503IT  ·  13 / 18</a:t>
            </a:r>
            <a:endParaRPr lang="en-US" sz="900" dirty="0"/>
          </a:p>
        </p:txBody>
      </p:sp>
      <p:sp>
        <p:nvSpPr>
          <p:cNvPr id="5" name="Text 3"/>
          <p:cNvSpPr/>
          <p:nvPr/>
        </p:nvSpPr>
        <p:spPr>
          <a:xfrm>
            <a:off x="457200" y="1463040"/>
            <a:ext cx="8229600" cy="1524000"/>
          </a:xfrm>
          <a:prstGeom prst="rect">
            <a:avLst/>
          </a:prstGeom>
          <a:noFill/>
          <a:ln/>
        </p:spPr>
        <p:txBody>
          <a:bodyPr wrap="square" rtlCol="0" anchor="ctr"/>
          <a:lstStyle/>
          <a:p>
            <a:pPr marL="0" indent="0">
              <a:buNone/>
            </a:pPr>
            <a:r>
              <a:rPr lang="en-US" sz="6000" b="1" dirty="0">
                <a:solidFill>
                  <a:srgbClr val="FFFFFF"/>
                </a:solidFill>
                <a:latin typeface="Arial Black" pitchFamily="34" charset="0"/>
                <a:ea typeface="Arial Black" pitchFamily="34" charset="-122"/>
                <a:cs typeface="Arial Black" pitchFamily="34" charset="-120"/>
              </a:rPr>
              <a:t>The result.</a:t>
            </a:r>
            <a:endParaRPr lang="en-US" sz="6000" dirty="0"/>
          </a:p>
        </p:txBody>
      </p:sp>
      <p:sp>
        <p:nvSpPr>
          <p:cNvPr id="6" name="Text 4"/>
          <p:cNvSpPr/>
          <p:nvPr/>
        </p:nvSpPr>
        <p:spPr>
          <a:xfrm>
            <a:off x="457200" y="3200400"/>
            <a:ext cx="7772400" cy="320040"/>
          </a:xfrm>
          <a:prstGeom prst="rect">
            <a:avLst/>
          </a:prstGeom>
          <a:noFill/>
          <a:ln/>
        </p:spPr>
        <p:txBody>
          <a:bodyPr wrap="square" rtlCol="0" anchor="ctr"/>
          <a:lstStyle/>
          <a:p>
            <a:pPr marL="0" indent="0">
              <a:buNone/>
            </a:pPr>
            <a:r>
              <a:rPr lang="en-US" sz="1400" dirty="0">
                <a:solidFill>
                  <a:srgbClr val="555555"/>
                </a:solidFill>
                <a:latin typeface="Arial" pitchFamily="34" charset="0"/>
                <a:ea typeface="Arial" pitchFamily="34" charset="-122"/>
                <a:cs typeface="Arial" pitchFamily="34" charset="-120"/>
              </a:rPr>
              <a:t>Did we meet the brief?</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DDDDDD"/>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r>
              <a:rPr lang="en-US" sz="1000" b="1" kern="0" spc="200" dirty="0">
                <a:solidFill>
                  <a:srgbClr val="888888"/>
                </a:solidFill>
                <a:latin typeface="Arial" pitchFamily="34" charset="0"/>
                <a:ea typeface="Arial" pitchFamily="34" charset="-122"/>
                <a:cs typeface="Arial" pitchFamily="34" charset="-120"/>
              </a:rPr>
              <a:t>BRIEF REQUIREMENTS</a:t>
            </a: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888888"/>
                </a:solidFill>
                <a:latin typeface="Arial" pitchFamily="34" charset="0"/>
                <a:ea typeface="Arial" pitchFamily="34" charset="-122"/>
                <a:cs typeface="Arial" pitchFamily="34" charset="-120"/>
              </a:rPr>
              <a:t>NINJA QUIZ  ·  503IT  ·  14 / 18</a:t>
            </a:r>
            <a:endParaRPr lang="en-US" sz="900" dirty="0"/>
          </a:p>
        </p:txBody>
      </p:sp>
      <p:sp>
        <p:nvSpPr>
          <p:cNvPr id="5" name="Text 3"/>
          <p:cNvSpPr/>
          <p:nvPr/>
        </p:nvSpPr>
        <p:spPr>
          <a:xfrm>
            <a:off x="457200" y="685800"/>
            <a:ext cx="8229600" cy="965200"/>
          </a:xfrm>
          <a:prstGeom prst="rect">
            <a:avLst/>
          </a:prstGeom>
          <a:noFill/>
          <a:ln/>
        </p:spPr>
        <p:txBody>
          <a:bodyPr wrap="square" rtlCol="0" anchor="ctr"/>
          <a:lstStyle/>
          <a:p>
            <a:pPr marL="0" indent="0">
              <a:buNone/>
            </a:pPr>
            <a:r>
              <a:rPr lang="en-US" sz="3800" b="1" dirty="0">
                <a:solidFill>
                  <a:srgbClr val="111111"/>
                </a:solidFill>
                <a:latin typeface="Arial Black" pitchFamily="34" charset="0"/>
                <a:ea typeface="Arial Black" pitchFamily="34" charset="-122"/>
                <a:cs typeface="Arial Black" pitchFamily="34" charset="-120"/>
              </a:rPr>
              <a:t>Every box. Ticked.</a:t>
            </a:r>
            <a:endParaRPr lang="en-US" sz="3800" dirty="0"/>
          </a:p>
        </p:txBody>
      </p:sp>
      <p:sp>
        <p:nvSpPr>
          <p:cNvPr id="6" name="Shape 4"/>
          <p:cNvSpPr/>
          <p:nvPr/>
        </p:nvSpPr>
        <p:spPr>
          <a:xfrm>
            <a:off x="457200" y="1463040"/>
            <a:ext cx="8229600" cy="10973"/>
          </a:xfrm>
          <a:prstGeom prst="rect">
            <a:avLst/>
          </a:prstGeom>
          <a:solidFill>
            <a:srgbClr val="EEEEEE"/>
          </a:solidFill>
          <a:ln/>
        </p:spPr>
        <p:txBody>
          <a:bodyPr/>
          <a:lstStyle/>
          <a:p>
            <a:endParaRPr lang="en-GB"/>
          </a:p>
        </p:txBody>
      </p:sp>
      <p:sp>
        <p:nvSpPr>
          <p:cNvPr id="7" name="Shape 5"/>
          <p:cNvSpPr/>
          <p:nvPr/>
        </p:nvSpPr>
        <p:spPr>
          <a:xfrm>
            <a:off x="457200" y="1700784"/>
            <a:ext cx="128016" cy="128016"/>
          </a:xfrm>
          <a:prstGeom prst="rect">
            <a:avLst/>
          </a:prstGeom>
          <a:solidFill>
            <a:srgbClr val="FFCD00"/>
          </a:solidFill>
          <a:ln/>
        </p:spPr>
        <p:txBody>
          <a:bodyPr/>
          <a:lstStyle/>
          <a:p>
            <a:endParaRPr lang="en-GB"/>
          </a:p>
        </p:txBody>
      </p:sp>
      <p:sp>
        <p:nvSpPr>
          <p:cNvPr id="8" name="Text 6"/>
          <p:cNvSpPr/>
          <p:nvPr/>
        </p:nvSpPr>
        <p:spPr>
          <a:xfrm>
            <a:off x="749808" y="1572768"/>
            <a:ext cx="4206240" cy="411480"/>
          </a:xfrm>
          <a:prstGeom prst="rect">
            <a:avLst/>
          </a:prstGeom>
          <a:noFill/>
          <a:ln/>
        </p:spPr>
        <p:txBody>
          <a:bodyPr wrap="square" rtlCol="0" anchor="ctr"/>
          <a:lstStyle/>
          <a:p>
            <a:pPr marL="0" indent="0">
              <a:buNone/>
            </a:pPr>
            <a:r>
              <a:rPr lang="en-US" sz="1400" b="1" dirty="0">
                <a:solidFill>
                  <a:srgbClr val="111111"/>
                </a:solidFill>
                <a:latin typeface="Arial Black" pitchFamily="34" charset="0"/>
                <a:ea typeface="Arial Black" pitchFamily="34" charset="-122"/>
                <a:cs typeface="Arial Black" pitchFamily="34" charset="-120"/>
              </a:rPr>
              <a:t>Cyber-safety concept taught</a:t>
            </a:r>
            <a:endParaRPr lang="en-US" sz="1400" dirty="0"/>
          </a:p>
        </p:txBody>
      </p:sp>
      <p:sp>
        <p:nvSpPr>
          <p:cNvPr id="9" name="Text 7"/>
          <p:cNvSpPr/>
          <p:nvPr/>
        </p:nvSpPr>
        <p:spPr>
          <a:xfrm>
            <a:off x="5074920" y="1572768"/>
            <a:ext cx="3657600" cy="411480"/>
          </a:xfrm>
          <a:prstGeom prst="rect">
            <a:avLst/>
          </a:prstGeom>
          <a:noFill/>
          <a:ln/>
        </p:spPr>
        <p:txBody>
          <a:bodyPr wrap="square" rtlCol="0" anchor="ctr"/>
          <a:lstStyle/>
          <a:p>
            <a:pPr marL="0" indent="0">
              <a:buNone/>
            </a:pPr>
            <a:r>
              <a:rPr lang="en-US" sz="1300" dirty="0">
                <a:solidFill>
                  <a:srgbClr val="888888"/>
                </a:solidFill>
                <a:latin typeface="Arial" pitchFamily="34" charset="0"/>
                <a:ea typeface="Arial" pitchFamily="34" charset="-122"/>
                <a:cs typeface="Arial" pitchFamily="34" charset="-120"/>
              </a:rPr>
              <a:t>Phishing, passwords, 2FA, VPNs and more</a:t>
            </a:r>
            <a:endParaRPr lang="en-US" sz="1300" dirty="0"/>
          </a:p>
        </p:txBody>
      </p:sp>
      <p:sp>
        <p:nvSpPr>
          <p:cNvPr id="10" name="Shape 8"/>
          <p:cNvSpPr/>
          <p:nvPr/>
        </p:nvSpPr>
        <p:spPr>
          <a:xfrm>
            <a:off x="457200" y="2029968"/>
            <a:ext cx="8229600" cy="10973"/>
          </a:xfrm>
          <a:prstGeom prst="rect">
            <a:avLst/>
          </a:prstGeom>
          <a:solidFill>
            <a:srgbClr val="EEEEEE"/>
          </a:solidFill>
          <a:ln/>
        </p:spPr>
        <p:txBody>
          <a:bodyPr/>
          <a:lstStyle/>
          <a:p>
            <a:endParaRPr lang="en-GB"/>
          </a:p>
        </p:txBody>
      </p:sp>
      <p:sp>
        <p:nvSpPr>
          <p:cNvPr id="11" name="Shape 9"/>
          <p:cNvSpPr/>
          <p:nvPr/>
        </p:nvSpPr>
        <p:spPr>
          <a:xfrm>
            <a:off x="457200" y="2276856"/>
            <a:ext cx="128016" cy="128016"/>
          </a:xfrm>
          <a:prstGeom prst="rect">
            <a:avLst/>
          </a:prstGeom>
          <a:solidFill>
            <a:srgbClr val="FFCD00"/>
          </a:solidFill>
          <a:ln/>
        </p:spPr>
        <p:txBody>
          <a:bodyPr/>
          <a:lstStyle/>
          <a:p>
            <a:endParaRPr lang="en-GB"/>
          </a:p>
        </p:txBody>
      </p:sp>
      <p:sp>
        <p:nvSpPr>
          <p:cNvPr id="12" name="Text 10"/>
          <p:cNvSpPr/>
          <p:nvPr/>
        </p:nvSpPr>
        <p:spPr>
          <a:xfrm>
            <a:off x="749808" y="2148840"/>
            <a:ext cx="4206240" cy="411480"/>
          </a:xfrm>
          <a:prstGeom prst="rect">
            <a:avLst/>
          </a:prstGeom>
          <a:noFill/>
          <a:ln/>
        </p:spPr>
        <p:txBody>
          <a:bodyPr wrap="square" rtlCol="0" anchor="ctr"/>
          <a:lstStyle/>
          <a:p>
            <a:pPr marL="0" indent="0">
              <a:buNone/>
            </a:pPr>
            <a:r>
              <a:rPr lang="en-US" sz="1400" b="1" dirty="0">
                <a:solidFill>
                  <a:srgbClr val="111111"/>
                </a:solidFill>
                <a:latin typeface="Arial Black" pitchFamily="34" charset="0"/>
                <a:ea typeface="Arial Black" pitchFamily="34" charset="-122"/>
                <a:cs typeface="Arial Black" pitchFamily="34" charset="-120"/>
              </a:rPr>
              <a:t>Defined audience</a:t>
            </a:r>
            <a:endParaRPr lang="en-US" sz="1400" dirty="0"/>
          </a:p>
        </p:txBody>
      </p:sp>
      <p:sp>
        <p:nvSpPr>
          <p:cNvPr id="13" name="Text 11"/>
          <p:cNvSpPr/>
          <p:nvPr/>
        </p:nvSpPr>
        <p:spPr>
          <a:xfrm>
            <a:off x="5074920" y="2148840"/>
            <a:ext cx="3657600" cy="411480"/>
          </a:xfrm>
          <a:prstGeom prst="rect">
            <a:avLst/>
          </a:prstGeom>
          <a:noFill/>
          <a:ln/>
        </p:spPr>
        <p:txBody>
          <a:bodyPr wrap="square" rtlCol="0" anchor="ctr"/>
          <a:lstStyle/>
          <a:p>
            <a:pPr marL="0" indent="0">
              <a:buNone/>
            </a:pPr>
            <a:r>
              <a:rPr lang="en-US" sz="1300" dirty="0">
                <a:solidFill>
                  <a:srgbClr val="888888"/>
                </a:solidFill>
                <a:latin typeface="Arial" pitchFamily="34" charset="0"/>
                <a:ea typeface="Arial" pitchFamily="34" charset="-122"/>
                <a:cs typeface="Arial" pitchFamily="34" charset="-120"/>
              </a:rPr>
              <a:t>Children and young teens aged 8–14</a:t>
            </a:r>
            <a:endParaRPr lang="en-US" sz="1300" dirty="0"/>
          </a:p>
        </p:txBody>
      </p:sp>
      <p:sp>
        <p:nvSpPr>
          <p:cNvPr id="14" name="Shape 12"/>
          <p:cNvSpPr/>
          <p:nvPr/>
        </p:nvSpPr>
        <p:spPr>
          <a:xfrm>
            <a:off x="457200" y="2606040"/>
            <a:ext cx="8229600" cy="10973"/>
          </a:xfrm>
          <a:prstGeom prst="rect">
            <a:avLst/>
          </a:prstGeom>
          <a:solidFill>
            <a:srgbClr val="EEEEEE"/>
          </a:solidFill>
          <a:ln/>
        </p:spPr>
        <p:txBody>
          <a:bodyPr/>
          <a:lstStyle/>
          <a:p>
            <a:endParaRPr lang="en-GB"/>
          </a:p>
        </p:txBody>
      </p:sp>
      <p:sp>
        <p:nvSpPr>
          <p:cNvPr id="15" name="Shape 13"/>
          <p:cNvSpPr/>
          <p:nvPr/>
        </p:nvSpPr>
        <p:spPr>
          <a:xfrm>
            <a:off x="457200" y="2852928"/>
            <a:ext cx="128016" cy="128016"/>
          </a:xfrm>
          <a:prstGeom prst="rect">
            <a:avLst/>
          </a:prstGeom>
          <a:solidFill>
            <a:srgbClr val="FFCD00"/>
          </a:solidFill>
          <a:ln/>
        </p:spPr>
        <p:txBody>
          <a:bodyPr/>
          <a:lstStyle/>
          <a:p>
            <a:endParaRPr lang="en-GB"/>
          </a:p>
        </p:txBody>
      </p:sp>
      <p:sp>
        <p:nvSpPr>
          <p:cNvPr id="16" name="Text 14"/>
          <p:cNvSpPr/>
          <p:nvPr/>
        </p:nvSpPr>
        <p:spPr>
          <a:xfrm>
            <a:off x="749808" y="2724912"/>
            <a:ext cx="4206240" cy="411480"/>
          </a:xfrm>
          <a:prstGeom prst="rect">
            <a:avLst/>
          </a:prstGeom>
          <a:noFill/>
          <a:ln/>
        </p:spPr>
        <p:txBody>
          <a:bodyPr wrap="square" rtlCol="0" anchor="ctr"/>
          <a:lstStyle/>
          <a:p>
            <a:pPr marL="0" indent="0">
              <a:buNone/>
            </a:pPr>
            <a:r>
              <a:rPr lang="en-US" sz="1400" b="1" dirty="0">
                <a:solidFill>
                  <a:srgbClr val="111111"/>
                </a:solidFill>
                <a:latin typeface="Arial Black" pitchFamily="34" charset="0"/>
                <a:ea typeface="Arial Black" pitchFamily="34" charset="-122"/>
                <a:cs typeface="Arial Black" pitchFamily="34" charset="-120"/>
              </a:rPr>
              <a:t>Educational value + replayability</a:t>
            </a:r>
            <a:endParaRPr lang="en-US" sz="1400" dirty="0"/>
          </a:p>
        </p:txBody>
      </p:sp>
      <p:sp>
        <p:nvSpPr>
          <p:cNvPr id="17" name="Text 15"/>
          <p:cNvSpPr/>
          <p:nvPr/>
        </p:nvSpPr>
        <p:spPr>
          <a:xfrm>
            <a:off x="5074920" y="2724912"/>
            <a:ext cx="3657600" cy="411480"/>
          </a:xfrm>
          <a:prstGeom prst="rect">
            <a:avLst/>
          </a:prstGeom>
          <a:noFill/>
          <a:ln/>
        </p:spPr>
        <p:txBody>
          <a:bodyPr wrap="square" rtlCol="0" anchor="ctr"/>
          <a:lstStyle/>
          <a:p>
            <a:pPr marL="0" indent="0">
              <a:buNone/>
            </a:pPr>
            <a:r>
              <a:rPr lang="en-US" sz="1300" dirty="0">
                <a:solidFill>
                  <a:srgbClr val="888888"/>
                </a:solidFill>
                <a:latin typeface="Arial" pitchFamily="34" charset="0"/>
                <a:ea typeface="Arial" pitchFamily="34" charset="-122"/>
                <a:cs typeface="Arial" pitchFamily="34" charset="-120"/>
              </a:rPr>
              <a:t>56 questions · 3 difficulty levels · leaderboard</a:t>
            </a:r>
            <a:endParaRPr lang="en-US" sz="1300" dirty="0"/>
          </a:p>
        </p:txBody>
      </p:sp>
      <p:sp>
        <p:nvSpPr>
          <p:cNvPr id="18" name="Shape 16"/>
          <p:cNvSpPr/>
          <p:nvPr/>
        </p:nvSpPr>
        <p:spPr>
          <a:xfrm>
            <a:off x="457200" y="3182112"/>
            <a:ext cx="8229600" cy="10973"/>
          </a:xfrm>
          <a:prstGeom prst="rect">
            <a:avLst/>
          </a:prstGeom>
          <a:solidFill>
            <a:srgbClr val="EEEEEE"/>
          </a:solidFill>
          <a:ln/>
        </p:spPr>
        <p:txBody>
          <a:bodyPr/>
          <a:lstStyle/>
          <a:p>
            <a:endParaRPr lang="en-GB"/>
          </a:p>
        </p:txBody>
      </p:sp>
      <p:sp>
        <p:nvSpPr>
          <p:cNvPr id="19" name="Shape 17"/>
          <p:cNvSpPr/>
          <p:nvPr/>
        </p:nvSpPr>
        <p:spPr>
          <a:xfrm>
            <a:off x="457200" y="3429000"/>
            <a:ext cx="128016" cy="128016"/>
          </a:xfrm>
          <a:prstGeom prst="rect">
            <a:avLst/>
          </a:prstGeom>
          <a:solidFill>
            <a:srgbClr val="FFCD00"/>
          </a:solidFill>
          <a:ln/>
        </p:spPr>
        <p:txBody>
          <a:bodyPr/>
          <a:lstStyle/>
          <a:p>
            <a:endParaRPr lang="en-GB"/>
          </a:p>
        </p:txBody>
      </p:sp>
      <p:sp>
        <p:nvSpPr>
          <p:cNvPr id="20" name="Text 18"/>
          <p:cNvSpPr/>
          <p:nvPr/>
        </p:nvSpPr>
        <p:spPr>
          <a:xfrm>
            <a:off x="749808" y="3300984"/>
            <a:ext cx="4206240" cy="411480"/>
          </a:xfrm>
          <a:prstGeom prst="rect">
            <a:avLst/>
          </a:prstGeom>
          <a:noFill/>
          <a:ln/>
        </p:spPr>
        <p:txBody>
          <a:bodyPr wrap="square" rtlCol="0" anchor="ctr"/>
          <a:lstStyle/>
          <a:p>
            <a:pPr marL="0" indent="0">
              <a:buNone/>
            </a:pPr>
            <a:r>
              <a:rPr lang="en-US" sz="1400" b="1" dirty="0">
                <a:solidFill>
                  <a:srgbClr val="111111"/>
                </a:solidFill>
                <a:latin typeface="Arial Black" pitchFamily="34" charset="0"/>
                <a:ea typeface="Arial Black" pitchFamily="34" charset="-122"/>
                <a:cs typeface="Arial Black" pitchFamily="34" charset="-120"/>
              </a:rPr>
              <a:t>Complete working prototype</a:t>
            </a:r>
            <a:endParaRPr lang="en-US" sz="1400" dirty="0"/>
          </a:p>
        </p:txBody>
      </p:sp>
      <p:sp>
        <p:nvSpPr>
          <p:cNvPr id="21" name="Text 19"/>
          <p:cNvSpPr/>
          <p:nvPr/>
        </p:nvSpPr>
        <p:spPr>
          <a:xfrm>
            <a:off x="5074920" y="3300984"/>
            <a:ext cx="3657600" cy="411480"/>
          </a:xfrm>
          <a:prstGeom prst="rect">
            <a:avLst/>
          </a:prstGeom>
          <a:noFill/>
          <a:ln/>
        </p:spPr>
        <p:txBody>
          <a:bodyPr wrap="square" rtlCol="0" anchor="ctr"/>
          <a:lstStyle/>
          <a:p>
            <a:pPr marL="0" indent="0">
              <a:buNone/>
            </a:pPr>
            <a:r>
              <a:rPr lang="en-US" sz="1300" dirty="0">
                <a:solidFill>
                  <a:srgbClr val="888888"/>
                </a:solidFill>
                <a:latin typeface="Arial" pitchFamily="34" charset="0"/>
                <a:ea typeface="Arial" pitchFamily="34" charset="-122"/>
                <a:cs typeface="Arial" pitchFamily="34" charset="-120"/>
              </a:rPr>
              <a:t>Runs in any browser — no install</a:t>
            </a:r>
            <a:endParaRPr lang="en-US" sz="1300" dirty="0"/>
          </a:p>
        </p:txBody>
      </p:sp>
      <p:sp>
        <p:nvSpPr>
          <p:cNvPr id="22" name="Shape 20"/>
          <p:cNvSpPr/>
          <p:nvPr/>
        </p:nvSpPr>
        <p:spPr>
          <a:xfrm>
            <a:off x="457200" y="3758184"/>
            <a:ext cx="8229600" cy="10973"/>
          </a:xfrm>
          <a:prstGeom prst="rect">
            <a:avLst/>
          </a:prstGeom>
          <a:solidFill>
            <a:srgbClr val="EEEEEE"/>
          </a:solidFill>
          <a:ln/>
        </p:spPr>
        <p:txBody>
          <a:bodyPr/>
          <a:lstStyle/>
          <a:p>
            <a:endParaRPr lang="en-GB"/>
          </a:p>
        </p:txBody>
      </p:sp>
      <p:sp>
        <p:nvSpPr>
          <p:cNvPr id="23" name="Shape 21"/>
          <p:cNvSpPr/>
          <p:nvPr/>
        </p:nvSpPr>
        <p:spPr>
          <a:xfrm>
            <a:off x="457200" y="4005072"/>
            <a:ext cx="128016" cy="128016"/>
          </a:xfrm>
          <a:prstGeom prst="rect">
            <a:avLst/>
          </a:prstGeom>
          <a:solidFill>
            <a:srgbClr val="FFCD00"/>
          </a:solidFill>
          <a:ln/>
        </p:spPr>
        <p:txBody>
          <a:bodyPr/>
          <a:lstStyle/>
          <a:p>
            <a:endParaRPr lang="en-GB"/>
          </a:p>
        </p:txBody>
      </p:sp>
      <p:sp>
        <p:nvSpPr>
          <p:cNvPr id="24" name="Text 22"/>
          <p:cNvSpPr/>
          <p:nvPr/>
        </p:nvSpPr>
        <p:spPr>
          <a:xfrm>
            <a:off x="749808" y="3877056"/>
            <a:ext cx="4206240" cy="411480"/>
          </a:xfrm>
          <a:prstGeom prst="rect">
            <a:avLst/>
          </a:prstGeom>
          <a:noFill/>
          <a:ln/>
        </p:spPr>
        <p:txBody>
          <a:bodyPr wrap="square" rtlCol="0" anchor="ctr"/>
          <a:lstStyle/>
          <a:p>
            <a:pPr marL="0" indent="0">
              <a:buNone/>
            </a:pPr>
            <a:r>
              <a:rPr lang="en-US" sz="1400" b="1" dirty="0">
                <a:solidFill>
                  <a:srgbClr val="111111"/>
                </a:solidFill>
                <a:latin typeface="Arial Black" pitchFamily="34" charset="0"/>
                <a:ea typeface="Arial Black" pitchFamily="34" charset="-122"/>
                <a:cs typeface="Arial Black" pitchFamily="34" charset="-120"/>
              </a:rPr>
              <a:t>Ready for demonstration</a:t>
            </a:r>
            <a:endParaRPr lang="en-US" sz="1400" dirty="0"/>
          </a:p>
        </p:txBody>
      </p:sp>
      <p:sp>
        <p:nvSpPr>
          <p:cNvPr id="25" name="Text 23"/>
          <p:cNvSpPr/>
          <p:nvPr/>
        </p:nvSpPr>
        <p:spPr>
          <a:xfrm>
            <a:off x="5074920" y="3877056"/>
            <a:ext cx="3657600" cy="411480"/>
          </a:xfrm>
          <a:prstGeom prst="rect">
            <a:avLst/>
          </a:prstGeom>
          <a:noFill/>
          <a:ln/>
        </p:spPr>
        <p:txBody>
          <a:bodyPr wrap="square" rtlCol="0" anchor="ctr"/>
          <a:lstStyle/>
          <a:p>
            <a:pPr marL="0" indent="0">
              <a:buNone/>
            </a:pPr>
            <a:r>
              <a:rPr lang="en-US" sz="1300" dirty="0">
                <a:solidFill>
                  <a:srgbClr val="888888"/>
                </a:solidFill>
                <a:latin typeface="Arial" pitchFamily="34" charset="0"/>
                <a:ea typeface="Arial" pitchFamily="34" charset="-122"/>
                <a:cs typeface="Arial" pitchFamily="34" charset="-120"/>
              </a:rPr>
              <a:t>Live today — with supporting documentation</a:t>
            </a:r>
            <a:endParaRPr lang="en-US" sz="1300" dirty="0"/>
          </a:p>
        </p:txBody>
      </p:sp>
      <p:sp>
        <p:nvSpPr>
          <p:cNvPr id="26" name="Shape 24"/>
          <p:cNvSpPr/>
          <p:nvPr/>
        </p:nvSpPr>
        <p:spPr>
          <a:xfrm>
            <a:off x="457200" y="4334256"/>
            <a:ext cx="8229600" cy="10973"/>
          </a:xfrm>
          <a:prstGeom prst="rect">
            <a:avLst/>
          </a:prstGeom>
          <a:solidFill>
            <a:srgbClr val="EEEEEE"/>
          </a:solidFill>
          <a:ln/>
        </p:spPr>
        <p:txBody>
          <a:bodyPr/>
          <a:lstStyle/>
          <a:p>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FFCD00"/>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r>
              <a:rPr lang="en-US" sz="1000" b="1" kern="0" spc="200" dirty="0">
                <a:solidFill>
                  <a:srgbClr val="555555"/>
                </a:solidFill>
                <a:latin typeface="Arial" pitchFamily="34" charset="0"/>
                <a:ea typeface="Arial" pitchFamily="34" charset="-122"/>
                <a:cs typeface="Arial" pitchFamily="34" charset="-120"/>
              </a:rPr>
              <a:t>USER TESTING</a:t>
            </a: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555555"/>
                </a:solidFill>
                <a:latin typeface="Arial" pitchFamily="34" charset="0"/>
                <a:ea typeface="Arial" pitchFamily="34" charset="-122"/>
                <a:cs typeface="Arial" pitchFamily="34" charset="-120"/>
              </a:rPr>
              <a:t>NINJA QUIZ  ·  503IT  ·  15 / 18</a:t>
            </a:r>
            <a:endParaRPr lang="en-US" sz="900" dirty="0"/>
          </a:p>
        </p:txBody>
      </p:sp>
      <p:sp>
        <p:nvSpPr>
          <p:cNvPr id="5" name="Text 3"/>
          <p:cNvSpPr/>
          <p:nvPr/>
        </p:nvSpPr>
        <p:spPr>
          <a:xfrm>
            <a:off x="457200" y="594360"/>
            <a:ext cx="8229600" cy="91440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What they said.</a:t>
            </a:r>
            <a:endParaRPr lang="en-US" sz="3600" dirty="0"/>
          </a:p>
        </p:txBody>
      </p:sp>
      <p:sp>
        <p:nvSpPr>
          <p:cNvPr id="6" name="Text 4"/>
          <p:cNvSpPr/>
          <p:nvPr/>
        </p:nvSpPr>
        <p:spPr>
          <a:xfrm>
            <a:off x="457200" y="1371600"/>
            <a:ext cx="7772400" cy="320040"/>
          </a:xfrm>
          <a:prstGeom prst="rect">
            <a:avLst/>
          </a:prstGeom>
          <a:noFill/>
          <a:ln/>
        </p:spPr>
        <p:txBody>
          <a:bodyPr wrap="square" rtlCol="0" anchor="ctr"/>
          <a:lstStyle/>
          <a:p>
            <a:pPr marL="0" indent="0">
              <a:buNone/>
            </a:pPr>
            <a:r>
              <a:rPr lang="en-US" sz="1400" dirty="0">
                <a:solidFill>
                  <a:srgbClr val="555555"/>
                </a:solidFill>
                <a:latin typeface="Arial" pitchFamily="34" charset="0"/>
                <a:ea typeface="Arial" pitchFamily="34" charset="-122"/>
                <a:cs typeface="Arial" pitchFamily="34" charset="-120"/>
              </a:rPr>
              <a:t>Peer testing · Sprint 4 &amp; 5 · Anonymous</a:t>
            </a:r>
            <a:endParaRPr lang="en-US" sz="1400" dirty="0"/>
          </a:p>
        </p:txBody>
      </p:sp>
      <p:sp>
        <p:nvSpPr>
          <p:cNvPr id="7" name="Shape 5"/>
          <p:cNvSpPr/>
          <p:nvPr/>
        </p:nvSpPr>
        <p:spPr>
          <a:xfrm>
            <a:off x="457200" y="1965960"/>
            <a:ext cx="2651760" cy="2468880"/>
          </a:xfrm>
          <a:prstGeom prst="rect">
            <a:avLst/>
          </a:prstGeom>
          <a:solidFill>
            <a:srgbClr val="1A1A1A"/>
          </a:solidFill>
          <a:ln/>
        </p:spPr>
        <p:txBody>
          <a:bodyPr/>
          <a:lstStyle/>
          <a:p>
            <a:endParaRPr lang="en-GB"/>
          </a:p>
        </p:txBody>
      </p:sp>
      <p:sp>
        <p:nvSpPr>
          <p:cNvPr id="8" name="Shape 6"/>
          <p:cNvSpPr/>
          <p:nvPr/>
        </p:nvSpPr>
        <p:spPr>
          <a:xfrm>
            <a:off x="457200" y="1965960"/>
            <a:ext cx="2651760" cy="54864"/>
          </a:xfrm>
          <a:prstGeom prst="rect">
            <a:avLst/>
          </a:prstGeom>
          <a:solidFill>
            <a:srgbClr val="FFCD00"/>
          </a:solidFill>
          <a:ln/>
        </p:spPr>
        <p:txBody>
          <a:bodyPr/>
          <a:lstStyle/>
          <a:p>
            <a:endParaRPr lang="en-GB"/>
          </a:p>
        </p:txBody>
      </p:sp>
      <p:sp>
        <p:nvSpPr>
          <p:cNvPr id="9" name="Text 7"/>
          <p:cNvSpPr/>
          <p:nvPr/>
        </p:nvSpPr>
        <p:spPr>
          <a:xfrm>
            <a:off x="621792" y="2148840"/>
            <a:ext cx="2331720" cy="1463040"/>
          </a:xfrm>
          <a:prstGeom prst="rect">
            <a:avLst/>
          </a:prstGeom>
          <a:noFill/>
          <a:ln/>
        </p:spPr>
        <p:txBody>
          <a:bodyPr wrap="square" rtlCol="0" anchor="ctr"/>
          <a:lstStyle/>
          <a:p>
            <a:pPr marL="0" indent="0">
              <a:buNone/>
            </a:pPr>
            <a:r>
              <a:rPr lang="en-US" sz="1350" i="1" dirty="0">
                <a:solidFill>
                  <a:srgbClr val="FFFFFF"/>
                </a:solidFill>
                <a:latin typeface="Arial" pitchFamily="34" charset="0"/>
                <a:ea typeface="Arial" pitchFamily="34" charset="-122"/>
                <a:cs typeface="Arial" pitchFamily="34" charset="-120"/>
              </a:rPr>
              <a:t>"It actually teaches you something while you play."</a:t>
            </a:r>
            <a:endParaRPr lang="en-US" sz="1350" dirty="0"/>
          </a:p>
        </p:txBody>
      </p:sp>
      <p:sp>
        <p:nvSpPr>
          <p:cNvPr id="10" name="Shape 8"/>
          <p:cNvSpPr/>
          <p:nvPr/>
        </p:nvSpPr>
        <p:spPr>
          <a:xfrm>
            <a:off x="621792" y="3657600"/>
            <a:ext cx="228600" cy="36576"/>
          </a:xfrm>
          <a:prstGeom prst="rect">
            <a:avLst/>
          </a:prstGeom>
          <a:solidFill>
            <a:srgbClr val="555555"/>
          </a:solidFill>
          <a:ln/>
        </p:spPr>
        <p:txBody>
          <a:bodyPr/>
          <a:lstStyle/>
          <a:p>
            <a:endParaRPr lang="en-GB"/>
          </a:p>
        </p:txBody>
      </p:sp>
      <p:sp>
        <p:nvSpPr>
          <p:cNvPr id="11" name="Text 9"/>
          <p:cNvSpPr/>
          <p:nvPr/>
        </p:nvSpPr>
        <p:spPr>
          <a:xfrm>
            <a:off x="621792" y="3767328"/>
            <a:ext cx="2331720" cy="365760"/>
          </a:xfrm>
          <a:prstGeom prst="rect">
            <a:avLst/>
          </a:prstGeom>
          <a:noFill/>
          <a:ln/>
        </p:spPr>
        <p:txBody>
          <a:bodyPr wrap="square" rtlCol="0" anchor="ctr"/>
          <a:lstStyle/>
          <a:p>
            <a:pPr marL="0" indent="0">
              <a:buNone/>
            </a:pPr>
            <a:r>
              <a:rPr lang="en-US" sz="1050" dirty="0">
                <a:solidFill>
                  <a:srgbClr val="555555"/>
                </a:solidFill>
                <a:latin typeface="Arial" pitchFamily="34" charset="0"/>
                <a:ea typeface="Arial" pitchFamily="34" charset="-122"/>
                <a:cs typeface="Arial" pitchFamily="34" charset="-120"/>
              </a:rPr>
              <a:t>Peer tester, Sprint 4</a:t>
            </a:r>
            <a:endParaRPr lang="en-US" sz="1050" dirty="0"/>
          </a:p>
        </p:txBody>
      </p:sp>
      <p:sp>
        <p:nvSpPr>
          <p:cNvPr id="12" name="Shape 10"/>
          <p:cNvSpPr/>
          <p:nvPr/>
        </p:nvSpPr>
        <p:spPr>
          <a:xfrm>
            <a:off x="3337560" y="1965960"/>
            <a:ext cx="2651760" cy="2468880"/>
          </a:xfrm>
          <a:prstGeom prst="rect">
            <a:avLst/>
          </a:prstGeom>
          <a:solidFill>
            <a:srgbClr val="1A1A1A"/>
          </a:solidFill>
          <a:ln/>
        </p:spPr>
        <p:txBody>
          <a:bodyPr/>
          <a:lstStyle/>
          <a:p>
            <a:endParaRPr lang="en-GB"/>
          </a:p>
        </p:txBody>
      </p:sp>
      <p:sp>
        <p:nvSpPr>
          <p:cNvPr id="13" name="Shape 11"/>
          <p:cNvSpPr/>
          <p:nvPr/>
        </p:nvSpPr>
        <p:spPr>
          <a:xfrm>
            <a:off x="3337560" y="1965960"/>
            <a:ext cx="2651760" cy="54864"/>
          </a:xfrm>
          <a:prstGeom prst="rect">
            <a:avLst/>
          </a:prstGeom>
          <a:solidFill>
            <a:srgbClr val="FFCD00"/>
          </a:solidFill>
          <a:ln/>
        </p:spPr>
        <p:txBody>
          <a:bodyPr/>
          <a:lstStyle/>
          <a:p>
            <a:endParaRPr lang="en-GB"/>
          </a:p>
        </p:txBody>
      </p:sp>
      <p:sp>
        <p:nvSpPr>
          <p:cNvPr id="14" name="Text 12"/>
          <p:cNvSpPr/>
          <p:nvPr/>
        </p:nvSpPr>
        <p:spPr>
          <a:xfrm>
            <a:off x="3502152" y="2148840"/>
            <a:ext cx="2331720" cy="1463040"/>
          </a:xfrm>
          <a:prstGeom prst="rect">
            <a:avLst/>
          </a:prstGeom>
          <a:noFill/>
          <a:ln/>
        </p:spPr>
        <p:txBody>
          <a:bodyPr wrap="square" rtlCol="0" anchor="ctr"/>
          <a:lstStyle/>
          <a:p>
            <a:pPr marL="0" indent="0">
              <a:buNone/>
            </a:pPr>
            <a:r>
              <a:rPr lang="en-US" sz="1350" i="1" dirty="0">
                <a:solidFill>
                  <a:srgbClr val="FFFFFF"/>
                </a:solidFill>
                <a:latin typeface="Arial" pitchFamily="34" charset="0"/>
                <a:ea typeface="Arial" pitchFamily="34" charset="-122"/>
                <a:cs typeface="Arial" pitchFamily="34" charset="-120"/>
              </a:rPr>
              <a:t>"I wanted another go straight away."</a:t>
            </a:r>
            <a:endParaRPr lang="en-US" sz="1350" dirty="0"/>
          </a:p>
        </p:txBody>
      </p:sp>
      <p:sp>
        <p:nvSpPr>
          <p:cNvPr id="15" name="Shape 13"/>
          <p:cNvSpPr/>
          <p:nvPr/>
        </p:nvSpPr>
        <p:spPr>
          <a:xfrm>
            <a:off x="3502152" y="3657600"/>
            <a:ext cx="228600" cy="36576"/>
          </a:xfrm>
          <a:prstGeom prst="rect">
            <a:avLst/>
          </a:prstGeom>
          <a:solidFill>
            <a:srgbClr val="555555"/>
          </a:solidFill>
          <a:ln/>
        </p:spPr>
        <p:txBody>
          <a:bodyPr/>
          <a:lstStyle/>
          <a:p>
            <a:endParaRPr lang="en-GB"/>
          </a:p>
        </p:txBody>
      </p:sp>
      <p:sp>
        <p:nvSpPr>
          <p:cNvPr id="16" name="Text 14"/>
          <p:cNvSpPr/>
          <p:nvPr/>
        </p:nvSpPr>
        <p:spPr>
          <a:xfrm>
            <a:off x="3502152" y="3767328"/>
            <a:ext cx="2331720" cy="365760"/>
          </a:xfrm>
          <a:prstGeom prst="rect">
            <a:avLst/>
          </a:prstGeom>
          <a:noFill/>
          <a:ln/>
        </p:spPr>
        <p:txBody>
          <a:bodyPr wrap="square" rtlCol="0" anchor="ctr"/>
          <a:lstStyle/>
          <a:p>
            <a:pPr marL="0" indent="0">
              <a:buNone/>
            </a:pPr>
            <a:r>
              <a:rPr lang="en-US" sz="1050" dirty="0">
                <a:solidFill>
                  <a:srgbClr val="555555"/>
                </a:solidFill>
                <a:latin typeface="Arial" pitchFamily="34" charset="0"/>
                <a:ea typeface="Arial" pitchFamily="34" charset="-122"/>
                <a:cs typeface="Arial" pitchFamily="34" charset="-120"/>
              </a:rPr>
              <a:t>Peer tester, Sprint 4</a:t>
            </a:r>
            <a:endParaRPr lang="en-US" sz="1050" dirty="0"/>
          </a:p>
        </p:txBody>
      </p:sp>
      <p:sp>
        <p:nvSpPr>
          <p:cNvPr id="17" name="Shape 15"/>
          <p:cNvSpPr/>
          <p:nvPr/>
        </p:nvSpPr>
        <p:spPr>
          <a:xfrm>
            <a:off x="6217920" y="1965960"/>
            <a:ext cx="2651760" cy="2468880"/>
          </a:xfrm>
          <a:prstGeom prst="rect">
            <a:avLst/>
          </a:prstGeom>
          <a:solidFill>
            <a:srgbClr val="1A1A1A"/>
          </a:solidFill>
          <a:ln/>
        </p:spPr>
        <p:txBody>
          <a:bodyPr/>
          <a:lstStyle/>
          <a:p>
            <a:endParaRPr lang="en-GB"/>
          </a:p>
        </p:txBody>
      </p:sp>
      <p:sp>
        <p:nvSpPr>
          <p:cNvPr id="18" name="Shape 16"/>
          <p:cNvSpPr/>
          <p:nvPr/>
        </p:nvSpPr>
        <p:spPr>
          <a:xfrm>
            <a:off x="6217920" y="1965960"/>
            <a:ext cx="2651760" cy="54864"/>
          </a:xfrm>
          <a:prstGeom prst="rect">
            <a:avLst/>
          </a:prstGeom>
          <a:solidFill>
            <a:srgbClr val="FFCD00"/>
          </a:solidFill>
          <a:ln/>
        </p:spPr>
        <p:txBody>
          <a:bodyPr/>
          <a:lstStyle/>
          <a:p>
            <a:endParaRPr lang="en-GB"/>
          </a:p>
        </p:txBody>
      </p:sp>
      <p:sp>
        <p:nvSpPr>
          <p:cNvPr id="19" name="Text 17"/>
          <p:cNvSpPr/>
          <p:nvPr/>
        </p:nvSpPr>
        <p:spPr>
          <a:xfrm>
            <a:off x="6382512" y="2148840"/>
            <a:ext cx="2331720" cy="1463040"/>
          </a:xfrm>
          <a:prstGeom prst="rect">
            <a:avLst/>
          </a:prstGeom>
          <a:noFill/>
          <a:ln/>
        </p:spPr>
        <p:txBody>
          <a:bodyPr wrap="square" rtlCol="0" anchor="ctr"/>
          <a:lstStyle/>
          <a:p>
            <a:pPr marL="0" indent="0">
              <a:buNone/>
            </a:pPr>
            <a:r>
              <a:rPr lang="en-US" sz="1350" i="1" dirty="0">
                <a:solidFill>
                  <a:srgbClr val="FFFFFF"/>
                </a:solidFill>
                <a:latin typeface="Arial" pitchFamily="34" charset="0"/>
                <a:ea typeface="Arial" pitchFamily="34" charset="-122"/>
                <a:cs typeface="Arial" pitchFamily="34" charset="-120"/>
              </a:rPr>
              <a:t>"Questions felt hard but fair."</a:t>
            </a:r>
            <a:endParaRPr lang="en-US" sz="1350" dirty="0"/>
          </a:p>
        </p:txBody>
      </p:sp>
      <p:sp>
        <p:nvSpPr>
          <p:cNvPr id="20" name="Shape 18"/>
          <p:cNvSpPr/>
          <p:nvPr/>
        </p:nvSpPr>
        <p:spPr>
          <a:xfrm>
            <a:off x="6382512" y="3657600"/>
            <a:ext cx="228600" cy="36576"/>
          </a:xfrm>
          <a:prstGeom prst="rect">
            <a:avLst/>
          </a:prstGeom>
          <a:solidFill>
            <a:srgbClr val="555555"/>
          </a:solidFill>
          <a:ln/>
        </p:spPr>
        <p:txBody>
          <a:bodyPr/>
          <a:lstStyle/>
          <a:p>
            <a:endParaRPr lang="en-GB"/>
          </a:p>
        </p:txBody>
      </p:sp>
      <p:sp>
        <p:nvSpPr>
          <p:cNvPr id="21" name="Text 19"/>
          <p:cNvSpPr/>
          <p:nvPr/>
        </p:nvSpPr>
        <p:spPr>
          <a:xfrm>
            <a:off x="6382512" y="3767328"/>
            <a:ext cx="2331720" cy="365760"/>
          </a:xfrm>
          <a:prstGeom prst="rect">
            <a:avLst/>
          </a:prstGeom>
          <a:noFill/>
          <a:ln/>
        </p:spPr>
        <p:txBody>
          <a:bodyPr wrap="square" rtlCol="0" anchor="ctr"/>
          <a:lstStyle/>
          <a:p>
            <a:pPr marL="0" indent="0">
              <a:buNone/>
            </a:pPr>
            <a:r>
              <a:rPr lang="en-US" sz="1050" dirty="0">
                <a:solidFill>
                  <a:srgbClr val="555555"/>
                </a:solidFill>
                <a:latin typeface="Arial" pitchFamily="34" charset="0"/>
                <a:ea typeface="Arial" pitchFamily="34" charset="-122"/>
                <a:cs typeface="Arial" pitchFamily="34" charset="-120"/>
              </a:rPr>
              <a:t>Peer tester, Sprint 5</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FFCD00"/>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r>
              <a:rPr lang="en-US" sz="1000" b="1" kern="0" spc="200" dirty="0">
                <a:solidFill>
                  <a:srgbClr val="555555"/>
                </a:solidFill>
                <a:latin typeface="Arial" pitchFamily="34" charset="0"/>
                <a:ea typeface="Arial" pitchFamily="34" charset="-122"/>
                <a:cs typeface="Arial" pitchFamily="34" charset="-120"/>
              </a:rPr>
              <a:t>THE PRODUCT</a:t>
            </a: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555555"/>
                </a:solidFill>
                <a:latin typeface="Arial" pitchFamily="34" charset="0"/>
                <a:ea typeface="Arial" pitchFamily="34" charset="-122"/>
                <a:cs typeface="Arial" pitchFamily="34" charset="-120"/>
              </a:rPr>
              <a:t>NINJA QUIZ  ·  503IT  ·  16 / 18</a:t>
            </a:r>
            <a:endParaRPr lang="en-US" sz="900" dirty="0"/>
          </a:p>
        </p:txBody>
      </p:sp>
      <p:sp>
        <p:nvSpPr>
          <p:cNvPr id="5" name="Text 3"/>
          <p:cNvSpPr/>
          <p:nvPr/>
        </p:nvSpPr>
        <p:spPr>
          <a:xfrm>
            <a:off x="457200" y="457200"/>
            <a:ext cx="8229600" cy="660400"/>
          </a:xfrm>
          <a:prstGeom prst="rect">
            <a:avLst/>
          </a:prstGeom>
          <a:noFill/>
          <a:ln/>
        </p:spPr>
        <p:txBody>
          <a:bodyPr wrap="square"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This is what we built.</a:t>
            </a:r>
            <a:endParaRPr lang="en-US" sz="2600" dirty="0"/>
          </a:p>
        </p:txBody>
      </p:sp>
      <p:pic>
        <p:nvPicPr>
          <p:cNvPr id="6" name="Picture 5" descr="Game ss.png"/>
          <p:cNvPicPr>
            <a:picLocks noChangeAspect="1"/>
          </p:cNvPicPr>
          <p:nvPr/>
        </p:nvPicPr>
        <p:blipFill>
          <a:blip r:embed="rId4"/>
          <a:stretch>
            <a:fillRect/>
          </a:stretch>
        </p:blipFill>
        <p:spPr>
          <a:xfrm>
            <a:off x="365760" y="1005840"/>
            <a:ext cx="8412480" cy="3931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FFCD00"/>
          </a:solidFill>
          <a:ln/>
        </p:spPr>
        <p:txBody>
          <a:bodyPr/>
          <a:lstStyle/>
          <a:p>
            <a:endParaRPr lang="en-GB"/>
          </a:p>
        </p:txBody>
      </p:sp>
      <p:sp>
        <p:nvSpPr>
          <p:cNvPr id="3" name="Text 1"/>
          <p:cNvSpPr/>
          <p:nvPr/>
        </p:nvSpPr>
        <p:spPr>
          <a:xfrm>
            <a:off x="457200" y="274320"/>
            <a:ext cx="6400800" cy="228600"/>
          </a:xfrm>
          <a:prstGeom prst="rect">
            <a:avLst/>
          </a:prstGeom>
          <a:noFill/>
          <a:ln/>
        </p:spPr>
        <p:txBody>
          <a:bodyPr wrap="square" rtlCol="0" anchor="ctr"/>
          <a:lstStyle/>
          <a:p>
            <a:pPr marL="0" indent="0">
              <a:buNone/>
            </a:pPr>
            <a:r>
              <a:rPr lang="en-US" sz="1000" b="1" kern="0" spc="200" dirty="0">
                <a:solidFill>
                  <a:srgbClr val="555555"/>
                </a:solidFill>
                <a:latin typeface="Arial" pitchFamily="34" charset="0"/>
                <a:ea typeface="Arial" pitchFamily="34" charset="-122"/>
                <a:cs typeface="Arial" pitchFamily="34" charset="-120"/>
              </a:rPr>
              <a:t>WHAT WE LEARNED</a:t>
            </a:r>
            <a:endParaRPr lang="en-US" sz="1000" dirty="0"/>
          </a:p>
        </p:txBody>
      </p:sp>
      <p:sp>
        <p:nvSpPr>
          <p:cNvPr id="4" name="Text 2"/>
          <p:cNvSpPr/>
          <p:nvPr/>
        </p:nvSpPr>
        <p:spPr>
          <a:xfrm>
            <a:off x="3657600" y="4919472"/>
            <a:ext cx="5212080" cy="182880"/>
          </a:xfrm>
          <a:prstGeom prst="rect">
            <a:avLst/>
          </a:prstGeom>
          <a:noFill/>
          <a:ln/>
        </p:spPr>
        <p:txBody>
          <a:bodyPr wrap="square" rtlCol="0" anchor="ctr"/>
          <a:lstStyle/>
          <a:p>
            <a:pPr marL="0" indent="0" algn="r">
              <a:buNone/>
            </a:pPr>
            <a:r>
              <a:rPr lang="en-US" sz="900" dirty="0">
                <a:solidFill>
                  <a:srgbClr val="555555"/>
                </a:solidFill>
                <a:latin typeface="Arial" pitchFamily="34" charset="0"/>
                <a:ea typeface="Arial" pitchFamily="34" charset="-122"/>
                <a:cs typeface="Arial" pitchFamily="34" charset="-120"/>
              </a:rPr>
              <a:t>NINJA QUIZ  ·  503IT  ·  17 / 18</a:t>
            </a:r>
            <a:endParaRPr lang="en-US" sz="900" dirty="0"/>
          </a:p>
        </p:txBody>
      </p:sp>
      <p:sp>
        <p:nvSpPr>
          <p:cNvPr id="5" name="Text 3"/>
          <p:cNvSpPr/>
          <p:nvPr/>
        </p:nvSpPr>
        <p:spPr>
          <a:xfrm>
            <a:off x="457200" y="1005840"/>
            <a:ext cx="8229600" cy="1320800"/>
          </a:xfrm>
          <a:prstGeom prst="rect">
            <a:avLst/>
          </a:prstGeom>
          <a:noFill/>
          <a:ln/>
        </p:spPr>
        <p:txBody>
          <a:bodyPr wrap="square" rtlCol="0" anchor="ctr"/>
          <a:lstStyle/>
          <a:p>
            <a:pPr marL="0" indent="0">
              <a:buNone/>
            </a:pPr>
            <a:r>
              <a:rPr lang="en-US" sz="5200" b="1" dirty="0">
                <a:solidFill>
                  <a:srgbClr val="FFFFFF"/>
                </a:solidFill>
                <a:latin typeface="Arial Black" pitchFamily="34" charset="0"/>
                <a:ea typeface="Arial Black" pitchFamily="34" charset="-122"/>
                <a:cs typeface="Arial Black" pitchFamily="34" charset="-120"/>
              </a:rPr>
              <a:t>Communication</a:t>
            </a:r>
            <a:endParaRPr lang="en-US" sz="5200" dirty="0"/>
          </a:p>
          <a:p>
            <a:pPr marL="0" indent="0">
              <a:buNone/>
            </a:pPr>
            <a:r>
              <a:rPr lang="en-US" sz="5200" b="1" dirty="0">
                <a:solidFill>
                  <a:srgbClr val="FFFFFF"/>
                </a:solidFill>
                <a:latin typeface="Arial Black" pitchFamily="34" charset="0"/>
                <a:ea typeface="Arial Black" pitchFamily="34" charset="-122"/>
                <a:cs typeface="Arial Black" pitchFamily="34" charset="-120"/>
              </a:rPr>
              <a:t>built the product.</a:t>
            </a:r>
            <a:endParaRPr lang="en-US" sz="5200" dirty="0"/>
          </a:p>
        </p:txBody>
      </p:sp>
      <p:sp>
        <p:nvSpPr>
          <p:cNvPr id="6" name="Shape 4"/>
          <p:cNvSpPr/>
          <p:nvPr/>
        </p:nvSpPr>
        <p:spPr>
          <a:xfrm>
            <a:off x="457200" y="3291840"/>
            <a:ext cx="8229600" cy="10973"/>
          </a:xfrm>
          <a:prstGeom prst="rect">
            <a:avLst/>
          </a:prstGeom>
          <a:solidFill>
            <a:srgbClr val="222222"/>
          </a:solidFill>
          <a:ln/>
        </p:spPr>
        <p:txBody>
          <a:bodyPr/>
          <a:lstStyle/>
          <a:p>
            <a:endParaRPr lang="en-GB"/>
          </a:p>
        </p:txBody>
      </p:sp>
      <p:sp>
        <p:nvSpPr>
          <p:cNvPr id="7" name="Text 5"/>
          <p:cNvSpPr/>
          <p:nvPr/>
        </p:nvSpPr>
        <p:spPr>
          <a:xfrm>
            <a:off x="457200" y="3429000"/>
            <a:ext cx="7772400" cy="320040"/>
          </a:xfrm>
          <a:prstGeom prst="rect">
            <a:avLst/>
          </a:prstGeom>
          <a:noFill/>
          <a:ln/>
        </p:spPr>
        <p:txBody>
          <a:bodyPr wrap="square" rtlCol="0" anchor="ctr"/>
          <a:lstStyle/>
          <a:p>
            <a:pPr marL="0" indent="0">
              <a:buNone/>
            </a:pPr>
            <a:r>
              <a:rPr lang="en-US" sz="1400" dirty="0">
                <a:solidFill>
                  <a:srgbClr val="555555"/>
                </a:solidFill>
                <a:latin typeface="Arial" pitchFamily="34" charset="0"/>
                <a:ea typeface="Arial" pitchFamily="34" charset="-122"/>
                <a:cs typeface="Arial" pitchFamily="34" charset="-120"/>
              </a:rPr>
              <a:t>Not the code. Not the tools. The way five people stayed aligned.</a:t>
            </a:r>
            <a:endParaRPr lang="en-US" sz="14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457200" y="256032"/>
            <a:ext cx="6858000" cy="256032"/>
          </a:xfrm>
          <a:prstGeom prst="rect">
            <a:avLst/>
          </a:prstGeom>
          <a:noFill/>
        </p:spPr>
        <p:txBody>
          <a:bodyPr wrap="square">
            <a:spAutoFit/>
          </a:bodyPr>
          <a:lstStyle/>
          <a:p>
            <a:pPr algn="l"/>
            <a:r>
              <a:rPr sz="1000" b="1" i="0">
                <a:solidFill>
                  <a:srgbClr val="888888"/>
                </a:solidFill>
              </a:rPr>
              <a:t>PROFESSIONAL DEVELOPMENT</a:t>
            </a:r>
          </a:p>
        </p:txBody>
      </p:sp>
      <p:sp>
        <p:nvSpPr>
          <p:cNvPr id="3" name="TextBox 2"/>
          <p:cNvSpPr txBox="1"/>
          <p:nvPr/>
        </p:nvSpPr>
        <p:spPr>
          <a:xfrm>
            <a:off x="3657600" y="4919472"/>
            <a:ext cx="5212080" cy="182880"/>
          </a:xfrm>
          <a:prstGeom prst="rect">
            <a:avLst/>
          </a:prstGeom>
          <a:noFill/>
        </p:spPr>
        <p:txBody>
          <a:bodyPr wrap="square">
            <a:spAutoFit/>
          </a:bodyPr>
          <a:lstStyle/>
          <a:p>
            <a:pPr algn="l"/>
            <a:r>
              <a:rPr sz="800" b="0" i="0">
                <a:solidFill>
                  <a:srgbClr val="444444"/>
                </a:solidFill>
              </a:rPr>
              <a:t>NINJA QUIZ  .  503IT</a:t>
            </a:r>
          </a:p>
        </p:txBody>
      </p:sp>
      <p:sp>
        <p:nvSpPr>
          <p:cNvPr id="4" name="TextBox 3"/>
          <p:cNvSpPr txBox="1"/>
          <p:nvPr/>
        </p:nvSpPr>
        <p:spPr>
          <a:xfrm>
            <a:off x="457200" y="594360"/>
            <a:ext cx="8229600" cy="1097280"/>
          </a:xfrm>
          <a:prstGeom prst="rect">
            <a:avLst/>
          </a:prstGeom>
          <a:noFill/>
        </p:spPr>
        <p:txBody>
          <a:bodyPr wrap="square">
            <a:spAutoFit/>
          </a:bodyPr>
          <a:lstStyle/>
          <a:p>
            <a:pPr algn="l"/>
            <a:r>
              <a:rPr sz="2800" b="1" i="0">
                <a:solidFill>
                  <a:srgbClr val="FFFFFF"/>
                </a:solidFill>
              </a:rPr>
              <a:t>This project taught us how</a:t>
            </a:r>
          </a:p>
          <a:p>
            <a:pPr algn="l"/>
            <a:r>
              <a:rPr sz="2800" b="1" i="0">
                <a:solidFill>
                  <a:srgbClr val="FFFFFF"/>
                </a:solidFill>
              </a:rPr>
              <a:t>industry teams actually work.</a:t>
            </a:r>
          </a:p>
        </p:txBody>
      </p:sp>
      <p:sp>
        <p:nvSpPr>
          <p:cNvPr id="5" name="TextBox 4"/>
          <p:cNvSpPr txBox="1"/>
          <p:nvPr/>
        </p:nvSpPr>
        <p:spPr>
          <a:xfrm>
            <a:off x="457200" y="1874519"/>
            <a:ext cx="3840480" cy="256032"/>
          </a:xfrm>
          <a:prstGeom prst="rect">
            <a:avLst/>
          </a:prstGeom>
          <a:noFill/>
        </p:spPr>
        <p:txBody>
          <a:bodyPr wrap="square">
            <a:spAutoFit/>
          </a:bodyPr>
          <a:lstStyle/>
          <a:p>
            <a:pPr algn="l"/>
            <a:r>
              <a:rPr sz="1300" b="1" i="0">
                <a:solidFill>
                  <a:srgbClr val="FFCD00"/>
                </a:solidFill>
              </a:rPr>
              <a:t>Structured communication</a:t>
            </a:r>
          </a:p>
        </p:txBody>
      </p:sp>
      <p:sp>
        <p:nvSpPr>
          <p:cNvPr id="6" name="TextBox 5"/>
          <p:cNvSpPr txBox="1"/>
          <p:nvPr/>
        </p:nvSpPr>
        <p:spPr>
          <a:xfrm>
            <a:off x="457200" y="2148839"/>
            <a:ext cx="8229600" cy="411480"/>
          </a:xfrm>
          <a:prstGeom prst="rect">
            <a:avLst/>
          </a:prstGeom>
          <a:noFill/>
        </p:spPr>
        <p:txBody>
          <a:bodyPr wrap="square">
            <a:spAutoFit/>
          </a:bodyPr>
          <a:lstStyle/>
          <a:p>
            <a:pPr algn="l"/>
            <a:r>
              <a:rPr sz="1100" b="0" i="0">
                <a:solidFill>
                  <a:srgbClr val="AAAAAA"/>
                </a:solidFill>
              </a:rPr>
              <a:t>Raising issues immediately, logging decisions in Trello and meeting minutes — these are professional standards, not student habits.</a:t>
            </a:r>
          </a:p>
        </p:txBody>
      </p:sp>
      <p:sp>
        <p:nvSpPr>
          <p:cNvPr id="7" name="TextBox 6"/>
          <p:cNvSpPr txBox="1"/>
          <p:nvPr/>
        </p:nvSpPr>
        <p:spPr>
          <a:xfrm>
            <a:off x="457200" y="2697479"/>
            <a:ext cx="3840480" cy="256032"/>
          </a:xfrm>
          <a:prstGeom prst="rect">
            <a:avLst/>
          </a:prstGeom>
          <a:noFill/>
        </p:spPr>
        <p:txBody>
          <a:bodyPr wrap="square">
            <a:spAutoFit/>
          </a:bodyPr>
          <a:lstStyle/>
          <a:p>
            <a:pPr algn="l"/>
            <a:r>
              <a:rPr sz="1300" b="1" i="0">
                <a:solidFill>
                  <a:srgbClr val="FFCD00"/>
                </a:solidFill>
              </a:rPr>
              <a:t>Real version control</a:t>
            </a:r>
          </a:p>
        </p:txBody>
      </p:sp>
      <p:sp>
        <p:nvSpPr>
          <p:cNvPr id="8" name="TextBox 7"/>
          <p:cNvSpPr txBox="1"/>
          <p:nvPr/>
        </p:nvSpPr>
        <p:spPr>
          <a:xfrm>
            <a:off x="457200" y="2971799"/>
            <a:ext cx="8229600" cy="411480"/>
          </a:xfrm>
          <a:prstGeom prst="rect">
            <a:avLst/>
          </a:prstGeom>
          <a:noFill/>
        </p:spPr>
        <p:txBody>
          <a:bodyPr wrap="square">
            <a:spAutoFit/>
          </a:bodyPr>
          <a:lstStyle/>
          <a:p>
            <a:pPr algn="l"/>
            <a:r>
              <a:rPr sz="1100" b="0" i="0">
                <a:solidFill>
                  <a:srgbClr val="AAAAAA"/>
                </a:solidFill>
              </a:rPr>
              <a:t>Feature branches, no pushing to main without review. We left this project with actual Git workflow experience.</a:t>
            </a:r>
          </a:p>
        </p:txBody>
      </p:sp>
      <p:sp>
        <p:nvSpPr>
          <p:cNvPr id="9" name="TextBox 8"/>
          <p:cNvSpPr txBox="1"/>
          <p:nvPr/>
        </p:nvSpPr>
        <p:spPr>
          <a:xfrm>
            <a:off x="457200" y="3520439"/>
            <a:ext cx="3840480" cy="256032"/>
          </a:xfrm>
          <a:prstGeom prst="rect">
            <a:avLst/>
          </a:prstGeom>
          <a:noFill/>
        </p:spPr>
        <p:txBody>
          <a:bodyPr wrap="square">
            <a:spAutoFit/>
          </a:bodyPr>
          <a:lstStyle/>
          <a:p>
            <a:pPr algn="l"/>
            <a:r>
              <a:rPr sz="1300" b="1" i="0">
                <a:solidFill>
                  <a:srgbClr val="FFCD00"/>
                </a:solidFill>
              </a:rPr>
              <a:t>Agile delivery mindset</a:t>
            </a:r>
          </a:p>
        </p:txBody>
      </p:sp>
      <p:sp>
        <p:nvSpPr>
          <p:cNvPr id="10" name="TextBox 9"/>
          <p:cNvSpPr txBox="1"/>
          <p:nvPr/>
        </p:nvSpPr>
        <p:spPr>
          <a:xfrm>
            <a:off x="457200" y="3794759"/>
            <a:ext cx="8229600" cy="411480"/>
          </a:xfrm>
          <a:prstGeom prst="rect">
            <a:avLst/>
          </a:prstGeom>
          <a:noFill/>
        </p:spPr>
        <p:txBody>
          <a:bodyPr wrap="square">
            <a:spAutoFit/>
          </a:bodyPr>
          <a:lstStyle/>
          <a:p>
            <a:pPr algn="l"/>
            <a:r>
              <a:rPr sz="1100" b="0" i="0">
                <a:solidFill>
                  <a:srgbClr val="AAAAAA"/>
                </a:solidFill>
              </a:rPr>
              <a:t>Five sprints with goals, retrospectives, and user testing mirrors how software teams ship in industry.</a:t>
            </a:r>
          </a:p>
        </p:txBody>
      </p:sp>
      <p:sp>
        <p:nvSpPr>
          <p:cNvPr id="11" name="TextBox 10"/>
          <p:cNvSpPr txBox="1"/>
          <p:nvPr/>
        </p:nvSpPr>
        <p:spPr>
          <a:xfrm>
            <a:off x="457200" y="4343400"/>
            <a:ext cx="3840480" cy="256032"/>
          </a:xfrm>
          <a:prstGeom prst="rect">
            <a:avLst/>
          </a:prstGeom>
          <a:noFill/>
        </p:spPr>
        <p:txBody>
          <a:bodyPr wrap="square">
            <a:spAutoFit/>
          </a:bodyPr>
          <a:lstStyle/>
          <a:p>
            <a:pPr algn="l"/>
            <a:r>
              <a:rPr sz="1300" b="1" i="0">
                <a:solidFill>
                  <a:srgbClr val="FFCD00"/>
                </a:solidFill>
              </a:rPr>
              <a:t>Resilience under pressure</a:t>
            </a:r>
          </a:p>
        </p:txBody>
      </p:sp>
      <p:sp>
        <p:nvSpPr>
          <p:cNvPr id="12" name="TextBox 11"/>
          <p:cNvSpPr txBox="1"/>
          <p:nvPr/>
        </p:nvSpPr>
        <p:spPr>
          <a:xfrm>
            <a:off x="457200" y="4617720"/>
            <a:ext cx="8229600" cy="411480"/>
          </a:xfrm>
          <a:prstGeom prst="rect">
            <a:avLst/>
          </a:prstGeom>
          <a:noFill/>
        </p:spPr>
        <p:txBody>
          <a:bodyPr wrap="square">
            <a:spAutoFit/>
          </a:bodyPr>
          <a:lstStyle/>
          <a:p>
            <a:pPr algn="l"/>
            <a:r>
              <a:rPr sz="1100" b="0" i="0">
                <a:solidFill>
                  <a:srgbClr val="AAAAAA"/>
                </a:solidFill>
              </a:rPr>
              <a:t>When the game broke 2 weeks before submission, we diagnosed and fixed it in one day — as a team. That experience is irreplaceable.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CD00"/>
        </a:solidFill>
        <a:effectLst/>
      </p:bgPr>
    </p:bg>
    <p:spTree>
      <p:nvGrpSpPr>
        <p:cNvPr id="1" name=""/>
        <p:cNvGrpSpPr/>
        <p:nvPr/>
      </p:nvGrpSpPr>
      <p:grpSpPr>
        <a:xfrm>
          <a:off x="0" y="0"/>
          <a:ext cx="0" cy="0"/>
          <a:chOff x="0" y="0"/>
          <a:chExt cx="0" cy="0"/>
        </a:xfrm>
      </p:grpSpPr>
      <p:sp>
        <p:nvSpPr>
          <p:cNvPr id="2" name="Shape 0"/>
          <p:cNvSpPr/>
          <p:nvPr/>
        </p:nvSpPr>
        <p:spPr>
          <a:xfrm>
            <a:off x="8458200" y="201168"/>
            <a:ext cx="256032" cy="256032"/>
          </a:xfrm>
          <a:prstGeom prst="ellipse">
            <a:avLst/>
          </a:prstGeom>
          <a:solidFill>
            <a:srgbClr val="DDDDDD"/>
          </a:solidFill>
          <a:ln/>
        </p:spPr>
        <p:txBody>
          <a:bodyPr/>
          <a:lstStyle/>
          <a:p>
            <a:endParaRPr lang="en-GB"/>
          </a:p>
        </p:txBody>
      </p:sp>
      <p:sp>
        <p:nvSpPr>
          <p:cNvPr id="3" name="Text 1"/>
          <p:cNvSpPr/>
          <p:nvPr/>
        </p:nvSpPr>
        <p:spPr>
          <a:xfrm>
            <a:off x="457200" y="1280160"/>
            <a:ext cx="8229600" cy="1645920"/>
          </a:xfrm>
          <a:prstGeom prst="rect">
            <a:avLst/>
          </a:prstGeom>
          <a:noFill/>
          <a:ln/>
        </p:spPr>
        <p:txBody>
          <a:bodyPr wrap="square" rtlCol="0" anchor="ctr"/>
          <a:lstStyle/>
          <a:p>
            <a:pPr marL="0" indent="0">
              <a:buNone/>
            </a:pPr>
            <a:r>
              <a:rPr lang="en-US" sz="8000" b="1" dirty="0">
                <a:solidFill>
                  <a:srgbClr val="111111"/>
                </a:solidFill>
                <a:latin typeface="Arial Black" pitchFamily="34" charset="0"/>
                <a:ea typeface="Arial Black" pitchFamily="34" charset="-122"/>
                <a:cs typeface="Arial Black" pitchFamily="34" charset="-120"/>
              </a:rPr>
              <a:t>Thank you.</a:t>
            </a:r>
            <a:endParaRPr lang="en-US" sz="8000" dirty="0"/>
          </a:p>
        </p:txBody>
      </p:sp>
      <p:sp>
        <p:nvSpPr>
          <p:cNvPr id="4" name="Shape 2"/>
          <p:cNvSpPr/>
          <p:nvPr/>
        </p:nvSpPr>
        <p:spPr>
          <a:xfrm>
            <a:off x="475488" y="3246120"/>
            <a:ext cx="1645920" cy="45720"/>
          </a:xfrm>
          <a:prstGeom prst="rect">
            <a:avLst/>
          </a:prstGeom>
          <a:solidFill>
            <a:srgbClr val="111111"/>
          </a:solidFill>
          <a:ln/>
        </p:spPr>
        <p:txBody>
          <a:bodyPr/>
          <a:lstStyle/>
          <a:p>
            <a:endParaRPr lang="en-GB"/>
          </a:p>
        </p:txBody>
      </p:sp>
      <p:sp>
        <p:nvSpPr>
          <p:cNvPr id="5" name="Text 3"/>
          <p:cNvSpPr/>
          <p:nvPr/>
        </p:nvSpPr>
        <p:spPr>
          <a:xfrm>
            <a:off x="475488" y="3429000"/>
            <a:ext cx="8229600" cy="365760"/>
          </a:xfrm>
          <a:prstGeom prst="rect">
            <a:avLst/>
          </a:prstGeom>
          <a:noFill/>
          <a:ln/>
        </p:spPr>
        <p:txBody>
          <a:bodyPr wrap="square" rtlCol="0" anchor="ctr"/>
          <a:lstStyle/>
          <a:p>
            <a:pPr marL="0" indent="0">
              <a:buNone/>
            </a:pPr>
            <a:r>
              <a:rPr lang="en-US" sz="1500" dirty="0">
                <a:solidFill>
                  <a:srgbClr val="333333"/>
                </a:solidFill>
                <a:latin typeface="Arial" pitchFamily="34" charset="0"/>
                <a:ea typeface="Arial" pitchFamily="34" charset="-122"/>
                <a:cs typeface="Arial" pitchFamily="34" charset="-120"/>
              </a:rPr>
              <a:t>Questions welcome — happy to run a live demo.</a:t>
            </a:r>
            <a:endParaRPr lang="en-US" sz="1500" dirty="0"/>
          </a:p>
        </p:txBody>
      </p:sp>
      <p:sp>
        <p:nvSpPr>
          <p:cNvPr id="6" name="Text 4"/>
          <p:cNvSpPr/>
          <p:nvPr/>
        </p:nvSpPr>
        <p:spPr>
          <a:xfrm>
            <a:off x="475488" y="4754880"/>
            <a:ext cx="8229600" cy="228600"/>
          </a:xfrm>
          <a:prstGeom prst="rect">
            <a:avLst/>
          </a:prstGeom>
          <a:noFill/>
          <a:ln/>
        </p:spPr>
        <p:txBody>
          <a:bodyPr wrap="square" rtlCol="0" anchor="ctr"/>
          <a:lstStyle/>
          <a:p>
            <a:pPr marL="0" indent="0">
              <a:buNone/>
            </a:pPr>
            <a:r>
              <a:rPr lang="en-US" sz="1000" b="1" dirty="0">
                <a:solidFill>
                  <a:srgbClr val="444444"/>
                </a:solidFill>
                <a:latin typeface="Arial" pitchFamily="34" charset="0"/>
                <a:ea typeface="Arial" pitchFamily="34" charset="-122"/>
                <a:cs typeface="Arial" pitchFamily="34" charset="-120"/>
              </a:rPr>
              <a:t>Ninja Quiz  ·  Team The Originals  ·  503IT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1456</Words>
  <Application>Microsoft Office PowerPoint</Application>
  <PresentationFormat>On-screen Show (16:9)</PresentationFormat>
  <Paragraphs>187</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Aakash G C</cp:lastModifiedBy>
  <cp:revision>2</cp:revision>
  <dcterms:created xsi:type="dcterms:W3CDTF">2026-06-09T16:06:25Z</dcterms:created>
  <dcterms:modified xsi:type="dcterms:W3CDTF">2026-06-09T16:07:28Z</dcterms:modified>
</cp:coreProperties>
</file>