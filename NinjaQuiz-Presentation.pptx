
<file path=[Content_Types].xml><?xml version="1.0" encoding="utf-8"?>
<Types xmlns="http://schemas.openxmlformats.org/package/2006/content-types">
  <Default Extension="jpeg" ContentType="image/jpeg"/>
  <Default Extension="jp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changesInfos/changesInfo1.xml" ContentType="application/vnd.ms-powerpoint.changesinfo+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20"/>
  </p:notesMasterIdLst>
  <p:sldIdLst>
    <p:sldId id="256" r:id="rId2"/>
    <p:sldId id="277" r:id="rId3"/>
    <p:sldId id="258" r:id="rId4"/>
    <p:sldId id="259" r:id="rId5"/>
    <p:sldId id="260" r:id="rId6"/>
    <p:sldId id="261" r:id="rId7"/>
    <p:sldId id="262" r:id="rId8"/>
    <p:sldId id="263" r:id="rId9"/>
    <p:sldId id="264" r:id="rId10"/>
    <p:sldId id="265" r:id="rId11"/>
    <p:sldId id="266" r:id="rId12"/>
    <p:sldId id="267" r:id="rId13"/>
    <p:sldId id="268" r:id="rId14"/>
    <p:sldId id="269" r:id="rId15"/>
    <p:sldId id="271" r:id="rId16"/>
    <p:sldId id="272" r:id="rId17"/>
    <p:sldId id="276" r:id="rId18"/>
    <p:sldId id="273" r:id="rId19"/>
  </p:sldIdLst>
  <p:sldSz cx="9144000" cy="5143500" type="screen16x9"/>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43" d="100"/>
          <a:sy n="143" d="100"/>
        </p:scale>
        <p:origin x="248" y="88"/>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3" Type="http://schemas.openxmlformats.org/officeDocument/2006/relationships/slide" Target="slides/slide2.xml"/><Relationship Id="rId21" Type="http://schemas.openxmlformats.org/officeDocument/2006/relationships/presProps" Target="presProps.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microsoft.com/office/2016/11/relationships/changesInfo" Target="changesInfos/changesInfo1.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notesMaster" Target="notesMasters/notesMaster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tableStyles" Target="tableStyle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theme" Target="theme/theme1.xml"/><Relationship Id="rId10" Type="http://schemas.openxmlformats.org/officeDocument/2006/relationships/slide" Target="slides/slide9.xml"/><Relationship Id="rId19" Type="http://schemas.openxmlformats.org/officeDocument/2006/relationships/slide" Target="slides/slide18.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viewProps" Target="viewProps.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Aakash G C" userId="681689e24ef02bae" providerId="LiveId" clId="{291FB111-583B-46AA-9887-BECB7E2A732C}"/>
    <pc:docChg chg="delSld modSld">
      <pc:chgData name="Aakash G C" userId="681689e24ef02bae" providerId="LiveId" clId="{291FB111-583B-46AA-9887-BECB7E2A732C}" dt="2026-06-10T11:18:46.308" v="9" actId="1076"/>
      <pc:docMkLst>
        <pc:docMk/>
      </pc:docMkLst>
      <pc:sldChg chg="addSp modSp mod">
        <pc:chgData name="Aakash G C" userId="681689e24ef02bae" providerId="LiveId" clId="{291FB111-583B-46AA-9887-BECB7E2A732C}" dt="2026-06-10T11:18:46.308" v="9" actId="1076"/>
        <pc:sldMkLst>
          <pc:docMk/>
          <pc:sldMk cId="0" sldId="256"/>
        </pc:sldMkLst>
        <pc:picChg chg="add mod">
          <ac:chgData name="Aakash G C" userId="681689e24ef02bae" providerId="LiveId" clId="{291FB111-583B-46AA-9887-BECB7E2A732C}" dt="2026-06-10T11:18:46.308" v="9" actId="1076"/>
          <ac:picMkLst>
            <pc:docMk/>
            <pc:sldMk cId="0" sldId="256"/>
            <ac:picMk id="8" creationId="{8A3F2623-BC3C-0C50-4513-1212BEAD6A84}"/>
          </ac:picMkLst>
        </pc:picChg>
      </pc:sldChg>
      <pc:sldChg chg="del">
        <pc:chgData name="Aakash G C" userId="681689e24ef02bae" providerId="LiveId" clId="{291FB111-583B-46AA-9887-BECB7E2A732C}" dt="2026-06-10T11:16:49.840" v="0" actId="2696"/>
        <pc:sldMkLst>
          <pc:docMk/>
          <pc:sldMk cId="0" sldId="270"/>
        </pc:sldMkLst>
      </pc:sldChg>
      <pc:sldChg chg="modSp mod">
        <pc:chgData name="Aakash G C" userId="681689e24ef02bae" providerId="LiveId" clId="{291FB111-583B-46AA-9887-BECB7E2A732C}" dt="2026-06-10T11:17:06.909" v="4" actId="20577"/>
        <pc:sldMkLst>
          <pc:docMk/>
          <pc:sldMk cId="0" sldId="271"/>
        </pc:sldMkLst>
        <pc:spChg chg="mod">
          <ac:chgData name="Aakash G C" userId="681689e24ef02bae" providerId="LiveId" clId="{291FB111-583B-46AA-9887-BECB7E2A732C}" dt="2026-06-10T11:17:06.909" v="4" actId="20577"/>
          <ac:spMkLst>
            <pc:docMk/>
            <pc:sldMk cId="0" sldId="271"/>
            <ac:spMk id="4" creationId="{00000000-0000-0000-0000-000000000000}"/>
          </ac:spMkLst>
        </pc:spChg>
      </pc:sldChg>
      <pc:sldChg chg="modSp mod">
        <pc:chgData name="Aakash G C" userId="681689e24ef02bae" providerId="LiveId" clId="{291FB111-583B-46AA-9887-BECB7E2A732C}" dt="2026-06-10T11:17:00.651" v="2" actId="20577"/>
        <pc:sldMkLst>
          <pc:docMk/>
          <pc:sldMk cId="0" sldId="272"/>
        </pc:sldMkLst>
        <pc:spChg chg="mod">
          <ac:chgData name="Aakash G C" userId="681689e24ef02bae" providerId="LiveId" clId="{291FB111-583B-46AA-9887-BECB7E2A732C}" dt="2026-06-10T11:17:00.651" v="2" actId="20577"/>
          <ac:spMkLst>
            <pc:docMk/>
            <pc:sldMk cId="0" sldId="272"/>
            <ac:spMk id="4" creationId="{00000000-0000-0000-0000-000000000000}"/>
          </ac:spMkLst>
        </pc:spChg>
      </pc:sldChg>
    </pc:docChg>
  </pc:docChgLst>
</pc:chgInfo>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124544424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afternoon. We are The Originals. We were given a brief: build a game that teaches cyber-safety. This presentation is about how we worked together to do that.</a:t>
            </a:r>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we talk about what we built — let's establish who we are and how we divided the work.</a:t>
            </a: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Work was divided so every person owned one module end-to-end. No overlap meant clear accountability — when something needed fixing, we knew exactly who to speak to. This was a deliberate decision made in our first meeting.</a:t>
            </a:r>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let's talk about process — how we actually organised, communicated and made decisions as a team.</a:t>
            </a:r>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chose three tools deliberately. Trello kept tasks visible to everyone — no one had to ask 'what are you working on?' GitHub meant five people could write code at the same time without conflicts. WhatsApp was our daily pulse — stand-ups every week.</a:t>
            </a:r>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ran eight stand-ups over eight weeks. Same three questions every time. This kept every team member focused on progress and surfaced blockers early — before they became emergencies. The stand-up format came from Agile methodology.</a:t>
            </a: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Early in the project we recognised that undocumented decisions were causing confusion. We moved to a structured approach — minutes for every meeting, a Trello card for every decision. If someone was absent, they could catch up. Nothing was lost.</a:t>
            </a:r>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used Agile methodology — five two-week sprints. Each sprint closed with a working demo and a team retrospective. This meant we were always building on something that worked, and the team reviewed its own process at the end of every cycle.</a:t>
            </a:r>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Halfway through the project, we hit our biggest challenge. This is where the team's communication structure was actually tested.</a:t>
            </a:r>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was our make-or-break moment. The game ran but answer targets never appeared — the entire gameplay depended on them. The reason it was resolved in one day: the team communicated immediately. Everyone looked at the error log together. Root cause identified, component rebuilt. Not one person could have done that alone.</a:t>
            </a:r>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bug was not just a technical problem — it was a test of our process. And our process worked. Because every person knew their role, issues were raised immediately, and the team reviewed code collaboratively, we resolved it without delaying the sprint.</a:t>
            </a:r>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With the process covered — let's show what it produced.</a:t>
            </a:r>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team delivered every client requirement. This was possible because of the structured process — clear roles, sprint planning, and documented decisions meant nothing was missed.</a:t>
            </a:r>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Ninja Quiz in play. A cyber-safety question appears, four answer targets fly across the screen, and the player slices the correct one. The product is fully working and available for a live demo right now.</a:t>
            </a:r>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biggest takeaway from this project: the game existed because of how we communicated — not just how we coded. Structured stand-ups, documented decisions, and fast escalation of issues made the difference between a broken prototype and a working product.</a:t>
            </a:r>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Thank you. We are happy to take questions and run a live demo of the game. We are also happy to walk through any part of the team process in more detail.</a:t>
            </a:r>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2" Type="http://schemas.openxmlformats.org/officeDocument/2006/relationships/theme" Target="../theme/theme1.xml"/><Relationship Id="rId1" Type="http://schemas.openxmlformats.org/officeDocument/2006/relationships/slideLayout" Target="../slideLayouts/slideLayout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1.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1.xml"/></Relationships>
</file>

<file path=ppt/slides/_rels/slide6.xml.rels><?xml version="1.0" encoding="UTF-8" standalone="yes"?>
<Relationships xmlns="http://schemas.openxmlformats.org/package/2006/relationships"><Relationship Id="rId3" Type="http://schemas.openxmlformats.org/officeDocument/2006/relationships/image" Target="../media/image2.jpg"/><Relationship Id="rId2" Type="http://schemas.openxmlformats.org/officeDocument/2006/relationships/notesSlide" Target="../notesSlides/notesSlide5.xml"/><Relationship Id="rId1" Type="http://schemas.openxmlformats.org/officeDocument/2006/relationships/slideLayout" Target="../slideLayouts/slideLayout1.xml"/><Relationship Id="rId4" Type="http://schemas.openxmlformats.org/officeDocument/2006/relationships/image" Target="../media/image3.jpeg"/></Relationships>
</file>

<file path=ppt/slides/_rels/slide7.xml.rels><?xml version="1.0" encoding="UTF-8" standalone="yes"?>
<Relationships xmlns="http://schemas.openxmlformats.org/package/2006/relationships"><Relationship Id="rId3" Type="http://schemas.openxmlformats.org/officeDocument/2006/relationships/image" Target="../media/image4.jpg"/><Relationship Id="rId2" Type="http://schemas.openxmlformats.org/officeDocument/2006/relationships/notesSlide" Target="../notesSlides/notesSlide6.xml"/><Relationship Id="rId1" Type="http://schemas.openxmlformats.org/officeDocument/2006/relationships/slideLayout" Target="../slideLayouts/slideLayout1.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1.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1.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1.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1.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1.xml"/></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1.xml"/></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1.xml"/></Relationships>
</file>

<file path=ppt/slides/_rels/slide15.xml.rels><?xml version="1.0" encoding="UTF-8" standalone="yes"?>
<Relationships xmlns="http://schemas.openxmlformats.org/package/2006/relationships"><Relationship Id="rId3" Type="http://schemas.openxmlformats.org/officeDocument/2006/relationships/image" Target="../media/image5.jpg"/><Relationship Id="rId2" Type="http://schemas.openxmlformats.org/officeDocument/2006/relationships/notesSlide" Target="../notesSlides/notesSlide14.xml"/><Relationship Id="rId1" Type="http://schemas.openxmlformats.org/officeDocument/2006/relationships/slideLayout" Target="../slideLayouts/slideLayout1.xml"/></Relationships>
</file>

<file path=ppt/slides/_rels/slide16.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1.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8.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D0D0D"/>
        </a:solidFill>
        <a:effectLst/>
      </p:bgPr>
    </p:bg>
    <p:spTree>
      <p:nvGrpSpPr>
        <p:cNvPr id="1" name=""/>
        <p:cNvGrpSpPr/>
        <p:nvPr/>
      </p:nvGrpSpPr>
      <p:grpSpPr>
        <a:xfrm>
          <a:off x="0" y="0"/>
          <a:ext cx="0" cy="0"/>
          <a:chOff x="0" y="0"/>
          <a:chExt cx="0" cy="0"/>
        </a:xfrm>
      </p:grpSpPr>
      <p:sp>
        <p:nvSpPr>
          <p:cNvPr id="2" name="Shape 0"/>
          <p:cNvSpPr/>
          <p:nvPr/>
        </p:nvSpPr>
        <p:spPr>
          <a:xfrm>
            <a:off x="8458200" y="201168"/>
            <a:ext cx="256032" cy="256032"/>
          </a:xfrm>
          <a:prstGeom prst="ellipse">
            <a:avLst/>
          </a:prstGeom>
          <a:solidFill>
            <a:srgbClr val="FFCD00"/>
          </a:solidFill>
          <a:ln/>
        </p:spPr>
        <p:txBody>
          <a:bodyPr/>
          <a:lstStyle/>
          <a:p>
            <a:endParaRPr lang="en-GB"/>
          </a:p>
        </p:txBody>
      </p:sp>
      <p:sp>
        <p:nvSpPr>
          <p:cNvPr id="3" name="Text 1"/>
          <p:cNvSpPr/>
          <p:nvPr/>
        </p:nvSpPr>
        <p:spPr>
          <a:xfrm>
            <a:off x="457200" y="1005840"/>
            <a:ext cx="8229600" cy="1463040"/>
          </a:xfrm>
          <a:prstGeom prst="rect">
            <a:avLst/>
          </a:prstGeom>
          <a:noFill/>
          <a:ln/>
        </p:spPr>
        <p:txBody>
          <a:bodyPr wrap="square" rtlCol="0" anchor="ctr"/>
          <a:lstStyle/>
          <a:p>
            <a:pPr marL="0" indent="0">
              <a:buNone/>
            </a:pPr>
            <a:r>
              <a:rPr lang="en-US" sz="10000" b="1" dirty="0">
                <a:solidFill>
                  <a:srgbClr val="FFFFFF"/>
                </a:solidFill>
                <a:latin typeface="Arial Black" pitchFamily="34" charset="0"/>
                <a:ea typeface="Arial Black" pitchFamily="34" charset="-122"/>
                <a:cs typeface="Arial Black" pitchFamily="34" charset="-120"/>
              </a:rPr>
              <a:t>Ninja</a:t>
            </a:r>
            <a:endParaRPr lang="en-US" sz="10000" dirty="0"/>
          </a:p>
        </p:txBody>
      </p:sp>
      <p:sp>
        <p:nvSpPr>
          <p:cNvPr id="4" name="Text 2"/>
          <p:cNvSpPr/>
          <p:nvPr/>
        </p:nvSpPr>
        <p:spPr>
          <a:xfrm>
            <a:off x="457200" y="2331720"/>
            <a:ext cx="8229600" cy="1463040"/>
          </a:xfrm>
          <a:prstGeom prst="rect">
            <a:avLst/>
          </a:prstGeom>
          <a:noFill/>
          <a:ln/>
        </p:spPr>
        <p:txBody>
          <a:bodyPr wrap="square" rtlCol="0" anchor="ctr"/>
          <a:lstStyle/>
          <a:p>
            <a:pPr marL="0" indent="0">
              <a:buNone/>
            </a:pPr>
            <a:r>
              <a:rPr lang="en-US" sz="10000" b="1" dirty="0">
                <a:solidFill>
                  <a:srgbClr val="FFCD00"/>
                </a:solidFill>
                <a:latin typeface="Arial Black" pitchFamily="34" charset="0"/>
                <a:ea typeface="Arial Black" pitchFamily="34" charset="-122"/>
                <a:cs typeface="Arial Black" pitchFamily="34" charset="-120"/>
              </a:rPr>
              <a:t>Quiz.</a:t>
            </a:r>
            <a:endParaRPr lang="en-US" sz="10000" dirty="0"/>
          </a:p>
        </p:txBody>
      </p:sp>
      <p:sp>
        <p:nvSpPr>
          <p:cNvPr id="5" name="Text 3"/>
          <p:cNvSpPr/>
          <p:nvPr/>
        </p:nvSpPr>
        <p:spPr>
          <a:xfrm>
            <a:off x="457200" y="3977640"/>
            <a:ext cx="5486400" cy="320040"/>
          </a:xfrm>
          <a:prstGeom prst="rect">
            <a:avLst/>
          </a:prstGeom>
          <a:noFill/>
          <a:ln/>
        </p:spPr>
        <p:txBody>
          <a:bodyPr wrap="square" rtlCol="0" anchor="ctr"/>
          <a:lstStyle/>
          <a:p>
            <a:pPr marL="0" indent="0">
              <a:buNone/>
            </a:pPr>
            <a:r>
              <a:rPr lang="en-US" sz="1400" i="1" dirty="0">
                <a:solidFill>
                  <a:srgbClr val="555555"/>
                </a:solidFill>
                <a:latin typeface="Arial" pitchFamily="34" charset="0"/>
                <a:ea typeface="Arial" pitchFamily="34" charset="-122"/>
                <a:cs typeface="Arial" pitchFamily="34" charset="-120"/>
              </a:rPr>
              <a:t>Cyber-safety for young learners</a:t>
            </a:r>
            <a:endParaRPr lang="en-US" sz="1400" dirty="0"/>
          </a:p>
        </p:txBody>
      </p:sp>
      <p:sp>
        <p:nvSpPr>
          <p:cNvPr id="6" name="Text 4"/>
          <p:cNvSpPr/>
          <p:nvPr/>
        </p:nvSpPr>
        <p:spPr>
          <a:xfrm>
            <a:off x="457200" y="4800600"/>
            <a:ext cx="8229600" cy="228600"/>
          </a:xfrm>
          <a:prstGeom prst="rect">
            <a:avLst/>
          </a:prstGeom>
          <a:noFill/>
          <a:ln/>
        </p:spPr>
        <p:txBody>
          <a:bodyPr wrap="square" rtlCol="0" anchor="ctr"/>
          <a:lstStyle/>
          <a:p>
            <a:pPr marL="0" indent="0">
              <a:buNone/>
            </a:pPr>
            <a:r>
              <a:rPr lang="en-US" sz="1000" dirty="0">
                <a:solidFill>
                  <a:srgbClr val="555555"/>
                </a:solidFill>
                <a:latin typeface="Arial" pitchFamily="34" charset="0"/>
                <a:ea typeface="Arial" pitchFamily="34" charset="-122"/>
                <a:cs typeface="Arial" pitchFamily="34" charset="-120"/>
              </a:rPr>
              <a:t>503IT  ·  Team The Originals  ·  Coventry University London</a:t>
            </a:r>
            <a:endParaRPr lang="en-US" sz="1000" dirty="0"/>
          </a:p>
        </p:txBody>
      </p:sp>
      <p:pic>
        <p:nvPicPr>
          <p:cNvPr id="8" name="Picture 7">
            <a:extLst>
              <a:ext uri="{FF2B5EF4-FFF2-40B4-BE49-F238E27FC236}">
                <a16:creationId xmlns:a16="http://schemas.microsoft.com/office/drawing/2014/main" id="{8A3F2623-BC3C-0C50-4513-1212BEAD6A84}"/>
              </a:ext>
            </a:extLst>
          </p:cNvPr>
          <p:cNvPicPr>
            <a:picLocks noChangeAspect="1"/>
          </p:cNvPicPr>
          <p:nvPr/>
        </p:nvPicPr>
        <p:blipFill>
          <a:blip r:embed="rId3"/>
          <a:stretch>
            <a:fillRect/>
          </a:stretch>
        </p:blipFill>
        <p:spPr>
          <a:xfrm>
            <a:off x="5759276" y="1114564"/>
            <a:ext cx="2826940" cy="2914371"/>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0"/>
          <p:cNvSpPr/>
          <p:nvPr/>
        </p:nvSpPr>
        <p:spPr>
          <a:xfrm>
            <a:off x="8458200" y="201168"/>
            <a:ext cx="256032" cy="256032"/>
          </a:xfrm>
          <a:prstGeom prst="ellipse">
            <a:avLst/>
          </a:prstGeom>
          <a:solidFill>
            <a:srgbClr val="DDDDDD"/>
          </a:solidFill>
          <a:ln/>
        </p:spPr>
        <p:txBody>
          <a:bodyPr/>
          <a:lstStyle/>
          <a:p>
            <a:endParaRPr lang="en-GB"/>
          </a:p>
        </p:txBody>
      </p:sp>
      <p:sp>
        <p:nvSpPr>
          <p:cNvPr id="3" name="Text 1"/>
          <p:cNvSpPr/>
          <p:nvPr/>
        </p:nvSpPr>
        <p:spPr>
          <a:xfrm>
            <a:off x="457200" y="274320"/>
            <a:ext cx="6400800" cy="228600"/>
          </a:xfrm>
          <a:prstGeom prst="rect">
            <a:avLst/>
          </a:prstGeom>
          <a:noFill/>
          <a:ln/>
        </p:spPr>
        <p:txBody>
          <a:bodyPr wrap="square" rtlCol="0" anchor="ctr"/>
          <a:lstStyle/>
          <a:p>
            <a:pPr marL="0" indent="0">
              <a:buNone/>
            </a:pPr>
            <a:r>
              <a:rPr lang="en-US" sz="1000" b="1" kern="0" spc="200" dirty="0">
                <a:solidFill>
                  <a:srgbClr val="888888"/>
                </a:solidFill>
                <a:latin typeface="Arial" pitchFamily="34" charset="0"/>
                <a:ea typeface="Arial" pitchFamily="34" charset="-122"/>
                <a:cs typeface="Arial" pitchFamily="34" charset="-120"/>
              </a:rPr>
              <a:t>THE BRIEF</a:t>
            </a:r>
            <a:endParaRPr lang="en-US" sz="1000" dirty="0"/>
          </a:p>
        </p:txBody>
      </p:sp>
      <p:sp>
        <p:nvSpPr>
          <p:cNvPr id="4" name="Text 2"/>
          <p:cNvSpPr/>
          <p:nvPr/>
        </p:nvSpPr>
        <p:spPr>
          <a:xfrm>
            <a:off x="3657600" y="4919472"/>
            <a:ext cx="5212080" cy="182880"/>
          </a:xfrm>
          <a:prstGeom prst="rect">
            <a:avLst/>
          </a:prstGeom>
          <a:noFill/>
          <a:ln/>
        </p:spPr>
        <p:txBody>
          <a:bodyPr wrap="square" rtlCol="0" anchor="ctr"/>
          <a:lstStyle/>
          <a:p>
            <a:pPr marL="0" indent="0" algn="r">
              <a:buNone/>
            </a:pPr>
            <a:r>
              <a:rPr lang="en-US" sz="900" dirty="0">
                <a:solidFill>
                  <a:srgbClr val="888888"/>
                </a:solidFill>
                <a:latin typeface="Arial" pitchFamily="34" charset="0"/>
                <a:ea typeface="Arial" pitchFamily="34" charset="-122"/>
                <a:cs typeface="Arial" pitchFamily="34" charset="-120"/>
              </a:rPr>
              <a:t>NINJA QUIZ  .  503IT  .  02 / 18</a:t>
            </a:r>
            <a:endParaRPr lang="en-US" sz="900" dirty="0"/>
          </a:p>
        </p:txBody>
      </p:sp>
      <p:sp>
        <p:nvSpPr>
          <p:cNvPr id="5" name="Text 3"/>
          <p:cNvSpPr/>
          <p:nvPr/>
        </p:nvSpPr>
        <p:spPr>
          <a:xfrm>
            <a:off x="457200" y="685800"/>
            <a:ext cx="8229600" cy="965200"/>
          </a:xfrm>
          <a:prstGeom prst="rect">
            <a:avLst/>
          </a:prstGeom>
          <a:noFill/>
          <a:ln/>
        </p:spPr>
        <p:txBody>
          <a:bodyPr wrap="square" rtlCol="0" anchor="ctr"/>
          <a:lstStyle/>
          <a:p>
            <a:pPr marL="0" indent="0">
              <a:buNone/>
            </a:pPr>
            <a:r>
              <a:rPr lang="en-US" sz="3800" b="1" dirty="0">
                <a:solidFill>
                  <a:srgbClr val="111111"/>
                </a:solidFill>
                <a:latin typeface="Arial Black" pitchFamily="34" charset="0"/>
                <a:ea typeface="Arial Black" pitchFamily="34" charset="-122"/>
                <a:cs typeface="Arial Black" pitchFamily="34" charset="-120"/>
              </a:rPr>
              <a:t>What we were asked to build.</a:t>
            </a:r>
            <a:endParaRPr lang="en-US" sz="3800" dirty="0"/>
          </a:p>
        </p:txBody>
      </p:sp>
      <p:sp>
        <p:nvSpPr>
          <p:cNvPr id="6" name="Shape 4"/>
          <p:cNvSpPr/>
          <p:nvPr/>
        </p:nvSpPr>
        <p:spPr>
          <a:xfrm>
            <a:off x="457200" y="1463040"/>
            <a:ext cx="8229600" cy="10973"/>
          </a:xfrm>
          <a:prstGeom prst="rect">
            <a:avLst/>
          </a:prstGeom>
          <a:solidFill>
            <a:srgbClr val="EEEEEE"/>
          </a:solidFill>
          <a:ln/>
        </p:spPr>
        <p:txBody>
          <a:bodyPr/>
          <a:lstStyle/>
          <a:p>
            <a:endParaRPr lang="en-GB"/>
          </a:p>
        </p:txBody>
      </p:sp>
      <p:sp>
        <p:nvSpPr>
          <p:cNvPr id="7" name="Shape 5"/>
          <p:cNvSpPr/>
          <p:nvPr/>
        </p:nvSpPr>
        <p:spPr>
          <a:xfrm>
            <a:off x="457200" y="1700784"/>
            <a:ext cx="128016" cy="128016"/>
          </a:xfrm>
          <a:prstGeom prst="rect">
            <a:avLst/>
          </a:prstGeom>
          <a:solidFill>
            <a:srgbClr val="FFCD00"/>
          </a:solidFill>
          <a:ln/>
        </p:spPr>
        <p:txBody>
          <a:bodyPr/>
          <a:lstStyle/>
          <a:p>
            <a:endParaRPr lang="en-GB"/>
          </a:p>
        </p:txBody>
      </p:sp>
      <p:sp>
        <p:nvSpPr>
          <p:cNvPr id="8" name="Text 6"/>
          <p:cNvSpPr/>
          <p:nvPr/>
        </p:nvSpPr>
        <p:spPr>
          <a:xfrm>
            <a:off x="749808" y="1572768"/>
            <a:ext cx="4206240" cy="411480"/>
          </a:xfrm>
          <a:prstGeom prst="rect">
            <a:avLst/>
          </a:prstGeom>
          <a:noFill/>
          <a:ln/>
        </p:spPr>
        <p:txBody>
          <a:bodyPr wrap="square" rtlCol="0" anchor="ctr"/>
          <a:lstStyle/>
          <a:p>
            <a:pPr marL="0" indent="0">
              <a:buNone/>
            </a:pPr>
            <a:r>
              <a:rPr lang="en-US" sz="1400" b="1" dirty="0">
                <a:solidFill>
                  <a:srgbClr val="111111"/>
                </a:solidFill>
                <a:latin typeface="Arial Black" pitchFamily="34" charset="0"/>
                <a:ea typeface="Arial Black" pitchFamily="34" charset="-122"/>
                <a:cs typeface="Arial Black" pitchFamily="34" charset="-120"/>
              </a:rPr>
              <a:t>The client</a:t>
            </a:r>
            <a:endParaRPr lang="en-US" sz="1400" dirty="0"/>
          </a:p>
        </p:txBody>
      </p:sp>
      <p:sp>
        <p:nvSpPr>
          <p:cNvPr id="9" name="Text 7"/>
          <p:cNvSpPr/>
          <p:nvPr/>
        </p:nvSpPr>
        <p:spPr>
          <a:xfrm>
            <a:off x="5074920" y="1572768"/>
            <a:ext cx="3657600" cy="411480"/>
          </a:xfrm>
          <a:prstGeom prst="rect">
            <a:avLst/>
          </a:prstGeom>
          <a:noFill/>
          <a:ln/>
        </p:spPr>
        <p:txBody>
          <a:bodyPr wrap="square" rtlCol="0" anchor="ctr"/>
          <a:lstStyle/>
          <a:p>
            <a:pPr marL="0" indent="0">
              <a:buNone/>
            </a:pPr>
            <a:r>
              <a:rPr lang="en-US" sz="1100" dirty="0">
                <a:solidFill>
                  <a:srgbClr val="888888"/>
                </a:solidFill>
                <a:latin typeface="Arial" pitchFamily="34" charset="0"/>
                <a:ea typeface="Arial" pitchFamily="34" charset="-122"/>
                <a:cs typeface="Arial" pitchFamily="34" charset="-120"/>
              </a:rPr>
              <a:t>503IT brief — build a cyber-safety game for young users</a:t>
            </a:r>
            <a:endParaRPr lang="en-US" sz="1300" dirty="0"/>
          </a:p>
        </p:txBody>
      </p:sp>
      <p:sp>
        <p:nvSpPr>
          <p:cNvPr id="10" name="Shape 8"/>
          <p:cNvSpPr/>
          <p:nvPr/>
        </p:nvSpPr>
        <p:spPr>
          <a:xfrm>
            <a:off x="457200" y="2029968"/>
            <a:ext cx="8229600" cy="10973"/>
          </a:xfrm>
          <a:prstGeom prst="rect">
            <a:avLst/>
          </a:prstGeom>
          <a:solidFill>
            <a:srgbClr val="EEEEEE"/>
          </a:solidFill>
          <a:ln/>
        </p:spPr>
        <p:txBody>
          <a:bodyPr/>
          <a:lstStyle/>
          <a:p>
            <a:endParaRPr lang="en-GB"/>
          </a:p>
        </p:txBody>
      </p:sp>
      <p:sp>
        <p:nvSpPr>
          <p:cNvPr id="11" name="Shape 9"/>
          <p:cNvSpPr/>
          <p:nvPr/>
        </p:nvSpPr>
        <p:spPr>
          <a:xfrm>
            <a:off x="457200" y="2276856"/>
            <a:ext cx="128016" cy="128016"/>
          </a:xfrm>
          <a:prstGeom prst="rect">
            <a:avLst/>
          </a:prstGeom>
          <a:solidFill>
            <a:srgbClr val="FFCD00"/>
          </a:solidFill>
          <a:ln/>
        </p:spPr>
        <p:txBody>
          <a:bodyPr/>
          <a:lstStyle/>
          <a:p>
            <a:endParaRPr lang="en-GB"/>
          </a:p>
        </p:txBody>
      </p:sp>
      <p:sp>
        <p:nvSpPr>
          <p:cNvPr id="12" name="Text 10"/>
          <p:cNvSpPr/>
          <p:nvPr/>
        </p:nvSpPr>
        <p:spPr>
          <a:xfrm>
            <a:off x="749808" y="2148840"/>
            <a:ext cx="4206240" cy="411480"/>
          </a:xfrm>
          <a:prstGeom prst="rect">
            <a:avLst/>
          </a:prstGeom>
          <a:noFill/>
          <a:ln/>
        </p:spPr>
        <p:txBody>
          <a:bodyPr wrap="square" rtlCol="0" anchor="ctr"/>
          <a:lstStyle/>
          <a:p>
            <a:pPr marL="0" indent="0">
              <a:buNone/>
            </a:pPr>
            <a:r>
              <a:rPr lang="en-US" sz="1400" b="1" dirty="0">
                <a:solidFill>
                  <a:srgbClr val="111111"/>
                </a:solidFill>
                <a:latin typeface="Arial Black" pitchFamily="34" charset="0"/>
                <a:ea typeface="Arial Black" pitchFamily="34" charset="-122"/>
                <a:cs typeface="Arial Black" pitchFamily="34" charset="-120"/>
              </a:rPr>
              <a:t>The problem</a:t>
            </a:r>
            <a:endParaRPr lang="en-US" sz="1400" dirty="0"/>
          </a:p>
        </p:txBody>
      </p:sp>
      <p:sp>
        <p:nvSpPr>
          <p:cNvPr id="13" name="Text 11"/>
          <p:cNvSpPr/>
          <p:nvPr/>
        </p:nvSpPr>
        <p:spPr>
          <a:xfrm>
            <a:off x="5074920" y="2148840"/>
            <a:ext cx="3657600" cy="411480"/>
          </a:xfrm>
          <a:prstGeom prst="rect">
            <a:avLst/>
          </a:prstGeom>
          <a:noFill/>
          <a:ln/>
        </p:spPr>
        <p:txBody>
          <a:bodyPr wrap="square" rtlCol="0" anchor="ctr"/>
          <a:lstStyle/>
          <a:p>
            <a:pPr marL="0" indent="0">
              <a:buNone/>
            </a:pPr>
            <a:r>
              <a:rPr lang="en-US" sz="1100" dirty="0">
                <a:solidFill>
                  <a:srgbClr val="888888"/>
                </a:solidFill>
                <a:latin typeface="Arial" pitchFamily="34" charset="0"/>
                <a:ea typeface="Arial" pitchFamily="34" charset="-122"/>
                <a:cs typeface="Arial" pitchFamily="34" charset="-120"/>
              </a:rPr>
              <a:t>Kids face online risks daily, but lessons rarely engage them</a:t>
            </a:r>
            <a:endParaRPr lang="en-US" sz="1300" dirty="0"/>
          </a:p>
        </p:txBody>
      </p:sp>
      <p:sp>
        <p:nvSpPr>
          <p:cNvPr id="14" name="Shape 12"/>
          <p:cNvSpPr/>
          <p:nvPr/>
        </p:nvSpPr>
        <p:spPr>
          <a:xfrm>
            <a:off x="457200" y="2606040"/>
            <a:ext cx="8229600" cy="10973"/>
          </a:xfrm>
          <a:prstGeom prst="rect">
            <a:avLst/>
          </a:prstGeom>
          <a:solidFill>
            <a:srgbClr val="EEEEEE"/>
          </a:solidFill>
          <a:ln/>
        </p:spPr>
        <p:txBody>
          <a:bodyPr/>
          <a:lstStyle/>
          <a:p>
            <a:endParaRPr lang="en-GB"/>
          </a:p>
        </p:txBody>
      </p:sp>
      <p:sp>
        <p:nvSpPr>
          <p:cNvPr id="15" name="Shape 13"/>
          <p:cNvSpPr/>
          <p:nvPr/>
        </p:nvSpPr>
        <p:spPr>
          <a:xfrm>
            <a:off x="457200" y="2852928"/>
            <a:ext cx="128016" cy="128016"/>
          </a:xfrm>
          <a:prstGeom prst="rect">
            <a:avLst/>
          </a:prstGeom>
          <a:solidFill>
            <a:srgbClr val="FFCD00"/>
          </a:solidFill>
          <a:ln/>
        </p:spPr>
        <p:txBody>
          <a:bodyPr/>
          <a:lstStyle/>
          <a:p>
            <a:endParaRPr lang="en-GB"/>
          </a:p>
        </p:txBody>
      </p:sp>
      <p:sp>
        <p:nvSpPr>
          <p:cNvPr id="16" name="Text 14"/>
          <p:cNvSpPr/>
          <p:nvPr/>
        </p:nvSpPr>
        <p:spPr>
          <a:xfrm>
            <a:off x="749808" y="2724912"/>
            <a:ext cx="4206240" cy="411480"/>
          </a:xfrm>
          <a:prstGeom prst="rect">
            <a:avLst/>
          </a:prstGeom>
          <a:noFill/>
          <a:ln/>
        </p:spPr>
        <p:txBody>
          <a:bodyPr wrap="square" rtlCol="0" anchor="ctr"/>
          <a:lstStyle/>
          <a:p>
            <a:pPr marL="0" indent="0">
              <a:buNone/>
            </a:pPr>
            <a:r>
              <a:rPr lang="en-US" sz="1400" b="1" dirty="0">
                <a:solidFill>
                  <a:srgbClr val="111111"/>
                </a:solidFill>
                <a:latin typeface="Arial Black" pitchFamily="34" charset="0"/>
                <a:ea typeface="Arial Black" pitchFamily="34" charset="-122"/>
                <a:cs typeface="Arial Black" pitchFamily="34" charset="-120"/>
              </a:rPr>
              <a:t>The audience</a:t>
            </a:r>
            <a:endParaRPr lang="en-US" sz="1400" dirty="0"/>
          </a:p>
        </p:txBody>
      </p:sp>
      <p:sp>
        <p:nvSpPr>
          <p:cNvPr id="17" name="Text 15"/>
          <p:cNvSpPr/>
          <p:nvPr/>
        </p:nvSpPr>
        <p:spPr>
          <a:xfrm>
            <a:off x="5074920" y="2724912"/>
            <a:ext cx="3657600" cy="411480"/>
          </a:xfrm>
          <a:prstGeom prst="rect">
            <a:avLst/>
          </a:prstGeom>
          <a:noFill/>
          <a:ln/>
        </p:spPr>
        <p:txBody>
          <a:bodyPr wrap="square" rtlCol="0" anchor="ctr"/>
          <a:lstStyle/>
          <a:p>
            <a:pPr marL="0" indent="0">
              <a:buNone/>
            </a:pPr>
            <a:r>
              <a:rPr lang="en-US" sz="1100" dirty="0">
                <a:solidFill>
                  <a:srgbClr val="888888"/>
                </a:solidFill>
                <a:latin typeface="Arial" pitchFamily="34" charset="0"/>
                <a:ea typeface="Arial" pitchFamily="34" charset="-122"/>
                <a:cs typeface="Arial" pitchFamily="34" charset="-120"/>
              </a:rPr>
              <a:t>Children aged 8–14 — schools, educators and parents</a:t>
            </a:r>
            <a:endParaRPr lang="en-US" sz="1300" dirty="0"/>
          </a:p>
        </p:txBody>
      </p:sp>
      <p:sp>
        <p:nvSpPr>
          <p:cNvPr id="18" name="Shape 16"/>
          <p:cNvSpPr/>
          <p:nvPr/>
        </p:nvSpPr>
        <p:spPr>
          <a:xfrm>
            <a:off x="457200" y="3182112"/>
            <a:ext cx="8229600" cy="10973"/>
          </a:xfrm>
          <a:prstGeom prst="rect">
            <a:avLst/>
          </a:prstGeom>
          <a:solidFill>
            <a:srgbClr val="EEEEEE"/>
          </a:solidFill>
          <a:ln/>
        </p:spPr>
        <p:txBody>
          <a:bodyPr/>
          <a:lstStyle/>
          <a:p>
            <a:endParaRPr lang="en-GB"/>
          </a:p>
        </p:txBody>
      </p:sp>
      <p:sp>
        <p:nvSpPr>
          <p:cNvPr id="19" name="Shape 17"/>
          <p:cNvSpPr/>
          <p:nvPr/>
        </p:nvSpPr>
        <p:spPr>
          <a:xfrm>
            <a:off x="457200" y="3429000"/>
            <a:ext cx="128016" cy="128016"/>
          </a:xfrm>
          <a:prstGeom prst="rect">
            <a:avLst/>
          </a:prstGeom>
          <a:solidFill>
            <a:srgbClr val="FFCD00"/>
          </a:solidFill>
          <a:ln/>
        </p:spPr>
        <p:txBody>
          <a:bodyPr/>
          <a:lstStyle/>
          <a:p>
            <a:endParaRPr lang="en-GB"/>
          </a:p>
        </p:txBody>
      </p:sp>
      <p:sp>
        <p:nvSpPr>
          <p:cNvPr id="20" name="Text 18"/>
          <p:cNvSpPr/>
          <p:nvPr/>
        </p:nvSpPr>
        <p:spPr>
          <a:xfrm>
            <a:off x="749808" y="3300984"/>
            <a:ext cx="4206240" cy="411480"/>
          </a:xfrm>
          <a:prstGeom prst="rect">
            <a:avLst/>
          </a:prstGeom>
          <a:noFill/>
          <a:ln/>
        </p:spPr>
        <p:txBody>
          <a:bodyPr wrap="square" rtlCol="0" anchor="ctr"/>
          <a:lstStyle/>
          <a:p>
            <a:pPr marL="0" indent="0">
              <a:buNone/>
            </a:pPr>
            <a:r>
              <a:rPr lang="en-US" sz="1400" b="1" dirty="0">
                <a:solidFill>
                  <a:srgbClr val="111111"/>
                </a:solidFill>
                <a:latin typeface="Arial Black" pitchFamily="34" charset="0"/>
                <a:ea typeface="Arial Black" pitchFamily="34" charset="-122"/>
                <a:cs typeface="Arial Black" pitchFamily="34" charset="-120"/>
              </a:rPr>
              <a:t>The ask</a:t>
            </a:r>
            <a:endParaRPr lang="en-US" sz="1400" dirty="0"/>
          </a:p>
        </p:txBody>
      </p:sp>
      <p:sp>
        <p:nvSpPr>
          <p:cNvPr id="21" name="Text 19"/>
          <p:cNvSpPr/>
          <p:nvPr/>
        </p:nvSpPr>
        <p:spPr>
          <a:xfrm>
            <a:off x="5074920" y="3300984"/>
            <a:ext cx="3657600" cy="411480"/>
          </a:xfrm>
          <a:prstGeom prst="rect">
            <a:avLst/>
          </a:prstGeom>
          <a:noFill/>
          <a:ln/>
        </p:spPr>
        <p:txBody>
          <a:bodyPr wrap="square" rtlCol="0" anchor="ctr"/>
          <a:lstStyle/>
          <a:p>
            <a:pPr marL="0" indent="0">
              <a:buNone/>
            </a:pPr>
            <a:r>
              <a:rPr lang="en-US" sz="1100" dirty="0">
                <a:solidFill>
                  <a:srgbClr val="888888"/>
                </a:solidFill>
                <a:latin typeface="Arial" pitchFamily="34" charset="0"/>
                <a:ea typeface="Arial" pitchFamily="34" charset="-122"/>
                <a:cs typeface="Arial" pitchFamily="34" charset="-120"/>
              </a:rPr>
              <a:t>A working browser game — five people, four weeks</a:t>
            </a:r>
            <a:endParaRPr lang="en-US" sz="1300" dirty="0"/>
          </a:p>
        </p:txBody>
      </p:sp>
      <p:sp>
        <p:nvSpPr>
          <p:cNvPr id="22" name="Shape 20"/>
          <p:cNvSpPr/>
          <p:nvPr/>
        </p:nvSpPr>
        <p:spPr>
          <a:xfrm>
            <a:off x="457200" y="3758184"/>
            <a:ext cx="8229600" cy="10973"/>
          </a:xfrm>
          <a:prstGeom prst="rect">
            <a:avLst/>
          </a:prstGeom>
          <a:solidFill>
            <a:srgbClr val="EEEEEE"/>
          </a:solidFill>
          <a:ln/>
        </p:spPr>
        <p:txBody>
          <a:bodyPr/>
          <a:lstStyle/>
          <a:p>
            <a:endParaRPr lang="en-GB"/>
          </a:p>
        </p:txBody>
      </p:sp>
      <p:sp>
        <p:nvSpPr>
          <p:cNvPr id="23" name="Shape 21"/>
          <p:cNvSpPr/>
          <p:nvPr/>
        </p:nvSpPr>
        <p:spPr>
          <a:xfrm>
            <a:off x="457200" y="4005072"/>
            <a:ext cx="128016" cy="128016"/>
          </a:xfrm>
          <a:prstGeom prst="rect">
            <a:avLst/>
          </a:prstGeom>
          <a:solidFill>
            <a:srgbClr val="FFCD00"/>
          </a:solidFill>
          <a:ln/>
        </p:spPr>
        <p:txBody>
          <a:bodyPr/>
          <a:lstStyle/>
          <a:p>
            <a:endParaRPr lang="en-GB"/>
          </a:p>
        </p:txBody>
      </p:sp>
      <p:sp>
        <p:nvSpPr>
          <p:cNvPr id="24" name="Text 22"/>
          <p:cNvSpPr/>
          <p:nvPr/>
        </p:nvSpPr>
        <p:spPr>
          <a:xfrm>
            <a:off x="749808" y="3877056"/>
            <a:ext cx="4206240" cy="411480"/>
          </a:xfrm>
          <a:prstGeom prst="rect">
            <a:avLst/>
          </a:prstGeom>
          <a:noFill/>
          <a:ln/>
        </p:spPr>
        <p:txBody>
          <a:bodyPr wrap="square" rtlCol="0" anchor="ctr"/>
          <a:lstStyle/>
          <a:p>
            <a:pPr marL="0" indent="0">
              <a:buNone/>
            </a:pPr>
            <a:r>
              <a:rPr lang="en-US" sz="1400" b="1" dirty="0">
                <a:solidFill>
                  <a:srgbClr val="111111"/>
                </a:solidFill>
                <a:latin typeface="Arial Black" pitchFamily="34" charset="0"/>
                <a:ea typeface="Arial Black" pitchFamily="34" charset="-122"/>
                <a:cs typeface="Arial Black" pitchFamily="34" charset="-120"/>
              </a:rPr>
              <a:t>The constraint</a:t>
            </a:r>
            <a:endParaRPr lang="en-US" sz="1400" dirty="0"/>
          </a:p>
        </p:txBody>
      </p:sp>
      <p:sp>
        <p:nvSpPr>
          <p:cNvPr id="25" name="Text 23"/>
          <p:cNvSpPr/>
          <p:nvPr/>
        </p:nvSpPr>
        <p:spPr>
          <a:xfrm>
            <a:off x="5074920" y="3877056"/>
            <a:ext cx="3657600" cy="411480"/>
          </a:xfrm>
          <a:prstGeom prst="rect">
            <a:avLst/>
          </a:prstGeom>
          <a:noFill/>
          <a:ln/>
        </p:spPr>
        <p:txBody>
          <a:bodyPr wrap="square" rtlCol="0" anchor="ctr"/>
          <a:lstStyle/>
          <a:p>
            <a:pPr marL="0" indent="0">
              <a:buNone/>
            </a:pPr>
            <a:r>
              <a:rPr lang="en-US" sz="1100" dirty="0">
                <a:solidFill>
                  <a:srgbClr val="888888"/>
                </a:solidFill>
                <a:latin typeface="Arial" pitchFamily="34" charset="0"/>
                <a:ea typeface="Arial" pitchFamily="34" charset="-122"/>
                <a:cs typeface="Arial" pitchFamily="34" charset="-120"/>
              </a:rPr>
              <a:t>HTML, CSS, JavaScript only — four-week window</a:t>
            </a:r>
            <a:endParaRPr lang="en-US" sz="1300" dirty="0"/>
          </a:p>
        </p:txBody>
      </p:sp>
      <p:sp>
        <p:nvSpPr>
          <p:cNvPr id="26" name="Shape 24"/>
          <p:cNvSpPr/>
          <p:nvPr/>
        </p:nvSpPr>
        <p:spPr>
          <a:xfrm>
            <a:off x="457200" y="4334256"/>
            <a:ext cx="8229600" cy="10973"/>
          </a:xfrm>
          <a:prstGeom prst="rect">
            <a:avLst/>
          </a:prstGeom>
          <a:solidFill>
            <a:srgbClr val="EEEEEE"/>
          </a:solidFill>
          <a:ln/>
        </p:spPr>
        <p:txBody>
          <a:bodyPr/>
          <a:lstStyle/>
          <a:p>
            <a:endParaRPr lang="en-GB"/>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0D0D0D"/>
        </a:solidFill>
        <a:effectLst/>
      </p:bgPr>
    </p:bg>
    <p:spTree>
      <p:nvGrpSpPr>
        <p:cNvPr id="1" name=""/>
        <p:cNvGrpSpPr/>
        <p:nvPr/>
      </p:nvGrpSpPr>
      <p:grpSpPr>
        <a:xfrm>
          <a:off x="0" y="0"/>
          <a:ext cx="0" cy="0"/>
          <a:chOff x="0" y="0"/>
          <a:chExt cx="0" cy="0"/>
        </a:xfrm>
      </p:grpSpPr>
      <p:sp>
        <p:nvSpPr>
          <p:cNvPr id="2" name="Shape 0"/>
          <p:cNvSpPr/>
          <p:nvPr/>
        </p:nvSpPr>
        <p:spPr>
          <a:xfrm>
            <a:off x="8458200" y="201168"/>
            <a:ext cx="256032" cy="256032"/>
          </a:xfrm>
          <a:prstGeom prst="ellipse">
            <a:avLst/>
          </a:prstGeom>
          <a:solidFill>
            <a:srgbClr val="FFCD00"/>
          </a:solidFill>
          <a:ln/>
        </p:spPr>
        <p:txBody>
          <a:bodyPr/>
          <a:lstStyle/>
          <a:p>
            <a:endParaRPr lang="en-GB"/>
          </a:p>
        </p:txBody>
      </p:sp>
      <p:sp>
        <p:nvSpPr>
          <p:cNvPr id="3" name="Text 1"/>
          <p:cNvSpPr/>
          <p:nvPr/>
        </p:nvSpPr>
        <p:spPr>
          <a:xfrm>
            <a:off x="457200" y="274320"/>
            <a:ext cx="6400800" cy="228600"/>
          </a:xfrm>
          <a:prstGeom prst="rect">
            <a:avLst/>
          </a:prstGeom>
          <a:noFill/>
          <a:ln/>
        </p:spPr>
        <p:txBody>
          <a:bodyPr wrap="square" rtlCol="0" anchor="ctr"/>
          <a:lstStyle/>
          <a:p>
            <a:pPr marL="0" indent="0">
              <a:buNone/>
            </a:pPr>
            <a:endParaRPr lang="en-US" sz="1000" dirty="0"/>
          </a:p>
        </p:txBody>
      </p:sp>
      <p:sp>
        <p:nvSpPr>
          <p:cNvPr id="4" name="Text 2"/>
          <p:cNvSpPr/>
          <p:nvPr/>
        </p:nvSpPr>
        <p:spPr>
          <a:xfrm>
            <a:off x="3657600" y="4919472"/>
            <a:ext cx="5212080" cy="182880"/>
          </a:xfrm>
          <a:prstGeom prst="rect">
            <a:avLst/>
          </a:prstGeom>
          <a:noFill/>
          <a:ln/>
        </p:spPr>
        <p:txBody>
          <a:bodyPr wrap="square" rtlCol="0" anchor="ctr"/>
          <a:lstStyle/>
          <a:p>
            <a:pPr marL="0" indent="0" algn="r">
              <a:buNone/>
            </a:pPr>
            <a:r>
              <a:rPr lang="en-US" sz="900" dirty="0">
                <a:solidFill>
                  <a:srgbClr val="555555"/>
                </a:solidFill>
                <a:latin typeface="Arial" pitchFamily="34" charset="0"/>
                <a:ea typeface="Arial" pitchFamily="34" charset="-122"/>
                <a:cs typeface="Arial" pitchFamily="34" charset="-120"/>
              </a:rPr>
              <a:t>NINJA QUIZ  ·  503IT  ·  03 / 18</a:t>
            </a:r>
            <a:endParaRPr lang="en-US" sz="900" dirty="0"/>
          </a:p>
        </p:txBody>
      </p:sp>
      <p:sp>
        <p:nvSpPr>
          <p:cNvPr id="5" name="Text 3"/>
          <p:cNvSpPr/>
          <p:nvPr/>
        </p:nvSpPr>
        <p:spPr>
          <a:xfrm>
            <a:off x="457200" y="1463040"/>
            <a:ext cx="8229600" cy="1524000"/>
          </a:xfrm>
          <a:prstGeom prst="rect">
            <a:avLst/>
          </a:prstGeom>
          <a:noFill/>
          <a:ln/>
        </p:spPr>
        <p:txBody>
          <a:bodyPr wrap="square" rtlCol="0" anchor="ctr"/>
          <a:lstStyle/>
          <a:p>
            <a:pPr marL="0" indent="0">
              <a:buNone/>
            </a:pPr>
            <a:r>
              <a:rPr lang="en-US" sz="6000" b="1" dirty="0">
                <a:solidFill>
                  <a:srgbClr val="FFFFFF"/>
                </a:solidFill>
                <a:latin typeface="Arial Black" pitchFamily="34" charset="0"/>
                <a:ea typeface="Arial Black" pitchFamily="34" charset="-122"/>
                <a:cs typeface="Arial Black" pitchFamily="34" charset="-120"/>
              </a:rPr>
              <a:t>The team.</a:t>
            </a:r>
            <a:endParaRPr lang="en-US" sz="6000" dirty="0"/>
          </a:p>
        </p:txBody>
      </p:sp>
      <p:sp>
        <p:nvSpPr>
          <p:cNvPr id="6" name="Text 4"/>
          <p:cNvSpPr/>
          <p:nvPr/>
        </p:nvSpPr>
        <p:spPr>
          <a:xfrm>
            <a:off x="457200" y="3200400"/>
            <a:ext cx="7772400" cy="320040"/>
          </a:xfrm>
          <a:prstGeom prst="rect">
            <a:avLst/>
          </a:prstGeom>
          <a:noFill/>
          <a:ln/>
        </p:spPr>
        <p:txBody>
          <a:bodyPr wrap="square" rtlCol="0" anchor="ctr"/>
          <a:lstStyle/>
          <a:p>
            <a:pPr marL="0" indent="0">
              <a:buNone/>
            </a:pPr>
            <a:r>
              <a:rPr lang="en-US" sz="1400" dirty="0">
                <a:solidFill>
                  <a:srgbClr val="555555"/>
                </a:solidFill>
                <a:latin typeface="Arial" pitchFamily="34" charset="0"/>
                <a:ea typeface="Arial" pitchFamily="34" charset="-122"/>
                <a:cs typeface="Arial" pitchFamily="34" charset="-120"/>
              </a:rPr>
              <a:t>Who we are. What we each owned.</a:t>
            </a:r>
            <a:endParaRPr lang="en-US" sz="14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8458200" y="201168"/>
            <a:ext cx="256032" cy="256032"/>
          </a:xfrm>
          <a:prstGeom prst="ellipse">
            <a:avLst/>
          </a:prstGeom>
          <a:solidFill>
            <a:srgbClr val="DDDDDD"/>
          </a:solidFill>
          <a:ln/>
        </p:spPr>
        <p:txBody>
          <a:bodyPr/>
          <a:lstStyle/>
          <a:p>
            <a:endParaRPr lang="en-GB"/>
          </a:p>
        </p:txBody>
      </p:sp>
      <p:sp>
        <p:nvSpPr>
          <p:cNvPr id="3" name="Text 1"/>
          <p:cNvSpPr/>
          <p:nvPr/>
        </p:nvSpPr>
        <p:spPr>
          <a:xfrm>
            <a:off x="457200" y="274320"/>
            <a:ext cx="6400800" cy="228600"/>
          </a:xfrm>
          <a:prstGeom prst="rect">
            <a:avLst/>
          </a:prstGeom>
          <a:noFill/>
          <a:ln/>
        </p:spPr>
        <p:txBody>
          <a:bodyPr wrap="square" rtlCol="0" anchor="ctr"/>
          <a:lstStyle/>
          <a:p>
            <a:pPr marL="0" indent="0">
              <a:buNone/>
            </a:pPr>
            <a:r>
              <a:rPr lang="en-US" sz="1000" b="1" kern="0" spc="200" dirty="0">
                <a:solidFill>
                  <a:srgbClr val="888888"/>
                </a:solidFill>
                <a:latin typeface="Arial" pitchFamily="34" charset="0"/>
                <a:ea typeface="Arial" pitchFamily="34" charset="-122"/>
                <a:cs typeface="Arial" pitchFamily="34" charset="-120"/>
              </a:rPr>
              <a:t>THE TEAM</a:t>
            </a:r>
            <a:endParaRPr lang="en-US" sz="1000" dirty="0"/>
          </a:p>
        </p:txBody>
      </p:sp>
      <p:sp>
        <p:nvSpPr>
          <p:cNvPr id="4" name="Text 2"/>
          <p:cNvSpPr/>
          <p:nvPr/>
        </p:nvSpPr>
        <p:spPr>
          <a:xfrm>
            <a:off x="3657600" y="4919472"/>
            <a:ext cx="5212080" cy="182880"/>
          </a:xfrm>
          <a:prstGeom prst="rect">
            <a:avLst/>
          </a:prstGeom>
          <a:noFill/>
          <a:ln/>
        </p:spPr>
        <p:txBody>
          <a:bodyPr wrap="square" rtlCol="0" anchor="ctr"/>
          <a:lstStyle/>
          <a:p>
            <a:pPr marL="0" indent="0" algn="r">
              <a:buNone/>
            </a:pPr>
            <a:r>
              <a:rPr lang="en-US" sz="900" dirty="0">
                <a:solidFill>
                  <a:srgbClr val="888888"/>
                </a:solidFill>
                <a:latin typeface="Arial" pitchFamily="34" charset="0"/>
                <a:ea typeface="Arial" pitchFamily="34" charset="-122"/>
                <a:cs typeface="Arial" pitchFamily="34" charset="-120"/>
              </a:rPr>
              <a:t>NINJA QUIZ  ·  503IT  ·  04 / 18</a:t>
            </a:r>
            <a:endParaRPr lang="en-US" sz="900" dirty="0"/>
          </a:p>
        </p:txBody>
      </p:sp>
      <p:sp>
        <p:nvSpPr>
          <p:cNvPr id="5" name="Text 3"/>
          <p:cNvSpPr/>
          <p:nvPr/>
        </p:nvSpPr>
        <p:spPr>
          <a:xfrm>
            <a:off x="457200" y="685800"/>
            <a:ext cx="8229600" cy="812800"/>
          </a:xfrm>
          <a:prstGeom prst="rect">
            <a:avLst/>
          </a:prstGeom>
          <a:noFill/>
          <a:ln/>
        </p:spPr>
        <p:txBody>
          <a:bodyPr wrap="square" rtlCol="0" anchor="ctr"/>
          <a:lstStyle/>
          <a:p>
            <a:pPr marL="0" indent="0">
              <a:buNone/>
            </a:pPr>
            <a:r>
              <a:rPr lang="en-US" sz="3200" b="1" dirty="0">
                <a:solidFill>
                  <a:srgbClr val="111111"/>
                </a:solidFill>
                <a:latin typeface="Arial Black" pitchFamily="34" charset="0"/>
                <a:ea typeface="Arial Black" pitchFamily="34" charset="-122"/>
                <a:cs typeface="Arial Black" pitchFamily="34" charset="-120"/>
              </a:rPr>
              <a:t>Five people. One piece each.</a:t>
            </a:r>
            <a:endParaRPr lang="en-US" sz="3200" dirty="0"/>
          </a:p>
        </p:txBody>
      </p:sp>
      <p:sp>
        <p:nvSpPr>
          <p:cNvPr id="6" name="Shape 4"/>
          <p:cNvSpPr/>
          <p:nvPr/>
        </p:nvSpPr>
        <p:spPr>
          <a:xfrm>
            <a:off x="457200" y="1463040"/>
            <a:ext cx="8229600" cy="10973"/>
          </a:xfrm>
          <a:prstGeom prst="rect">
            <a:avLst/>
          </a:prstGeom>
          <a:solidFill>
            <a:srgbClr val="EEEEEE"/>
          </a:solidFill>
          <a:ln/>
        </p:spPr>
        <p:txBody>
          <a:bodyPr/>
          <a:lstStyle/>
          <a:p>
            <a:endParaRPr lang="en-GB"/>
          </a:p>
        </p:txBody>
      </p:sp>
      <p:sp>
        <p:nvSpPr>
          <p:cNvPr id="7" name="Text 5"/>
          <p:cNvSpPr/>
          <p:nvPr/>
        </p:nvSpPr>
        <p:spPr>
          <a:xfrm>
            <a:off x="457200" y="1609344"/>
            <a:ext cx="868680" cy="411480"/>
          </a:xfrm>
          <a:prstGeom prst="rect">
            <a:avLst/>
          </a:prstGeom>
          <a:noFill/>
          <a:ln/>
        </p:spPr>
        <p:txBody>
          <a:bodyPr wrap="square" rtlCol="0" anchor="ctr">
            <a:normAutofit/>
          </a:bodyPr>
          <a:lstStyle/>
          <a:p>
            <a:pPr marL="0" indent="0">
              <a:buNone/>
            </a:pPr>
            <a:r>
              <a:rPr lang="en-US" sz="2000" b="1" dirty="0">
                <a:solidFill>
                  <a:srgbClr val="FFCD00"/>
                </a:solidFill>
                <a:latin typeface="Arial Black" pitchFamily="34" charset="0"/>
                <a:ea typeface="Arial Black" pitchFamily="34" charset="-122"/>
                <a:cs typeface="Arial Black" pitchFamily="34" charset="-120"/>
              </a:rPr>
              <a:t>01</a:t>
            </a:r>
            <a:endParaRPr lang="en-US" sz="2000" dirty="0"/>
          </a:p>
        </p:txBody>
      </p:sp>
      <p:sp>
        <p:nvSpPr>
          <p:cNvPr id="8" name="Text 6"/>
          <p:cNvSpPr/>
          <p:nvPr/>
        </p:nvSpPr>
        <p:spPr>
          <a:xfrm>
            <a:off x="1371600" y="1591056"/>
            <a:ext cx="7315200" cy="292608"/>
          </a:xfrm>
          <a:prstGeom prst="rect">
            <a:avLst/>
          </a:prstGeom>
          <a:noFill/>
          <a:ln/>
        </p:spPr>
        <p:txBody>
          <a:bodyPr wrap="square" rtlCol="0" anchor="ctr"/>
          <a:lstStyle/>
          <a:p>
            <a:pPr marL="0" indent="0">
              <a:buNone/>
            </a:pPr>
            <a:r>
              <a:rPr lang="en-US" sz="1700" b="1" dirty="0">
                <a:solidFill>
                  <a:srgbClr val="111111"/>
                </a:solidFill>
                <a:latin typeface="Arial Black" pitchFamily="34" charset="0"/>
                <a:ea typeface="Arial Black" pitchFamily="34" charset="-122"/>
                <a:cs typeface="Arial Black" pitchFamily="34" charset="-120"/>
              </a:rPr>
              <a:t>Mukesh</a:t>
            </a:r>
            <a:endParaRPr lang="en-US" sz="1700" dirty="0"/>
          </a:p>
        </p:txBody>
      </p:sp>
      <p:sp>
        <p:nvSpPr>
          <p:cNvPr id="9" name="Text 7"/>
          <p:cNvSpPr/>
          <p:nvPr/>
        </p:nvSpPr>
        <p:spPr>
          <a:xfrm>
            <a:off x="1371600" y="1892808"/>
            <a:ext cx="7315200" cy="228600"/>
          </a:xfrm>
          <a:prstGeom prst="rect">
            <a:avLst/>
          </a:prstGeom>
          <a:noFill/>
          <a:ln/>
        </p:spPr>
        <p:txBody>
          <a:bodyPr wrap="square" rtlCol="0" anchor="ctr"/>
          <a:lstStyle/>
          <a:p>
            <a:pPr marL="0" indent="0">
              <a:buNone/>
            </a:pPr>
            <a:r>
              <a:rPr lang="en-US" sz="1200" dirty="0">
                <a:solidFill>
                  <a:srgbClr val="888888"/>
                </a:solidFill>
                <a:latin typeface="Arial" pitchFamily="34" charset="0"/>
                <a:ea typeface="Arial" pitchFamily="34" charset="-122"/>
                <a:cs typeface="Arial" pitchFamily="34" charset="-120"/>
              </a:rPr>
              <a:t>Coordinator — planning, integration, client liaison</a:t>
            </a:r>
            <a:endParaRPr lang="en-US" sz="1200" dirty="0"/>
          </a:p>
        </p:txBody>
      </p:sp>
      <p:sp>
        <p:nvSpPr>
          <p:cNvPr id="10" name="Text 8"/>
          <p:cNvSpPr/>
          <p:nvPr/>
        </p:nvSpPr>
        <p:spPr>
          <a:xfrm>
            <a:off x="457200" y="2276856"/>
            <a:ext cx="868680" cy="411480"/>
          </a:xfrm>
          <a:prstGeom prst="rect">
            <a:avLst/>
          </a:prstGeom>
          <a:noFill/>
          <a:ln/>
        </p:spPr>
        <p:txBody>
          <a:bodyPr wrap="square" rtlCol="0" anchor="ctr">
            <a:normAutofit/>
          </a:bodyPr>
          <a:lstStyle/>
          <a:p>
            <a:pPr marL="0" indent="0">
              <a:buNone/>
            </a:pPr>
            <a:r>
              <a:rPr lang="en-US" sz="2000" b="1" dirty="0">
                <a:solidFill>
                  <a:srgbClr val="FFCD00"/>
                </a:solidFill>
                <a:latin typeface="Arial Black" pitchFamily="34" charset="0"/>
                <a:ea typeface="Arial Black" pitchFamily="34" charset="-122"/>
                <a:cs typeface="Arial Black" pitchFamily="34" charset="-120"/>
              </a:rPr>
              <a:t>02</a:t>
            </a:r>
            <a:endParaRPr lang="en-US" sz="2000" dirty="0"/>
          </a:p>
        </p:txBody>
      </p:sp>
      <p:sp>
        <p:nvSpPr>
          <p:cNvPr id="11" name="Text 9"/>
          <p:cNvSpPr/>
          <p:nvPr/>
        </p:nvSpPr>
        <p:spPr>
          <a:xfrm>
            <a:off x="1371600" y="2258568"/>
            <a:ext cx="7315200" cy="292608"/>
          </a:xfrm>
          <a:prstGeom prst="rect">
            <a:avLst/>
          </a:prstGeom>
          <a:noFill/>
          <a:ln/>
        </p:spPr>
        <p:txBody>
          <a:bodyPr wrap="square" rtlCol="0" anchor="ctr"/>
          <a:lstStyle/>
          <a:p>
            <a:pPr marL="0" indent="0">
              <a:buNone/>
            </a:pPr>
            <a:r>
              <a:rPr lang="en-US" sz="1700" b="1" dirty="0">
                <a:solidFill>
                  <a:srgbClr val="111111"/>
                </a:solidFill>
                <a:latin typeface="Arial Black" pitchFamily="34" charset="0"/>
                <a:ea typeface="Arial Black" pitchFamily="34" charset="-122"/>
                <a:cs typeface="Arial Black" pitchFamily="34" charset="-120"/>
              </a:rPr>
              <a:t>Suman</a:t>
            </a:r>
            <a:endParaRPr lang="en-US" sz="1700" dirty="0"/>
          </a:p>
        </p:txBody>
      </p:sp>
      <p:sp>
        <p:nvSpPr>
          <p:cNvPr id="12" name="Text 10"/>
          <p:cNvSpPr/>
          <p:nvPr/>
        </p:nvSpPr>
        <p:spPr>
          <a:xfrm>
            <a:off x="1371600" y="2560320"/>
            <a:ext cx="7315200" cy="228600"/>
          </a:xfrm>
          <a:prstGeom prst="rect">
            <a:avLst/>
          </a:prstGeom>
          <a:noFill/>
          <a:ln/>
        </p:spPr>
        <p:txBody>
          <a:bodyPr wrap="square" rtlCol="0" anchor="ctr"/>
          <a:lstStyle/>
          <a:p>
            <a:pPr marL="0" indent="0">
              <a:buNone/>
            </a:pPr>
            <a:r>
              <a:rPr lang="en-US" sz="1200" dirty="0">
                <a:solidFill>
                  <a:srgbClr val="888888"/>
                </a:solidFill>
                <a:latin typeface="Arial" pitchFamily="34" charset="0"/>
                <a:ea typeface="Arial" pitchFamily="34" charset="-122"/>
                <a:cs typeface="Arial" pitchFamily="34" charset="-120"/>
              </a:rPr>
              <a:t>Implementer — login and registration system</a:t>
            </a:r>
            <a:endParaRPr lang="en-US" sz="1200" dirty="0"/>
          </a:p>
        </p:txBody>
      </p:sp>
      <p:sp>
        <p:nvSpPr>
          <p:cNvPr id="13" name="Text 11"/>
          <p:cNvSpPr/>
          <p:nvPr/>
        </p:nvSpPr>
        <p:spPr>
          <a:xfrm>
            <a:off x="457200" y="2944368"/>
            <a:ext cx="868680" cy="411480"/>
          </a:xfrm>
          <a:prstGeom prst="rect">
            <a:avLst/>
          </a:prstGeom>
          <a:noFill/>
          <a:ln/>
        </p:spPr>
        <p:txBody>
          <a:bodyPr wrap="square" rtlCol="0" anchor="ctr">
            <a:normAutofit/>
          </a:bodyPr>
          <a:lstStyle/>
          <a:p>
            <a:pPr marL="0" indent="0">
              <a:buNone/>
            </a:pPr>
            <a:r>
              <a:rPr lang="en-US" sz="2000" b="1" dirty="0">
                <a:solidFill>
                  <a:srgbClr val="FFCD00"/>
                </a:solidFill>
                <a:latin typeface="Arial Black" pitchFamily="34" charset="0"/>
                <a:ea typeface="Arial Black" pitchFamily="34" charset="-122"/>
                <a:cs typeface="Arial Black" pitchFamily="34" charset="-120"/>
              </a:rPr>
              <a:t>03</a:t>
            </a:r>
            <a:endParaRPr lang="en-US" sz="2000" dirty="0"/>
          </a:p>
        </p:txBody>
      </p:sp>
      <p:sp>
        <p:nvSpPr>
          <p:cNvPr id="14" name="Text 12"/>
          <p:cNvSpPr/>
          <p:nvPr/>
        </p:nvSpPr>
        <p:spPr>
          <a:xfrm>
            <a:off x="1371600" y="2926080"/>
            <a:ext cx="7315200" cy="292608"/>
          </a:xfrm>
          <a:prstGeom prst="rect">
            <a:avLst/>
          </a:prstGeom>
          <a:noFill/>
          <a:ln/>
        </p:spPr>
        <p:txBody>
          <a:bodyPr wrap="square" rtlCol="0" anchor="ctr"/>
          <a:lstStyle/>
          <a:p>
            <a:pPr marL="0" indent="0">
              <a:buNone/>
            </a:pPr>
            <a:r>
              <a:rPr lang="en-US" sz="1700" b="1" dirty="0">
                <a:solidFill>
                  <a:srgbClr val="111111"/>
                </a:solidFill>
                <a:latin typeface="Arial Black" pitchFamily="34" charset="0"/>
                <a:ea typeface="Arial Black" pitchFamily="34" charset="-122"/>
                <a:cs typeface="Arial Black" pitchFamily="34" charset="-120"/>
              </a:rPr>
              <a:t>Kishor</a:t>
            </a:r>
            <a:endParaRPr lang="en-US" sz="1700" dirty="0"/>
          </a:p>
        </p:txBody>
      </p:sp>
      <p:sp>
        <p:nvSpPr>
          <p:cNvPr id="15" name="Text 13"/>
          <p:cNvSpPr/>
          <p:nvPr/>
        </p:nvSpPr>
        <p:spPr>
          <a:xfrm>
            <a:off x="1371600" y="3227832"/>
            <a:ext cx="7315200" cy="228600"/>
          </a:xfrm>
          <a:prstGeom prst="rect">
            <a:avLst/>
          </a:prstGeom>
          <a:noFill/>
          <a:ln/>
        </p:spPr>
        <p:txBody>
          <a:bodyPr wrap="square" rtlCol="0" anchor="ctr"/>
          <a:lstStyle/>
          <a:p>
            <a:pPr marL="0" indent="0">
              <a:buNone/>
            </a:pPr>
            <a:r>
              <a:rPr lang="en-US" sz="1200" dirty="0">
                <a:solidFill>
                  <a:srgbClr val="888888"/>
                </a:solidFill>
                <a:latin typeface="Arial" pitchFamily="34" charset="0"/>
                <a:ea typeface="Arial" pitchFamily="34" charset="-122"/>
                <a:cs typeface="Arial" pitchFamily="34" charset="-120"/>
              </a:rPr>
              <a:t>Specialist — question system and countdown timer</a:t>
            </a:r>
            <a:endParaRPr lang="en-US" sz="1200" dirty="0"/>
          </a:p>
        </p:txBody>
      </p:sp>
      <p:sp>
        <p:nvSpPr>
          <p:cNvPr id="16" name="Text 14"/>
          <p:cNvSpPr/>
          <p:nvPr/>
        </p:nvSpPr>
        <p:spPr>
          <a:xfrm>
            <a:off x="457200" y="3611880"/>
            <a:ext cx="868680" cy="411480"/>
          </a:xfrm>
          <a:prstGeom prst="rect">
            <a:avLst/>
          </a:prstGeom>
          <a:noFill/>
          <a:ln/>
        </p:spPr>
        <p:txBody>
          <a:bodyPr wrap="square" rtlCol="0" anchor="ctr">
            <a:normAutofit/>
          </a:bodyPr>
          <a:lstStyle/>
          <a:p>
            <a:pPr marL="0" indent="0">
              <a:buNone/>
            </a:pPr>
            <a:r>
              <a:rPr lang="en-US" sz="2000" b="1" dirty="0">
                <a:solidFill>
                  <a:srgbClr val="FFCD00"/>
                </a:solidFill>
                <a:latin typeface="Arial Black" pitchFamily="34" charset="0"/>
                <a:ea typeface="Arial Black" pitchFamily="34" charset="-122"/>
                <a:cs typeface="Arial Black" pitchFamily="34" charset="-120"/>
              </a:rPr>
              <a:t>04</a:t>
            </a:r>
            <a:endParaRPr lang="en-US" sz="2000" dirty="0"/>
          </a:p>
        </p:txBody>
      </p:sp>
      <p:sp>
        <p:nvSpPr>
          <p:cNvPr id="17" name="Text 15"/>
          <p:cNvSpPr/>
          <p:nvPr/>
        </p:nvSpPr>
        <p:spPr>
          <a:xfrm>
            <a:off x="1371600" y="3593592"/>
            <a:ext cx="7315200" cy="292608"/>
          </a:xfrm>
          <a:prstGeom prst="rect">
            <a:avLst/>
          </a:prstGeom>
          <a:noFill/>
          <a:ln/>
        </p:spPr>
        <p:txBody>
          <a:bodyPr wrap="square" rtlCol="0" anchor="ctr"/>
          <a:lstStyle/>
          <a:p>
            <a:pPr marL="0" indent="0">
              <a:buNone/>
            </a:pPr>
            <a:r>
              <a:rPr lang="en-US" sz="1700" b="1" dirty="0">
                <a:solidFill>
                  <a:srgbClr val="111111"/>
                </a:solidFill>
                <a:latin typeface="Arial Black" pitchFamily="34" charset="0"/>
                <a:ea typeface="Arial Black" pitchFamily="34" charset="-122"/>
                <a:cs typeface="Arial Black" pitchFamily="34" charset="-120"/>
              </a:rPr>
              <a:t>Bishal</a:t>
            </a:r>
            <a:endParaRPr lang="en-US" sz="1700" dirty="0"/>
          </a:p>
        </p:txBody>
      </p:sp>
      <p:sp>
        <p:nvSpPr>
          <p:cNvPr id="18" name="Text 16"/>
          <p:cNvSpPr/>
          <p:nvPr/>
        </p:nvSpPr>
        <p:spPr>
          <a:xfrm>
            <a:off x="1371600" y="3895344"/>
            <a:ext cx="7315200" cy="228600"/>
          </a:xfrm>
          <a:prstGeom prst="rect">
            <a:avLst/>
          </a:prstGeom>
          <a:noFill/>
          <a:ln/>
        </p:spPr>
        <p:txBody>
          <a:bodyPr wrap="square" rtlCol="0" anchor="ctr"/>
          <a:lstStyle/>
          <a:p>
            <a:pPr marL="0" indent="0">
              <a:buNone/>
            </a:pPr>
            <a:r>
              <a:rPr lang="en-US" sz="1200" dirty="0">
                <a:solidFill>
                  <a:srgbClr val="888888"/>
                </a:solidFill>
                <a:latin typeface="Arial" pitchFamily="34" charset="0"/>
                <a:ea typeface="Arial" pitchFamily="34" charset="-122"/>
                <a:cs typeface="Arial" pitchFamily="34" charset="-120"/>
              </a:rPr>
              <a:t>Completer Finisher — slicing mechanics and visual effects</a:t>
            </a:r>
            <a:endParaRPr lang="en-US" sz="1200" dirty="0"/>
          </a:p>
        </p:txBody>
      </p:sp>
      <p:sp>
        <p:nvSpPr>
          <p:cNvPr id="19" name="Text 17"/>
          <p:cNvSpPr/>
          <p:nvPr/>
        </p:nvSpPr>
        <p:spPr>
          <a:xfrm>
            <a:off x="457200" y="4279392"/>
            <a:ext cx="868680" cy="411480"/>
          </a:xfrm>
          <a:prstGeom prst="rect">
            <a:avLst/>
          </a:prstGeom>
          <a:noFill/>
          <a:ln/>
        </p:spPr>
        <p:txBody>
          <a:bodyPr wrap="square" rtlCol="0" anchor="ctr">
            <a:normAutofit/>
          </a:bodyPr>
          <a:lstStyle/>
          <a:p>
            <a:pPr marL="0" indent="0">
              <a:buNone/>
            </a:pPr>
            <a:r>
              <a:rPr lang="en-US" sz="2000" b="1" dirty="0">
                <a:solidFill>
                  <a:srgbClr val="FFCD00"/>
                </a:solidFill>
                <a:latin typeface="Arial Black" pitchFamily="34" charset="0"/>
                <a:ea typeface="Arial Black" pitchFamily="34" charset="-122"/>
                <a:cs typeface="Arial Black" pitchFamily="34" charset="-120"/>
              </a:rPr>
              <a:t>05</a:t>
            </a:r>
            <a:endParaRPr lang="en-US" sz="2000" dirty="0"/>
          </a:p>
        </p:txBody>
      </p:sp>
      <p:sp>
        <p:nvSpPr>
          <p:cNvPr id="20" name="Text 18"/>
          <p:cNvSpPr/>
          <p:nvPr/>
        </p:nvSpPr>
        <p:spPr>
          <a:xfrm>
            <a:off x="1371600" y="4261104"/>
            <a:ext cx="7315200" cy="292608"/>
          </a:xfrm>
          <a:prstGeom prst="rect">
            <a:avLst/>
          </a:prstGeom>
          <a:noFill/>
          <a:ln/>
        </p:spPr>
        <p:txBody>
          <a:bodyPr wrap="square" rtlCol="0" anchor="ctr"/>
          <a:lstStyle/>
          <a:p>
            <a:pPr marL="0" indent="0">
              <a:buNone/>
            </a:pPr>
            <a:r>
              <a:rPr lang="en-US" sz="1700" b="1" dirty="0">
                <a:solidFill>
                  <a:srgbClr val="111111"/>
                </a:solidFill>
                <a:latin typeface="Arial Black" pitchFamily="34" charset="0"/>
                <a:ea typeface="Arial Black" pitchFamily="34" charset="-122"/>
                <a:cs typeface="Arial Black" pitchFamily="34" charset="-120"/>
              </a:rPr>
              <a:t>Aakash</a:t>
            </a:r>
            <a:endParaRPr lang="en-US" sz="1700" dirty="0"/>
          </a:p>
        </p:txBody>
      </p:sp>
      <p:sp>
        <p:nvSpPr>
          <p:cNvPr id="21" name="Text 19"/>
          <p:cNvSpPr/>
          <p:nvPr/>
        </p:nvSpPr>
        <p:spPr>
          <a:xfrm>
            <a:off x="1371600" y="4562856"/>
            <a:ext cx="7315200" cy="228600"/>
          </a:xfrm>
          <a:prstGeom prst="rect">
            <a:avLst/>
          </a:prstGeom>
          <a:noFill/>
          <a:ln/>
        </p:spPr>
        <p:txBody>
          <a:bodyPr wrap="square" rtlCol="0" anchor="ctr"/>
          <a:lstStyle/>
          <a:p>
            <a:pPr marL="0" indent="0">
              <a:buNone/>
            </a:pPr>
            <a:r>
              <a:rPr lang="en-US" sz="1200" dirty="0">
                <a:solidFill>
                  <a:srgbClr val="888888"/>
                </a:solidFill>
                <a:latin typeface="Arial" pitchFamily="34" charset="0"/>
                <a:ea typeface="Arial" pitchFamily="34" charset="-122"/>
                <a:cs typeface="Arial" pitchFamily="34" charset="-120"/>
              </a:rPr>
              <a:t>Plant — scoring system and results screen</a:t>
            </a:r>
            <a:endParaRPr lang="en-US" sz="12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0D0D0D"/>
        </a:solidFill>
        <a:effectLst/>
      </p:bgPr>
    </p:bg>
    <p:spTree>
      <p:nvGrpSpPr>
        <p:cNvPr id="1" name=""/>
        <p:cNvGrpSpPr/>
        <p:nvPr/>
      </p:nvGrpSpPr>
      <p:grpSpPr>
        <a:xfrm>
          <a:off x="0" y="0"/>
          <a:ext cx="0" cy="0"/>
          <a:chOff x="0" y="0"/>
          <a:chExt cx="0" cy="0"/>
        </a:xfrm>
      </p:grpSpPr>
      <p:sp>
        <p:nvSpPr>
          <p:cNvPr id="2" name="Shape 0"/>
          <p:cNvSpPr/>
          <p:nvPr/>
        </p:nvSpPr>
        <p:spPr>
          <a:xfrm>
            <a:off x="8458200" y="201168"/>
            <a:ext cx="256032" cy="256032"/>
          </a:xfrm>
          <a:prstGeom prst="ellipse">
            <a:avLst/>
          </a:prstGeom>
          <a:solidFill>
            <a:srgbClr val="FFCD00"/>
          </a:solidFill>
          <a:ln/>
        </p:spPr>
        <p:txBody>
          <a:bodyPr/>
          <a:lstStyle/>
          <a:p>
            <a:endParaRPr lang="en-GB"/>
          </a:p>
        </p:txBody>
      </p:sp>
      <p:sp>
        <p:nvSpPr>
          <p:cNvPr id="3" name="Text 1"/>
          <p:cNvSpPr/>
          <p:nvPr/>
        </p:nvSpPr>
        <p:spPr>
          <a:xfrm>
            <a:off x="457200" y="274320"/>
            <a:ext cx="6400800" cy="228600"/>
          </a:xfrm>
          <a:prstGeom prst="rect">
            <a:avLst/>
          </a:prstGeom>
          <a:noFill/>
          <a:ln/>
        </p:spPr>
        <p:txBody>
          <a:bodyPr wrap="square" rtlCol="0" anchor="ctr"/>
          <a:lstStyle/>
          <a:p>
            <a:pPr marL="0" indent="0">
              <a:buNone/>
            </a:pPr>
            <a:endParaRPr lang="en-US" sz="1000" dirty="0"/>
          </a:p>
        </p:txBody>
      </p:sp>
      <p:sp>
        <p:nvSpPr>
          <p:cNvPr id="4" name="Text 2"/>
          <p:cNvSpPr/>
          <p:nvPr/>
        </p:nvSpPr>
        <p:spPr>
          <a:xfrm>
            <a:off x="3657600" y="4919472"/>
            <a:ext cx="5212080" cy="182880"/>
          </a:xfrm>
          <a:prstGeom prst="rect">
            <a:avLst/>
          </a:prstGeom>
          <a:noFill/>
          <a:ln/>
        </p:spPr>
        <p:txBody>
          <a:bodyPr wrap="square" rtlCol="0" anchor="ctr"/>
          <a:lstStyle/>
          <a:p>
            <a:pPr marL="0" indent="0" algn="r">
              <a:buNone/>
            </a:pPr>
            <a:r>
              <a:rPr lang="en-US" sz="900" dirty="0">
                <a:solidFill>
                  <a:srgbClr val="555555"/>
                </a:solidFill>
                <a:latin typeface="Arial" pitchFamily="34" charset="0"/>
                <a:ea typeface="Arial" pitchFamily="34" charset="-122"/>
                <a:cs typeface="Arial" pitchFamily="34" charset="-120"/>
              </a:rPr>
              <a:t>NINJA QUIZ  ·  503IT  ·  05 / 18</a:t>
            </a:r>
            <a:endParaRPr lang="en-US" sz="900" dirty="0"/>
          </a:p>
        </p:txBody>
      </p:sp>
      <p:sp>
        <p:nvSpPr>
          <p:cNvPr id="5" name="Text 3"/>
          <p:cNvSpPr/>
          <p:nvPr/>
        </p:nvSpPr>
        <p:spPr>
          <a:xfrm>
            <a:off x="457200" y="1371600"/>
            <a:ext cx="8229600" cy="1422400"/>
          </a:xfrm>
          <a:prstGeom prst="rect">
            <a:avLst/>
          </a:prstGeom>
          <a:noFill/>
          <a:ln/>
        </p:spPr>
        <p:txBody>
          <a:bodyPr wrap="square" rtlCol="0" anchor="ctr"/>
          <a:lstStyle/>
          <a:p>
            <a:pPr marL="0" indent="0">
              <a:buNone/>
            </a:pPr>
            <a:r>
              <a:rPr lang="en-US" sz="5600" b="1" dirty="0">
                <a:solidFill>
                  <a:srgbClr val="FFFFFF"/>
                </a:solidFill>
                <a:latin typeface="Arial Black" pitchFamily="34" charset="0"/>
                <a:ea typeface="Arial Black" pitchFamily="34" charset="-122"/>
                <a:cs typeface="Arial Black" pitchFamily="34" charset="-120"/>
              </a:rPr>
              <a:t>How we worked.</a:t>
            </a:r>
            <a:endParaRPr lang="en-US" sz="5600" dirty="0"/>
          </a:p>
        </p:txBody>
      </p:sp>
      <p:sp>
        <p:nvSpPr>
          <p:cNvPr id="6" name="Text 4"/>
          <p:cNvSpPr/>
          <p:nvPr/>
        </p:nvSpPr>
        <p:spPr>
          <a:xfrm>
            <a:off x="457200" y="3108960"/>
            <a:ext cx="7772400" cy="320040"/>
          </a:xfrm>
          <a:prstGeom prst="rect">
            <a:avLst/>
          </a:prstGeom>
          <a:noFill/>
          <a:ln/>
        </p:spPr>
        <p:txBody>
          <a:bodyPr wrap="square" rtlCol="0" anchor="ctr"/>
          <a:lstStyle/>
          <a:p>
            <a:pPr marL="0" indent="0">
              <a:buNone/>
            </a:pPr>
            <a:r>
              <a:rPr lang="en-US" sz="1400" dirty="0">
                <a:solidFill>
                  <a:srgbClr val="555555"/>
                </a:solidFill>
                <a:latin typeface="Arial" pitchFamily="34" charset="0"/>
                <a:ea typeface="Arial" pitchFamily="34" charset="-122"/>
                <a:cs typeface="Arial" pitchFamily="34" charset="-120"/>
              </a:rPr>
              <a:t>Three tools. </a:t>
            </a:r>
            <a:r>
              <a:rPr lang="en-US" sz="1400">
                <a:solidFill>
                  <a:srgbClr val="555555"/>
                </a:solidFill>
                <a:latin typeface="Arial" pitchFamily="34" charset="0"/>
                <a:ea typeface="Arial" pitchFamily="34" charset="-122"/>
                <a:cs typeface="Arial" pitchFamily="34" charset="-120"/>
              </a:rPr>
              <a:t>4 weeks</a:t>
            </a:r>
            <a:r>
              <a:rPr lang="en-US" sz="1400" dirty="0">
                <a:solidFill>
                  <a:srgbClr val="555555"/>
                </a:solidFill>
                <a:latin typeface="Arial" pitchFamily="34" charset="0"/>
                <a:ea typeface="Arial" pitchFamily="34" charset="-122"/>
                <a:cs typeface="Arial" pitchFamily="34" charset="-120"/>
              </a:rPr>
              <a:t>. Every decision documented.</a:t>
            </a:r>
            <a:endParaRPr lang="en-US" sz="14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8458200" y="201168"/>
            <a:ext cx="256032" cy="256032"/>
          </a:xfrm>
          <a:prstGeom prst="ellipse">
            <a:avLst/>
          </a:prstGeom>
          <a:solidFill>
            <a:srgbClr val="DDDDDD"/>
          </a:solidFill>
          <a:ln/>
        </p:spPr>
        <p:txBody>
          <a:bodyPr/>
          <a:lstStyle/>
          <a:p>
            <a:endParaRPr lang="en-GB"/>
          </a:p>
        </p:txBody>
      </p:sp>
      <p:sp>
        <p:nvSpPr>
          <p:cNvPr id="3" name="Text 1"/>
          <p:cNvSpPr/>
          <p:nvPr/>
        </p:nvSpPr>
        <p:spPr>
          <a:xfrm>
            <a:off x="457200" y="274320"/>
            <a:ext cx="6400800" cy="228600"/>
          </a:xfrm>
          <a:prstGeom prst="rect">
            <a:avLst/>
          </a:prstGeom>
          <a:noFill/>
          <a:ln/>
        </p:spPr>
        <p:txBody>
          <a:bodyPr wrap="square" rtlCol="0" anchor="ctr"/>
          <a:lstStyle/>
          <a:p>
            <a:pPr marL="0" indent="0">
              <a:buNone/>
            </a:pPr>
            <a:r>
              <a:rPr lang="en-US" sz="1000" b="1" kern="0" spc="200" dirty="0">
                <a:solidFill>
                  <a:srgbClr val="888888"/>
                </a:solidFill>
                <a:latin typeface="Arial" pitchFamily="34" charset="0"/>
                <a:ea typeface="Arial" pitchFamily="34" charset="-122"/>
                <a:cs typeface="Arial" pitchFamily="34" charset="-120"/>
              </a:rPr>
              <a:t>COLLABORATION TOOLS</a:t>
            </a:r>
            <a:endParaRPr lang="en-US" sz="1000" dirty="0"/>
          </a:p>
        </p:txBody>
      </p:sp>
      <p:sp>
        <p:nvSpPr>
          <p:cNvPr id="4" name="Text 2"/>
          <p:cNvSpPr/>
          <p:nvPr/>
        </p:nvSpPr>
        <p:spPr>
          <a:xfrm>
            <a:off x="3657600" y="4919472"/>
            <a:ext cx="5212080" cy="182880"/>
          </a:xfrm>
          <a:prstGeom prst="rect">
            <a:avLst/>
          </a:prstGeom>
          <a:noFill/>
          <a:ln/>
        </p:spPr>
        <p:txBody>
          <a:bodyPr wrap="square" rtlCol="0" anchor="ctr"/>
          <a:lstStyle/>
          <a:p>
            <a:pPr marL="0" indent="0" algn="r">
              <a:buNone/>
            </a:pPr>
            <a:r>
              <a:rPr lang="en-US" sz="900" dirty="0">
                <a:solidFill>
                  <a:srgbClr val="888888"/>
                </a:solidFill>
                <a:latin typeface="Arial" pitchFamily="34" charset="0"/>
                <a:ea typeface="Arial" pitchFamily="34" charset="-122"/>
                <a:cs typeface="Arial" pitchFamily="34" charset="-120"/>
              </a:rPr>
              <a:t>NINJA QUIZ  ·  503IT  ·  06 / 18</a:t>
            </a:r>
            <a:endParaRPr lang="en-US" sz="900" dirty="0"/>
          </a:p>
        </p:txBody>
      </p:sp>
      <p:sp>
        <p:nvSpPr>
          <p:cNvPr id="5" name="Text 3"/>
          <p:cNvSpPr/>
          <p:nvPr/>
        </p:nvSpPr>
        <p:spPr>
          <a:xfrm>
            <a:off x="-21981" y="743352"/>
            <a:ext cx="8229600" cy="812800"/>
          </a:xfrm>
          <a:prstGeom prst="rect">
            <a:avLst/>
          </a:prstGeom>
          <a:noFill/>
          <a:ln/>
        </p:spPr>
        <p:txBody>
          <a:bodyPr wrap="square" rtlCol="0" anchor="ctr"/>
          <a:lstStyle/>
          <a:p>
            <a:pPr marL="0" indent="0">
              <a:buNone/>
            </a:pPr>
            <a:r>
              <a:rPr lang="en-US" sz="3200" b="1" dirty="0">
                <a:solidFill>
                  <a:srgbClr val="111111"/>
                </a:solidFill>
                <a:latin typeface="Arial Black" pitchFamily="34" charset="0"/>
                <a:ea typeface="Arial Black" pitchFamily="34" charset="-122"/>
                <a:cs typeface="Arial Black" pitchFamily="34" charset="-120"/>
              </a:rPr>
              <a:t>Three tools kept us aligned.</a:t>
            </a:r>
            <a:endParaRPr lang="en-US" sz="3200" dirty="0"/>
          </a:p>
        </p:txBody>
      </p:sp>
      <p:sp>
        <p:nvSpPr>
          <p:cNvPr id="6" name="Shape 4"/>
          <p:cNvSpPr/>
          <p:nvPr/>
        </p:nvSpPr>
        <p:spPr>
          <a:xfrm>
            <a:off x="457200" y="1463040"/>
            <a:ext cx="8229600" cy="10973"/>
          </a:xfrm>
          <a:prstGeom prst="rect">
            <a:avLst/>
          </a:prstGeom>
          <a:solidFill>
            <a:srgbClr val="EEEEEE"/>
          </a:solidFill>
          <a:ln/>
        </p:spPr>
        <p:txBody>
          <a:bodyPr/>
          <a:lstStyle/>
          <a:p>
            <a:endParaRPr lang="en-GB"/>
          </a:p>
        </p:txBody>
      </p:sp>
      <p:sp>
        <p:nvSpPr>
          <p:cNvPr id="7" name="Text 5"/>
          <p:cNvSpPr/>
          <p:nvPr/>
        </p:nvSpPr>
        <p:spPr>
          <a:xfrm>
            <a:off x="457200" y="1609344"/>
            <a:ext cx="868680" cy="411480"/>
          </a:xfrm>
          <a:prstGeom prst="rect">
            <a:avLst/>
          </a:prstGeom>
          <a:noFill/>
          <a:ln/>
        </p:spPr>
        <p:txBody>
          <a:bodyPr wrap="square" rtlCol="0" anchor="ctr">
            <a:normAutofit/>
          </a:bodyPr>
          <a:lstStyle/>
          <a:p>
            <a:pPr marL="0" indent="0">
              <a:buNone/>
            </a:pPr>
            <a:r>
              <a:rPr lang="en-US" sz="2000" b="1" dirty="0">
                <a:solidFill>
                  <a:srgbClr val="FFCD00"/>
                </a:solidFill>
                <a:latin typeface="Arial Black" pitchFamily="34" charset="0"/>
                <a:ea typeface="Arial Black" pitchFamily="34" charset="-122"/>
                <a:cs typeface="Arial Black" pitchFamily="34" charset="-120"/>
              </a:rPr>
              <a:t>01</a:t>
            </a:r>
            <a:endParaRPr lang="en-US" sz="2000" dirty="0"/>
          </a:p>
        </p:txBody>
      </p:sp>
      <p:sp>
        <p:nvSpPr>
          <p:cNvPr id="8" name="Text 6"/>
          <p:cNvSpPr/>
          <p:nvPr/>
        </p:nvSpPr>
        <p:spPr>
          <a:xfrm>
            <a:off x="1371600" y="1591056"/>
            <a:ext cx="4114800" cy="292608"/>
          </a:xfrm>
          <a:prstGeom prst="rect">
            <a:avLst/>
          </a:prstGeom>
          <a:noFill/>
          <a:ln/>
        </p:spPr>
        <p:txBody>
          <a:bodyPr wrap="square" rtlCol="0" anchor="ctr"/>
          <a:lstStyle/>
          <a:p>
            <a:pPr marL="0" indent="0">
              <a:buNone/>
            </a:pPr>
            <a:r>
              <a:rPr lang="en-US" sz="1700" b="1" dirty="0">
                <a:solidFill>
                  <a:srgbClr val="111111"/>
                </a:solidFill>
                <a:latin typeface="Arial Black" pitchFamily="34" charset="0"/>
                <a:ea typeface="Arial Black" pitchFamily="34" charset="-122"/>
                <a:cs typeface="Arial Black" pitchFamily="34" charset="-120"/>
              </a:rPr>
              <a:t>Trello</a:t>
            </a:r>
            <a:endParaRPr lang="en-US" sz="1700" dirty="0"/>
          </a:p>
        </p:txBody>
      </p:sp>
      <p:sp>
        <p:nvSpPr>
          <p:cNvPr id="9" name="Text 7"/>
          <p:cNvSpPr/>
          <p:nvPr/>
        </p:nvSpPr>
        <p:spPr>
          <a:xfrm>
            <a:off x="1371600" y="1892808"/>
            <a:ext cx="4114800" cy="228600"/>
          </a:xfrm>
          <a:prstGeom prst="rect">
            <a:avLst/>
          </a:prstGeom>
          <a:noFill/>
          <a:ln/>
        </p:spPr>
        <p:txBody>
          <a:bodyPr wrap="square" rtlCol="0" anchor="ctr"/>
          <a:lstStyle/>
          <a:p>
            <a:pPr marL="0" indent="0">
              <a:buNone/>
            </a:pPr>
            <a:r>
              <a:rPr lang="en-US" sz="1200" dirty="0">
                <a:solidFill>
                  <a:srgbClr val="888888"/>
                </a:solidFill>
                <a:latin typeface="Arial" pitchFamily="34" charset="0"/>
                <a:ea typeface="Arial" pitchFamily="34" charset="-122"/>
                <a:cs typeface="Arial" pitchFamily="34" charset="-120"/>
              </a:rPr>
              <a:t>Every task visible, assigned and prioritised — nothing fell through the gaps</a:t>
            </a:r>
            <a:endParaRPr lang="en-US" sz="1200" dirty="0"/>
          </a:p>
        </p:txBody>
      </p:sp>
      <p:sp>
        <p:nvSpPr>
          <p:cNvPr id="10" name="Text 8"/>
          <p:cNvSpPr/>
          <p:nvPr/>
        </p:nvSpPr>
        <p:spPr>
          <a:xfrm>
            <a:off x="457200" y="2432304"/>
            <a:ext cx="868680" cy="411480"/>
          </a:xfrm>
          <a:prstGeom prst="rect">
            <a:avLst/>
          </a:prstGeom>
          <a:noFill/>
          <a:ln/>
        </p:spPr>
        <p:txBody>
          <a:bodyPr wrap="square" rtlCol="0" anchor="ctr">
            <a:normAutofit/>
          </a:bodyPr>
          <a:lstStyle/>
          <a:p>
            <a:pPr marL="0" indent="0">
              <a:buNone/>
            </a:pPr>
            <a:r>
              <a:rPr lang="en-US" sz="2000" b="1" dirty="0">
                <a:solidFill>
                  <a:srgbClr val="FFCD00"/>
                </a:solidFill>
                <a:latin typeface="Arial Black" pitchFamily="34" charset="0"/>
                <a:ea typeface="Arial Black" pitchFamily="34" charset="-122"/>
                <a:cs typeface="Arial Black" pitchFamily="34" charset="-120"/>
              </a:rPr>
              <a:t>02</a:t>
            </a:r>
            <a:endParaRPr lang="en-US" sz="2000" dirty="0"/>
          </a:p>
        </p:txBody>
      </p:sp>
      <p:sp>
        <p:nvSpPr>
          <p:cNvPr id="11" name="Text 9"/>
          <p:cNvSpPr/>
          <p:nvPr/>
        </p:nvSpPr>
        <p:spPr>
          <a:xfrm>
            <a:off x="1371600" y="2414016"/>
            <a:ext cx="4114800" cy="292608"/>
          </a:xfrm>
          <a:prstGeom prst="rect">
            <a:avLst/>
          </a:prstGeom>
          <a:noFill/>
          <a:ln/>
        </p:spPr>
        <p:txBody>
          <a:bodyPr wrap="square" rtlCol="0" anchor="ctr"/>
          <a:lstStyle/>
          <a:p>
            <a:pPr marL="0" indent="0">
              <a:buNone/>
            </a:pPr>
            <a:r>
              <a:rPr lang="en-US" sz="1700" b="1" dirty="0">
                <a:solidFill>
                  <a:srgbClr val="111111"/>
                </a:solidFill>
                <a:latin typeface="Arial Black" pitchFamily="34" charset="0"/>
                <a:ea typeface="Arial Black" pitchFamily="34" charset="-122"/>
                <a:cs typeface="Arial Black" pitchFamily="34" charset="-120"/>
              </a:rPr>
              <a:t>GitHub</a:t>
            </a:r>
            <a:endParaRPr lang="en-US" sz="1700" dirty="0"/>
          </a:p>
        </p:txBody>
      </p:sp>
      <p:sp>
        <p:nvSpPr>
          <p:cNvPr id="12" name="Text 10"/>
          <p:cNvSpPr/>
          <p:nvPr/>
        </p:nvSpPr>
        <p:spPr>
          <a:xfrm>
            <a:off x="1371600" y="2715768"/>
            <a:ext cx="4114800" cy="228600"/>
          </a:xfrm>
          <a:prstGeom prst="rect">
            <a:avLst/>
          </a:prstGeom>
          <a:noFill/>
          <a:ln/>
        </p:spPr>
        <p:txBody>
          <a:bodyPr wrap="square" rtlCol="0" anchor="ctr"/>
          <a:lstStyle/>
          <a:p>
            <a:pPr marL="0" indent="0">
              <a:buNone/>
            </a:pPr>
            <a:r>
              <a:rPr lang="en-US" sz="1200" dirty="0">
                <a:solidFill>
                  <a:srgbClr val="888888"/>
                </a:solidFill>
                <a:latin typeface="Arial" pitchFamily="34" charset="0"/>
                <a:ea typeface="Arial" pitchFamily="34" charset="-122"/>
                <a:cs typeface="Arial" pitchFamily="34" charset="-120"/>
              </a:rPr>
              <a:t>Branches per feature — no one overwrote anyone else's work</a:t>
            </a:r>
            <a:endParaRPr lang="en-US" sz="1200" dirty="0"/>
          </a:p>
        </p:txBody>
      </p:sp>
      <p:sp>
        <p:nvSpPr>
          <p:cNvPr id="13" name="Text 11"/>
          <p:cNvSpPr/>
          <p:nvPr/>
        </p:nvSpPr>
        <p:spPr>
          <a:xfrm>
            <a:off x="457200" y="3255264"/>
            <a:ext cx="868680" cy="411480"/>
          </a:xfrm>
          <a:prstGeom prst="rect">
            <a:avLst/>
          </a:prstGeom>
          <a:noFill/>
          <a:ln/>
        </p:spPr>
        <p:txBody>
          <a:bodyPr wrap="square" rtlCol="0" anchor="ctr">
            <a:normAutofit/>
          </a:bodyPr>
          <a:lstStyle/>
          <a:p>
            <a:pPr marL="0" indent="0">
              <a:buNone/>
            </a:pPr>
            <a:r>
              <a:rPr lang="en-US" sz="2000" b="1" dirty="0">
                <a:solidFill>
                  <a:srgbClr val="FFCD00"/>
                </a:solidFill>
                <a:latin typeface="Arial Black" pitchFamily="34" charset="0"/>
                <a:ea typeface="Arial Black" pitchFamily="34" charset="-122"/>
                <a:cs typeface="Arial Black" pitchFamily="34" charset="-120"/>
              </a:rPr>
              <a:t>03</a:t>
            </a:r>
            <a:endParaRPr lang="en-US" sz="2000" dirty="0"/>
          </a:p>
        </p:txBody>
      </p:sp>
      <p:sp>
        <p:nvSpPr>
          <p:cNvPr id="14" name="Text 12"/>
          <p:cNvSpPr/>
          <p:nvPr/>
        </p:nvSpPr>
        <p:spPr>
          <a:xfrm>
            <a:off x="1371600" y="3236976"/>
            <a:ext cx="4114800" cy="292608"/>
          </a:xfrm>
          <a:prstGeom prst="rect">
            <a:avLst/>
          </a:prstGeom>
          <a:noFill/>
          <a:ln/>
        </p:spPr>
        <p:txBody>
          <a:bodyPr wrap="square" rtlCol="0" anchor="ctr"/>
          <a:lstStyle/>
          <a:p>
            <a:pPr marL="0" indent="0">
              <a:buNone/>
            </a:pPr>
            <a:r>
              <a:rPr lang="en-US" sz="1700" b="1" dirty="0">
                <a:solidFill>
                  <a:srgbClr val="111111"/>
                </a:solidFill>
                <a:latin typeface="Arial Black" pitchFamily="34" charset="0"/>
                <a:ea typeface="Arial Black" pitchFamily="34" charset="-122"/>
                <a:cs typeface="Arial Black" pitchFamily="34" charset="-120"/>
              </a:rPr>
              <a:t>WhatsApp</a:t>
            </a:r>
            <a:endParaRPr lang="en-US" sz="1700" dirty="0"/>
          </a:p>
        </p:txBody>
      </p:sp>
      <p:sp>
        <p:nvSpPr>
          <p:cNvPr id="15" name="Text 13"/>
          <p:cNvSpPr/>
          <p:nvPr/>
        </p:nvSpPr>
        <p:spPr>
          <a:xfrm>
            <a:off x="1371600" y="3538728"/>
            <a:ext cx="4114800" cy="228600"/>
          </a:xfrm>
          <a:prstGeom prst="rect">
            <a:avLst/>
          </a:prstGeom>
          <a:noFill/>
          <a:ln/>
        </p:spPr>
        <p:txBody>
          <a:bodyPr wrap="square" rtlCol="0" anchor="ctr"/>
          <a:lstStyle/>
          <a:p>
            <a:pPr marL="0" indent="0">
              <a:buNone/>
            </a:pPr>
            <a:r>
              <a:rPr lang="en-US" sz="1200" dirty="0">
                <a:solidFill>
                  <a:srgbClr val="888888"/>
                </a:solidFill>
                <a:latin typeface="Arial" pitchFamily="34" charset="0"/>
                <a:ea typeface="Arial" pitchFamily="34" charset="-122"/>
                <a:cs typeface="Arial" pitchFamily="34" charset="-120"/>
              </a:rPr>
              <a:t>Daily contact — issues raised same day, not a week later</a:t>
            </a:r>
            <a:endParaRPr lang="en-US" sz="1200" dirty="0"/>
          </a:p>
        </p:txBody>
      </p:sp>
      <p:sp>
        <p:nvSpPr>
          <p:cNvPr id="16" name="Text 14"/>
          <p:cNvSpPr/>
          <p:nvPr/>
        </p:nvSpPr>
        <p:spPr>
          <a:xfrm>
            <a:off x="457200" y="4160520"/>
            <a:ext cx="4114800" cy="320040"/>
          </a:xfrm>
          <a:prstGeom prst="rect">
            <a:avLst/>
          </a:prstGeom>
          <a:noFill/>
          <a:ln/>
        </p:spPr>
        <p:txBody>
          <a:bodyPr wrap="square" rtlCol="0" anchor="ctr"/>
          <a:lstStyle/>
          <a:p>
            <a:pPr marL="0" indent="0">
              <a:buNone/>
            </a:pPr>
            <a:r>
              <a:rPr lang="en-US" sz="1400" dirty="0">
                <a:solidFill>
                  <a:srgbClr val="444444"/>
                </a:solidFill>
                <a:latin typeface="Arial" pitchFamily="34" charset="0"/>
                <a:ea typeface="Arial" pitchFamily="34" charset="-122"/>
                <a:cs typeface="Arial" pitchFamily="34" charset="-120"/>
              </a:rPr>
              <a:t>Every tool had one purpose. No tool was used for everything.</a:t>
            </a:r>
            <a:endParaRPr lang="en-US" sz="1400" dirty="0"/>
          </a:p>
        </p:txBody>
      </p:sp>
      <p:pic>
        <p:nvPicPr>
          <p:cNvPr id="17" name="Picture 16" descr="image.jpg"/>
          <p:cNvPicPr>
            <a:picLocks noChangeAspect="1"/>
          </p:cNvPicPr>
          <p:nvPr/>
        </p:nvPicPr>
        <p:blipFill>
          <a:blip r:embed="rId3"/>
          <a:stretch>
            <a:fillRect/>
          </a:stretch>
        </p:blipFill>
        <p:spPr>
          <a:xfrm>
            <a:off x="6146551" y="1348326"/>
            <a:ext cx="2930969" cy="1421637"/>
          </a:xfrm>
          <a:prstGeom prst="rect">
            <a:avLst/>
          </a:prstGeom>
        </p:spPr>
      </p:pic>
      <p:pic>
        <p:nvPicPr>
          <p:cNvPr id="19" name="Picture 18">
            <a:extLst>
              <a:ext uri="{FF2B5EF4-FFF2-40B4-BE49-F238E27FC236}">
                <a16:creationId xmlns:a16="http://schemas.microsoft.com/office/drawing/2014/main" id="{9BA7A73D-0397-1BAE-5DED-7C16FF5F0991}"/>
              </a:ext>
            </a:extLst>
          </p:cNvPr>
          <p:cNvPicPr>
            <a:picLocks noChangeAspect="1"/>
          </p:cNvPicPr>
          <p:nvPr/>
        </p:nvPicPr>
        <p:blipFill>
          <a:blip r:embed="rId4"/>
          <a:stretch>
            <a:fillRect/>
          </a:stretch>
        </p:blipFill>
        <p:spPr>
          <a:xfrm>
            <a:off x="6146551" y="2787256"/>
            <a:ext cx="2355459" cy="2081924"/>
          </a:xfrm>
          <a:prstGeom prst="rect">
            <a:avLst/>
          </a:prstGeom>
        </p:spPr>
      </p:pic>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0D0D0D"/>
        </a:solidFill>
        <a:effectLst/>
      </p:bgPr>
    </p:bg>
    <p:spTree>
      <p:nvGrpSpPr>
        <p:cNvPr id="1" name=""/>
        <p:cNvGrpSpPr/>
        <p:nvPr/>
      </p:nvGrpSpPr>
      <p:grpSpPr>
        <a:xfrm>
          <a:off x="0" y="0"/>
          <a:ext cx="0" cy="0"/>
          <a:chOff x="0" y="0"/>
          <a:chExt cx="0" cy="0"/>
        </a:xfrm>
      </p:grpSpPr>
      <p:sp>
        <p:nvSpPr>
          <p:cNvPr id="2" name="Shape 0"/>
          <p:cNvSpPr/>
          <p:nvPr/>
        </p:nvSpPr>
        <p:spPr>
          <a:xfrm>
            <a:off x="8458200" y="201168"/>
            <a:ext cx="256032" cy="256032"/>
          </a:xfrm>
          <a:prstGeom prst="ellipse">
            <a:avLst/>
          </a:prstGeom>
          <a:solidFill>
            <a:srgbClr val="FFCD00"/>
          </a:solidFill>
          <a:ln/>
        </p:spPr>
        <p:txBody>
          <a:bodyPr/>
          <a:lstStyle/>
          <a:p>
            <a:endParaRPr lang="en-GB"/>
          </a:p>
        </p:txBody>
      </p:sp>
      <p:sp>
        <p:nvSpPr>
          <p:cNvPr id="3" name="Text 1"/>
          <p:cNvSpPr/>
          <p:nvPr/>
        </p:nvSpPr>
        <p:spPr>
          <a:xfrm>
            <a:off x="294542" y="160020"/>
            <a:ext cx="6400800" cy="228600"/>
          </a:xfrm>
          <a:prstGeom prst="rect">
            <a:avLst/>
          </a:prstGeom>
          <a:noFill/>
          <a:ln/>
        </p:spPr>
        <p:txBody>
          <a:bodyPr wrap="square" rtlCol="0" anchor="ctr"/>
          <a:lstStyle/>
          <a:p>
            <a:pPr marL="0" indent="0">
              <a:buNone/>
            </a:pPr>
            <a:r>
              <a:rPr lang="en-US" sz="1000" b="1" kern="0" spc="200" dirty="0">
                <a:solidFill>
                  <a:srgbClr val="555555"/>
                </a:solidFill>
                <a:latin typeface="Arial" pitchFamily="34" charset="0"/>
                <a:ea typeface="Arial" pitchFamily="34" charset="-122"/>
                <a:cs typeface="Arial" pitchFamily="34" charset="-120"/>
              </a:rPr>
              <a:t>HOW WE MET</a:t>
            </a:r>
            <a:endParaRPr lang="en-US" sz="1000" dirty="0"/>
          </a:p>
        </p:txBody>
      </p:sp>
      <p:sp>
        <p:nvSpPr>
          <p:cNvPr id="4" name="Text 2"/>
          <p:cNvSpPr/>
          <p:nvPr/>
        </p:nvSpPr>
        <p:spPr>
          <a:xfrm>
            <a:off x="3657600" y="4919472"/>
            <a:ext cx="5212080" cy="182880"/>
          </a:xfrm>
          <a:prstGeom prst="rect">
            <a:avLst/>
          </a:prstGeom>
          <a:noFill/>
          <a:ln/>
        </p:spPr>
        <p:txBody>
          <a:bodyPr wrap="square" rtlCol="0" anchor="ctr"/>
          <a:lstStyle/>
          <a:p>
            <a:pPr marL="0" indent="0" algn="r">
              <a:buNone/>
            </a:pPr>
            <a:r>
              <a:rPr lang="en-US" sz="900" dirty="0">
                <a:solidFill>
                  <a:srgbClr val="555555"/>
                </a:solidFill>
                <a:latin typeface="Arial" pitchFamily="34" charset="0"/>
                <a:ea typeface="Arial" pitchFamily="34" charset="-122"/>
                <a:cs typeface="Arial" pitchFamily="34" charset="-120"/>
              </a:rPr>
              <a:t>NINJA QUIZ  ·  503IT  ·  07 / 18</a:t>
            </a:r>
            <a:endParaRPr lang="en-US" sz="900" dirty="0"/>
          </a:p>
        </p:txBody>
      </p:sp>
      <p:sp>
        <p:nvSpPr>
          <p:cNvPr id="5" name="Text 3"/>
          <p:cNvSpPr/>
          <p:nvPr/>
        </p:nvSpPr>
        <p:spPr>
          <a:xfrm>
            <a:off x="496765" y="938034"/>
            <a:ext cx="4114800" cy="1060704"/>
          </a:xfrm>
          <a:prstGeom prst="rect">
            <a:avLst/>
          </a:prstGeom>
          <a:noFill/>
          <a:ln/>
        </p:spPr>
        <p:txBody>
          <a:bodyPr wrap="square" rtlCol="0" anchor="ctr"/>
          <a:lstStyle/>
          <a:p>
            <a:pPr marL="0" indent="0">
              <a:buNone/>
            </a:pPr>
            <a:r>
              <a:rPr lang="en-US" sz="4400" b="1" dirty="0">
                <a:solidFill>
                  <a:srgbClr val="FFFFFF"/>
                </a:solidFill>
                <a:latin typeface="Arial Black" pitchFamily="34" charset="0"/>
                <a:ea typeface="Arial Black" pitchFamily="34" charset="-122"/>
                <a:cs typeface="Arial Black" pitchFamily="34" charset="-120"/>
              </a:rPr>
              <a:t>Same three questions.</a:t>
            </a:r>
            <a:endParaRPr lang="en-US" sz="4400" dirty="0"/>
          </a:p>
          <a:p>
            <a:pPr marL="0" indent="0">
              <a:buNone/>
            </a:pPr>
            <a:r>
              <a:rPr lang="en-US" sz="4400" b="1" dirty="0">
                <a:solidFill>
                  <a:srgbClr val="FFFFFF"/>
                </a:solidFill>
                <a:latin typeface="Arial Black" pitchFamily="34" charset="0"/>
                <a:ea typeface="Arial Black" pitchFamily="34" charset="-122"/>
                <a:cs typeface="Arial Black" pitchFamily="34" charset="-120"/>
              </a:rPr>
              <a:t>Every week.</a:t>
            </a:r>
            <a:endParaRPr lang="en-US" sz="4400" dirty="0"/>
          </a:p>
        </p:txBody>
      </p:sp>
      <p:sp>
        <p:nvSpPr>
          <p:cNvPr id="6" name="Shape 4"/>
          <p:cNvSpPr/>
          <p:nvPr/>
        </p:nvSpPr>
        <p:spPr>
          <a:xfrm>
            <a:off x="457200" y="2423160"/>
            <a:ext cx="8229600" cy="10973"/>
          </a:xfrm>
          <a:prstGeom prst="rect">
            <a:avLst/>
          </a:prstGeom>
          <a:solidFill>
            <a:srgbClr val="222222"/>
          </a:solidFill>
          <a:ln/>
        </p:spPr>
        <p:txBody>
          <a:bodyPr/>
          <a:lstStyle/>
          <a:p>
            <a:endParaRPr lang="en-GB"/>
          </a:p>
        </p:txBody>
      </p:sp>
      <p:sp>
        <p:nvSpPr>
          <p:cNvPr id="7" name="Text 5"/>
          <p:cNvSpPr/>
          <p:nvPr/>
        </p:nvSpPr>
        <p:spPr>
          <a:xfrm>
            <a:off x="457200" y="2560320"/>
            <a:ext cx="640080" cy="502920"/>
          </a:xfrm>
          <a:prstGeom prst="rect">
            <a:avLst/>
          </a:prstGeom>
          <a:noFill/>
          <a:ln/>
        </p:spPr>
        <p:txBody>
          <a:bodyPr wrap="square" rtlCol="0" anchor="ctr"/>
          <a:lstStyle/>
          <a:p>
            <a:pPr marL="0" indent="0">
              <a:buNone/>
            </a:pPr>
            <a:r>
              <a:rPr lang="en-US" sz="2400" b="1" dirty="0">
                <a:solidFill>
                  <a:srgbClr val="FFCD00"/>
                </a:solidFill>
                <a:latin typeface="Arial Black" pitchFamily="34" charset="0"/>
                <a:ea typeface="Arial Black" pitchFamily="34" charset="-122"/>
                <a:cs typeface="Arial Black" pitchFamily="34" charset="-120"/>
              </a:rPr>
              <a:t>01</a:t>
            </a:r>
            <a:endParaRPr lang="en-US" sz="2400" dirty="0"/>
          </a:p>
        </p:txBody>
      </p:sp>
      <p:sp>
        <p:nvSpPr>
          <p:cNvPr id="8" name="Text 6"/>
          <p:cNvSpPr/>
          <p:nvPr/>
        </p:nvSpPr>
        <p:spPr>
          <a:xfrm>
            <a:off x="1143000" y="2606040"/>
            <a:ext cx="4114800" cy="411480"/>
          </a:xfrm>
          <a:prstGeom prst="rect">
            <a:avLst/>
          </a:prstGeom>
          <a:noFill/>
          <a:ln/>
        </p:spPr>
        <p:txBody>
          <a:bodyPr wrap="square" rtlCol="0" anchor="ctr"/>
          <a:lstStyle/>
          <a:p>
            <a:pPr marL="0" indent="0">
              <a:buNone/>
            </a:pPr>
            <a:r>
              <a:rPr lang="en-US" sz="2000" b="1" dirty="0">
                <a:solidFill>
                  <a:srgbClr val="FFFFFF"/>
                </a:solidFill>
                <a:latin typeface="Arial Black" pitchFamily="34" charset="0"/>
                <a:ea typeface="Arial Black" pitchFamily="34" charset="-122"/>
                <a:cs typeface="Arial Black" pitchFamily="34" charset="-120"/>
              </a:rPr>
              <a:t>What did I finish?</a:t>
            </a:r>
            <a:endParaRPr lang="en-US" sz="2000" dirty="0"/>
          </a:p>
        </p:txBody>
      </p:sp>
      <p:sp>
        <p:nvSpPr>
          <p:cNvPr id="9" name="Text 7"/>
          <p:cNvSpPr/>
          <p:nvPr/>
        </p:nvSpPr>
        <p:spPr>
          <a:xfrm>
            <a:off x="457200" y="3218688"/>
            <a:ext cx="640080" cy="502920"/>
          </a:xfrm>
          <a:prstGeom prst="rect">
            <a:avLst/>
          </a:prstGeom>
          <a:noFill/>
          <a:ln/>
        </p:spPr>
        <p:txBody>
          <a:bodyPr wrap="square" rtlCol="0" anchor="ctr"/>
          <a:lstStyle/>
          <a:p>
            <a:pPr marL="0" indent="0">
              <a:buNone/>
            </a:pPr>
            <a:r>
              <a:rPr lang="en-US" sz="2400" b="1" dirty="0">
                <a:solidFill>
                  <a:srgbClr val="FFCD00"/>
                </a:solidFill>
                <a:latin typeface="Arial Black" pitchFamily="34" charset="0"/>
                <a:ea typeface="Arial Black" pitchFamily="34" charset="-122"/>
                <a:cs typeface="Arial Black" pitchFamily="34" charset="-120"/>
              </a:rPr>
              <a:t>02</a:t>
            </a:r>
            <a:endParaRPr lang="en-US" sz="2400" dirty="0"/>
          </a:p>
        </p:txBody>
      </p:sp>
      <p:sp>
        <p:nvSpPr>
          <p:cNvPr id="10" name="Text 8"/>
          <p:cNvSpPr/>
          <p:nvPr/>
        </p:nvSpPr>
        <p:spPr>
          <a:xfrm>
            <a:off x="1143000" y="3264408"/>
            <a:ext cx="4114800" cy="411480"/>
          </a:xfrm>
          <a:prstGeom prst="rect">
            <a:avLst/>
          </a:prstGeom>
          <a:noFill/>
          <a:ln/>
        </p:spPr>
        <p:txBody>
          <a:bodyPr wrap="square" rtlCol="0" anchor="ctr"/>
          <a:lstStyle/>
          <a:p>
            <a:pPr marL="0" indent="0">
              <a:buNone/>
            </a:pPr>
            <a:r>
              <a:rPr lang="en-US" sz="2000" b="1" dirty="0">
                <a:solidFill>
                  <a:srgbClr val="FFFFFF"/>
                </a:solidFill>
                <a:latin typeface="Arial Black" pitchFamily="34" charset="0"/>
                <a:ea typeface="Arial Black" pitchFamily="34" charset="-122"/>
                <a:cs typeface="Arial Black" pitchFamily="34" charset="-120"/>
              </a:rPr>
              <a:t>What am I doing next?</a:t>
            </a:r>
            <a:endParaRPr lang="en-US" sz="2000" dirty="0"/>
          </a:p>
        </p:txBody>
      </p:sp>
      <p:sp>
        <p:nvSpPr>
          <p:cNvPr id="11" name="Text 9"/>
          <p:cNvSpPr/>
          <p:nvPr/>
        </p:nvSpPr>
        <p:spPr>
          <a:xfrm>
            <a:off x="457200" y="3877056"/>
            <a:ext cx="640080" cy="502920"/>
          </a:xfrm>
          <a:prstGeom prst="rect">
            <a:avLst/>
          </a:prstGeom>
          <a:noFill/>
          <a:ln/>
        </p:spPr>
        <p:txBody>
          <a:bodyPr wrap="square" rtlCol="0" anchor="ctr"/>
          <a:lstStyle/>
          <a:p>
            <a:pPr marL="0" indent="0">
              <a:buNone/>
            </a:pPr>
            <a:r>
              <a:rPr lang="en-US" sz="2400" b="1" dirty="0">
                <a:solidFill>
                  <a:srgbClr val="FFCD00"/>
                </a:solidFill>
                <a:latin typeface="Arial Black" pitchFamily="34" charset="0"/>
                <a:ea typeface="Arial Black" pitchFamily="34" charset="-122"/>
                <a:cs typeface="Arial Black" pitchFamily="34" charset="-120"/>
              </a:rPr>
              <a:t>03</a:t>
            </a:r>
            <a:endParaRPr lang="en-US" sz="2400" dirty="0"/>
          </a:p>
        </p:txBody>
      </p:sp>
      <p:sp>
        <p:nvSpPr>
          <p:cNvPr id="12" name="Text 10"/>
          <p:cNvSpPr/>
          <p:nvPr/>
        </p:nvSpPr>
        <p:spPr>
          <a:xfrm>
            <a:off x="1143000" y="3922776"/>
            <a:ext cx="4114800" cy="411480"/>
          </a:xfrm>
          <a:prstGeom prst="rect">
            <a:avLst/>
          </a:prstGeom>
          <a:noFill/>
          <a:ln/>
        </p:spPr>
        <p:txBody>
          <a:bodyPr wrap="square" rtlCol="0" anchor="ctr"/>
          <a:lstStyle/>
          <a:p>
            <a:pPr marL="0" indent="0">
              <a:buNone/>
            </a:pPr>
            <a:r>
              <a:rPr lang="en-US" sz="2000" b="1" dirty="0">
                <a:solidFill>
                  <a:srgbClr val="FFFFFF"/>
                </a:solidFill>
                <a:latin typeface="Arial Black" pitchFamily="34" charset="0"/>
                <a:ea typeface="Arial Black" pitchFamily="34" charset="-122"/>
                <a:cs typeface="Arial Black" pitchFamily="34" charset="-120"/>
              </a:rPr>
              <a:t>What is blocking me?</a:t>
            </a:r>
            <a:endParaRPr lang="en-US" sz="2000" dirty="0"/>
          </a:p>
        </p:txBody>
      </p:sp>
      <p:pic>
        <p:nvPicPr>
          <p:cNvPr id="13" name="Picture 12" descr="team live meeting.jpeg"/>
          <p:cNvPicPr>
            <a:picLocks noChangeAspect="1"/>
          </p:cNvPicPr>
          <p:nvPr/>
        </p:nvPicPr>
        <p:blipFill>
          <a:blip r:embed="rId3"/>
          <a:stretch>
            <a:fillRect/>
          </a:stretch>
        </p:blipFill>
        <p:spPr>
          <a:xfrm>
            <a:off x="5376496" y="731520"/>
            <a:ext cx="3584624" cy="3285905"/>
          </a:xfrm>
          <a:prstGeom prst="rect">
            <a:avLst/>
          </a:prstGeom>
        </p:spPr>
      </p:pic>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8458200" y="201168"/>
            <a:ext cx="256032" cy="256032"/>
          </a:xfrm>
          <a:prstGeom prst="ellipse">
            <a:avLst/>
          </a:prstGeom>
          <a:solidFill>
            <a:srgbClr val="DDDDDD"/>
          </a:solidFill>
          <a:ln/>
        </p:spPr>
        <p:txBody>
          <a:bodyPr/>
          <a:lstStyle/>
          <a:p>
            <a:endParaRPr lang="en-GB"/>
          </a:p>
        </p:txBody>
      </p:sp>
      <p:sp>
        <p:nvSpPr>
          <p:cNvPr id="3" name="Text 1"/>
          <p:cNvSpPr/>
          <p:nvPr/>
        </p:nvSpPr>
        <p:spPr>
          <a:xfrm>
            <a:off x="457200" y="274320"/>
            <a:ext cx="6400800" cy="228600"/>
          </a:xfrm>
          <a:prstGeom prst="rect">
            <a:avLst/>
          </a:prstGeom>
          <a:noFill/>
          <a:ln/>
        </p:spPr>
        <p:txBody>
          <a:bodyPr wrap="square" rtlCol="0" anchor="ctr"/>
          <a:lstStyle/>
          <a:p>
            <a:pPr marL="0" indent="0">
              <a:buNone/>
            </a:pPr>
            <a:r>
              <a:rPr lang="en-US" sz="1000" b="1" kern="0" spc="200" dirty="0">
                <a:solidFill>
                  <a:srgbClr val="888888"/>
                </a:solidFill>
                <a:latin typeface="Arial" pitchFamily="34" charset="0"/>
                <a:ea typeface="Arial" pitchFamily="34" charset="-122"/>
                <a:cs typeface="Arial" pitchFamily="34" charset="-120"/>
              </a:rPr>
              <a:t>KEY DECISIONS</a:t>
            </a:r>
            <a:endParaRPr lang="en-US" sz="1000" dirty="0"/>
          </a:p>
        </p:txBody>
      </p:sp>
      <p:sp>
        <p:nvSpPr>
          <p:cNvPr id="4" name="Text 2"/>
          <p:cNvSpPr/>
          <p:nvPr/>
        </p:nvSpPr>
        <p:spPr>
          <a:xfrm>
            <a:off x="3657600" y="4919472"/>
            <a:ext cx="5212080" cy="182880"/>
          </a:xfrm>
          <a:prstGeom prst="rect">
            <a:avLst/>
          </a:prstGeom>
          <a:noFill/>
          <a:ln/>
        </p:spPr>
        <p:txBody>
          <a:bodyPr wrap="square" rtlCol="0" anchor="ctr"/>
          <a:lstStyle/>
          <a:p>
            <a:pPr marL="0" indent="0" algn="r">
              <a:buNone/>
            </a:pPr>
            <a:r>
              <a:rPr lang="en-US" sz="900" dirty="0">
                <a:solidFill>
                  <a:srgbClr val="888888"/>
                </a:solidFill>
                <a:latin typeface="Arial" pitchFamily="34" charset="0"/>
                <a:ea typeface="Arial" pitchFamily="34" charset="-122"/>
                <a:cs typeface="Arial" pitchFamily="34" charset="-120"/>
              </a:rPr>
              <a:t>NINJA QUIZ  ·  503IT  ·  08 / 18</a:t>
            </a:r>
            <a:endParaRPr lang="en-US" sz="900" dirty="0"/>
          </a:p>
        </p:txBody>
      </p:sp>
      <p:sp>
        <p:nvSpPr>
          <p:cNvPr id="5" name="Text 3"/>
          <p:cNvSpPr/>
          <p:nvPr/>
        </p:nvSpPr>
        <p:spPr>
          <a:xfrm>
            <a:off x="457200" y="685800"/>
            <a:ext cx="8229600" cy="812800"/>
          </a:xfrm>
          <a:prstGeom prst="rect">
            <a:avLst/>
          </a:prstGeom>
          <a:noFill/>
          <a:ln/>
        </p:spPr>
        <p:txBody>
          <a:bodyPr wrap="square" rtlCol="0" anchor="ctr"/>
          <a:lstStyle/>
          <a:p>
            <a:pPr marL="0" indent="0">
              <a:buNone/>
            </a:pPr>
            <a:r>
              <a:rPr lang="en-US" sz="3200" b="1" dirty="0">
                <a:solidFill>
                  <a:srgbClr val="111111"/>
                </a:solidFill>
                <a:latin typeface="Arial Black" pitchFamily="34" charset="0"/>
                <a:ea typeface="Arial Black" pitchFamily="34" charset="-122"/>
                <a:cs typeface="Arial Black" pitchFamily="34" charset="-120"/>
              </a:rPr>
              <a:t>How decisions got made.</a:t>
            </a:r>
            <a:endParaRPr lang="en-US" sz="3200" dirty="0"/>
          </a:p>
        </p:txBody>
      </p:sp>
      <p:sp>
        <p:nvSpPr>
          <p:cNvPr id="6" name="Shape 4"/>
          <p:cNvSpPr/>
          <p:nvPr/>
        </p:nvSpPr>
        <p:spPr>
          <a:xfrm>
            <a:off x="457200" y="1463040"/>
            <a:ext cx="8229600" cy="10973"/>
          </a:xfrm>
          <a:prstGeom prst="rect">
            <a:avLst/>
          </a:prstGeom>
          <a:solidFill>
            <a:srgbClr val="EEEEEE"/>
          </a:solidFill>
          <a:ln/>
        </p:spPr>
        <p:txBody>
          <a:bodyPr/>
          <a:lstStyle/>
          <a:p>
            <a:endParaRPr lang="en-GB"/>
          </a:p>
        </p:txBody>
      </p:sp>
      <p:sp>
        <p:nvSpPr>
          <p:cNvPr id="7" name="Shape 5"/>
          <p:cNvSpPr/>
          <p:nvPr/>
        </p:nvSpPr>
        <p:spPr>
          <a:xfrm>
            <a:off x="457200" y="1600200"/>
            <a:ext cx="3840480" cy="2926080"/>
          </a:xfrm>
          <a:prstGeom prst="rect">
            <a:avLst/>
          </a:prstGeom>
          <a:solidFill>
            <a:srgbClr val="F5F5F5"/>
          </a:solidFill>
          <a:ln/>
        </p:spPr>
        <p:txBody>
          <a:bodyPr/>
          <a:lstStyle/>
          <a:p>
            <a:endParaRPr lang="en-GB"/>
          </a:p>
        </p:txBody>
      </p:sp>
      <p:sp>
        <p:nvSpPr>
          <p:cNvPr id="8" name="Text 6"/>
          <p:cNvSpPr/>
          <p:nvPr/>
        </p:nvSpPr>
        <p:spPr>
          <a:xfrm>
            <a:off x="594360" y="1737360"/>
            <a:ext cx="3566160" cy="274320"/>
          </a:xfrm>
          <a:prstGeom prst="rect">
            <a:avLst/>
          </a:prstGeom>
          <a:noFill/>
          <a:ln/>
        </p:spPr>
        <p:txBody>
          <a:bodyPr wrap="square" rtlCol="0" anchor="ctr"/>
          <a:lstStyle/>
          <a:p>
            <a:pPr marL="0" indent="0">
              <a:buNone/>
            </a:pPr>
            <a:r>
              <a:rPr lang="en-US" sz="1000" b="1" kern="0" spc="100" dirty="0">
                <a:solidFill>
                  <a:srgbClr val="888888"/>
                </a:solidFill>
                <a:latin typeface="Arial" pitchFamily="34" charset="0"/>
                <a:ea typeface="Arial" pitchFamily="34" charset="-122"/>
                <a:cs typeface="Arial" pitchFamily="34" charset="-120"/>
              </a:rPr>
              <a:t>WITHOUT STRUCTURE</a:t>
            </a:r>
            <a:endParaRPr lang="en-US" sz="1000" dirty="0"/>
          </a:p>
        </p:txBody>
      </p:sp>
      <p:sp>
        <p:nvSpPr>
          <p:cNvPr id="9" name="Shape 7"/>
          <p:cNvSpPr/>
          <p:nvPr/>
        </p:nvSpPr>
        <p:spPr>
          <a:xfrm>
            <a:off x="594360" y="2148840"/>
            <a:ext cx="54864" cy="182880"/>
          </a:xfrm>
          <a:prstGeom prst="rect">
            <a:avLst/>
          </a:prstGeom>
          <a:solidFill>
            <a:srgbClr val="DDDDDD"/>
          </a:solidFill>
          <a:ln/>
        </p:spPr>
        <p:txBody>
          <a:bodyPr/>
          <a:lstStyle/>
          <a:p>
            <a:endParaRPr lang="en-GB"/>
          </a:p>
        </p:txBody>
      </p:sp>
      <p:sp>
        <p:nvSpPr>
          <p:cNvPr id="10" name="Text 8"/>
          <p:cNvSpPr/>
          <p:nvPr/>
        </p:nvSpPr>
        <p:spPr>
          <a:xfrm>
            <a:off x="731520" y="2103120"/>
            <a:ext cx="3383280" cy="320040"/>
          </a:xfrm>
          <a:prstGeom prst="rect">
            <a:avLst/>
          </a:prstGeom>
          <a:noFill/>
          <a:ln/>
        </p:spPr>
        <p:txBody>
          <a:bodyPr wrap="square" rtlCol="0" anchor="ctr"/>
          <a:lstStyle/>
          <a:p>
            <a:pPr marL="0" indent="0">
              <a:buNone/>
            </a:pPr>
            <a:r>
              <a:rPr lang="en-US" sz="1400" dirty="0">
                <a:solidFill>
                  <a:srgbClr val="888888"/>
                </a:solidFill>
                <a:latin typeface="Arial" pitchFamily="34" charset="0"/>
                <a:ea typeface="Arial" pitchFamily="34" charset="-122"/>
                <a:cs typeface="Arial" pitchFamily="34" charset="-120"/>
              </a:rPr>
              <a:t>Whoever spoke first won</a:t>
            </a:r>
            <a:endParaRPr lang="en-US" sz="1400" dirty="0"/>
          </a:p>
        </p:txBody>
      </p:sp>
      <p:sp>
        <p:nvSpPr>
          <p:cNvPr id="11" name="Shape 9"/>
          <p:cNvSpPr/>
          <p:nvPr/>
        </p:nvSpPr>
        <p:spPr>
          <a:xfrm>
            <a:off x="594360" y="2770632"/>
            <a:ext cx="54864" cy="182880"/>
          </a:xfrm>
          <a:prstGeom prst="rect">
            <a:avLst/>
          </a:prstGeom>
          <a:solidFill>
            <a:srgbClr val="DDDDDD"/>
          </a:solidFill>
          <a:ln/>
        </p:spPr>
        <p:txBody>
          <a:bodyPr/>
          <a:lstStyle/>
          <a:p>
            <a:endParaRPr lang="en-GB"/>
          </a:p>
        </p:txBody>
      </p:sp>
      <p:sp>
        <p:nvSpPr>
          <p:cNvPr id="12" name="Text 10"/>
          <p:cNvSpPr/>
          <p:nvPr/>
        </p:nvSpPr>
        <p:spPr>
          <a:xfrm>
            <a:off x="731520" y="2724912"/>
            <a:ext cx="3383280" cy="320040"/>
          </a:xfrm>
          <a:prstGeom prst="rect">
            <a:avLst/>
          </a:prstGeom>
          <a:noFill/>
          <a:ln/>
        </p:spPr>
        <p:txBody>
          <a:bodyPr wrap="square" rtlCol="0" anchor="ctr"/>
          <a:lstStyle/>
          <a:p>
            <a:pPr marL="0" indent="0">
              <a:buNone/>
            </a:pPr>
            <a:r>
              <a:rPr lang="en-US" sz="1400" dirty="0">
                <a:solidFill>
                  <a:srgbClr val="888888"/>
                </a:solidFill>
                <a:latin typeface="Arial" pitchFamily="34" charset="0"/>
                <a:ea typeface="Arial" pitchFamily="34" charset="-122"/>
                <a:cs typeface="Arial" pitchFamily="34" charset="-120"/>
              </a:rPr>
              <a:t>No record of why</a:t>
            </a:r>
            <a:endParaRPr lang="en-US" sz="1400" dirty="0"/>
          </a:p>
        </p:txBody>
      </p:sp>
      <p:sp>
        <p:nvSpPr>
          <p:cNvPr id="13" name="Shape 11"/>
          <p:cNvSpPr/>
          <p:nvPr/>
        </p:nvSpPr>
        <p:spPr>
          <a:xfrm>
            <a:off x="594360" y="3392424"/>
            <a:ext cx="54864" cy="182880"/>
          </a:xfrm>
          <a:prstGeom prst="rect">
            <a:avLst/>
          </a:prstGeom>
          <a:solidFill>
            <a:srgbClr val="DDDDDD"/>
          </a:solidFill>
          <a:ln/>
        </p:spPr>
        <p:txBody>
          <a:bodyPr/>
          <a:lstStyle/>
          <a:p>
            <a:endParaRPr lang="en-GB"/>
          </a:p>
        </p:txBody>
      </p:sp>
      <p:sp>
        <p:nvSpPr>
          <p:cNvPr id="14" name="Text 12"/>
          <p:cNvSpPr/>
          <p:nvPr/>
        </p:nvSpPr>
        <p:spPr>
          <a:xfrm>
            <a:off x="731520" y="3346704"/>
            <a:ext cx="3383280" cy="320040"/>
          </a:xfrm>
          <a:prstGeom prst="rect">
            <a:avLst/>
          </a:prstGeom>
          <a:noFill/>
          <a:ln/>
        </p:spPr>
        <p:txBody>
          <a:bodyPr wrap="square" rtlCol="0" anchor="ctr"/>
          <a:lstStyle/>
          <a:p>
            <a:pPr marL="0" indent="0">
              <a:buNone/>
            </a:pPr>
            <a:r>
              <a:rPr lang="en-US" sz="1400" dirty="0">
                <a:solidFill>
                  <a:srgbClr val="888888"/>
                </a:solidFill>
                <a:latin typeface="Arial" pitchFamily="34" charset="0"/>
                <a:ea typeface="Arial" pitchFamily="34" charset="-122"/>
                <a:cs typeface="Arial" pitchFamily="34" charset="-120"/>
              </a:rPr>
              <a:t>Decisions changed mid-sprint</a:t>
            </a:r>
            <a:endParaRPr lang="en-US" sz="1400" dirty="0"/>
          </a:p>
        </p:txBody>
      </p:sp>
      <p:sp>
        <p:nvSpPr>
          <p:cNvPr id="15" name="Shape 13"/>
          <p:cNvSpPr/>
          <p:nvPr/>
        </p:nvSpPr>
        <p:spPr>
          <a:xfrm>
            <a:off x="4846320" y="1600200"/>
            <a:ext cx="3840480" cy="2926080"/>
          </a:xfrm>
          <a:prstGeom prst="rect">
            <a:avLst/>
          </a:prstGeom>
          <a:solidFill>
            <a:srgbClr val="111111"/>
          </a:solidFill>
          <a:ln/>
        </p:spPr>
        <p:txBody>
          <a:bodyPr/>
          <a:lstStyle/>
          <a:p>
            <a:endParaRPr lang="en-GB"/>
          </a:p>
        </p:txBody>
      </p:sp>
      <p:sp>
        <p:nvSpPr>
          <p:cNvPr id="16" name="Shape 14"/>
          <p:cNvSpPr/>
          <p:nvPr/>
        </p:nvSpPr>
        <p:spPr>
          <a:xfrm>
            <a:off x="4846320" y="1600200"/>
            <a:ext cx="54864" cy="2926080"/>
          </a:xfrm>
          <a:prstGeom prst="rect">
            <a:avLst/>
          </a:prstGeom>
          <a:solidFill>
            <a:srgbClr val="FFCD00"/>
          </a:solidFill>
          <a:ln/>
        </p:spPr>
        <p:txBody>
          <a:bodyPr/>
          <a:lstStyle/>
          <a:p>
            <a:endParaRPr lang="en-GB"/>
          </a:p>
        </p:txBody>
      </p:sp>
      <p:sp>
        <p:nvSpPr>
          <p:cNvPr id="17" name="Text 15"/>
          <p:cNvSpPr/>
          <p:nvPr/>
        </p:nvSpPr>
        <p:spPr>
          <a:xfrm>
            <a:off x="5029200" y="1737360"/>
            <a:ext cx="3566160" cy="274320"/>
          </a:xfrm>
          <a:prstGeom prst="rect">
            <a:avLst/>
          </a:prstGeom>
          <a:noFill/>
          <a:ln/>
        </p:spPr>
        <p:txBody>
          <a:bodyPr wrap="square" rtlCol="0" anchor="ctr"/>
          <a:lstStyle/>
          <a:p>
            <a:pPr marL="0" indent="0">
              <a:buNone/>
            </a:pPr>
            <a:r>
              <a:rPr lang="en-US" sz="1000" b="1" kern="0" spc="100" dirty="0">
                <a:solidFill>
                  <a:srgbClr val="FFCD00"/>
                </a:solidFill>
                <a:latin typeface="Arial" pitchFamily="34" charset="0"/>
                <a:ea typeface="Arial" pitchFamily="34" charset="-122"/>
                <a:cs typeface="Arial" pitchFamily="34" charset="-120"/>
              </a:rPr>
              <a:t>WITH STRUCTURE</a:t>
            </a:r>
            <a:endParaRPr lang="en-US" sz="1000" dirty="0"/>
          </a:p>
        </p:txBody>
      </p:sp>
      <p:sp>
        <p:nvSpPr>
          <p:cNvPr id="18" name="Shape 16"/>
          <p:cNvSpPr/>
          <p:nvPr/>
        </p:nvSpPr>
        <p:spPr>
          <a:xfrm>
            <a:off x="5029200" y="2148840"/>
            <a:ext cx="54864" cy="182880"/>
          </a:xfrm>
          <a:prstGeom prst="rect">
            <a:avLst/>
          </a:prstGeom>
          <a:solidFill>
            <a:srgbClr val="FFCD00"/>
          </a:solidFill>
          <a:ln/>
        </p:spPr>
        <p:txBody>
          <a:bodyPr/>
          <a:lstStyle/>
          <a:p>
            <a:endParaRPr lang="en-GB"/>
          </a:p>
        </p:txBody>
      </p:sp>
      <p:sp>
        <p:nvSpPr>
          <p:cNvPr id="19" name="Text 17"/>
          <p:cNvSpPr/>
          <p:nvPr/>
        </p:nvSpPr>
        <p:spPr>
          <a:xfrm>
            <a:off x="5166360" y="2103120"/>
            <a:ext cx="3383280" cy="320040"/>
          </a:xfrm>
          <a:prstGeom prst="rect">
            <a:avLst/>
          </a:prstGeom>
          <a:noFill/>
          <a:ln/>
        </p:spPr>
        <p:txBody>
          <a:bodyPr wrap="square" rtlCol="0" anchor="ctr"/>
          <a:lstStyle/>
          <a:p>
            <a:pPr marL="0" indent="0">
              <a:buNone/>
            </a:pPr>
            <a:r>
              <a:rPr lang="en-US" sz="1400" dirty="0">
                <a:solidFill>
                  <a:srgbClr val="FFFFFF"/>
                </a:solidFill>
                <a:latin typeface="Arial" pitchFamily="34" charset="0"/>
                <a:ea typeface="Arial" pitchFamily="34" charset="-122"/>
                <a:cs typeface="Arial" pitchFamily="34" charset="-120"/>
              </a:rPr>
              <a:t>Meeting minutes documented</a:t>
            </a:r>
            <a:endParaRPr lang="en-US" sz="1400" dirty="0"/>
          </a:p>
        </p:txBody>
      </p:sp>
      <p:sp>
        <p:nvSpPr>
          <p:cNvPr id="20" name="Shape 18"/>
          <p:cNvSpPr/>
          <p:nvPr/>
        </p:nvSpPr>
        <p:spPr>
          <a:xfrm>
            <a:off x="5029200" y="2770632"/>
            <a:ext cx="54864" cy="182880"/>
          </a:xfrm>
          <a:prstGeom prst="rect">
            <a:avLst/>
          </a:prstGeom>
          <a:solidFill>
            <a:srgbClr val="FFCD00"/>
          </a:solidFill>
          <a:ln/>
        </p:spPr>
        <p:txBody>
          <a:bodyPr/>
          <a:lstStyle/>
          <a:p>
            <a:endParaRPr lang="en-GB"/>
          </a:p>
        </p:txBody>
      </p:sp>
      <p:sp>
        <p:nvSpPr>
          <p:cNvPr id="21" name="Text 19"/>
          <p:cNvSpPr/>
          <p:nvPr/>
        </p:nvSpPr>
        <p:spPr>
          <a:xfrm>
            <a:off x="5166360" y="2724912"/>
            <a:ext cx="3383280" cy="320040"/>
          </a:xfrm>
          <a:prstGeom prst="rect">
            <a:avLst/>
          </a:prstGeom>
          <a:noFill/>
          <a:ln/>
        </p:spPr>
        <p:txBody>
          <a:bodyPr wrap="square" rtlCol="0" anchor="ctr"/>
          <a:lstStyle/>
          <a:p>
            <a:pPr marL="0" indent="0">
              <a:buNone/>
            </a:pPr>
            <a:r>
              <a:rPr lang="en-US" sz="1400" dirty="0">
                <a:solidFill>
                  <a:srgbClr val="FFFFFF"/>
                </a:solidFill>
                <a:latin typeface="Arial" pitchFamily="34" charset="0"/>
                <a:ea typeface="Arial" pitchFamily="34" charset="-122"/>
                <a:cs typeface="Arial" pitchFamily="34" charset="-120"/>
              </a:rPr>
              <a:t>Trello card created for each decision</a:t>
            </a:r>
            <a:endParaRPr lang="en-US" sz="1400" dirty="0"/>
          </a:p>
        </p:txBody>
      </p:sp>
      <p:sp>
        <p:nvSpPr>
          <p:cNvPr id="22" name="Shape 20"/>
          <p:cNvSpPr/>
          <p:nvPr/>
        </p:nvSpPr>
        <p:spPr>
          <a:xfrm>
            <a:off x="5029200" y="3392424"/>
            <a:ext cx="54864" cy="182880"/>
          </a:xfrm>
          <a:prstGeom prst="rect">
            <a:avLst/>
          </a:prstGeom>
          <a:solidFill>
            <a:srgbClr val="FFCD00"/>
          </a:solidFill>
          <a:ln/>
        </p:spPr>
        <p:txBody>
          <a:bodyPr/>
          <a:lstStyle/>
          <a:p>
            <a:endParaRPr lang="en-GB"/>
          </a:p>
        </p:txBody>
      </p:sp>
      <p:sp>
        <p:nvSpPr>
          <p:cNvPr id="23" name="Text 21"/>
          <p:cNvSpPr/>
          <p:nvPr/>
        </p:nvSpPr>
        <p:spPr>
          <a:xfrm>
            <a:off x="5166360" y="3346704"/>
            <a:ext cx="3383280" cy="320040"/>
          </a:xfrm>
          <a:prstGeom prst="rect">
            <a:avLst/>
          </a:prstGeom>
          <a:noFill/>
          <a:ln/>
        </p:spPr>
        <p:txBody>
          <a:bodyPr wrap="square" rtlCol="0" anchor="ctr"/>
          <a:lstStyle/>
          <a:p>
            <a:pPr marL="0" indent="0">
              <a:buNone/>
            </a:pPr>
            <a:r>
              <a:rPr lang="en-US" sz="1400" dirty="0">
                <a:solidFill>
                  <a:srgbClr val="FFFFFF"/>
                </a:solidFill>
                <a:latin typeface="Arial" pitchFamily="34" charset="0"/>
                <a:ea typeface="Arial" pitchFamily="34" charset="-122"/>
                <a:cs typeface="Arial" pitchFamily="34" charset="-120"/>
              </a:rPr>
              <a:t>Everyone had a vote</a:t>
            </a:r>
            <a:endParaRPr lang="en-US" sz="14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8458200" y="201168"/>
            <a:ext cx="256032" cy="256032"/>
          </a:xfrm>
          <a:prstGeom prst="ellipse">
            <a:avLst/>
          </a:prstGeom>
          <a:solidFill>
            <a:srgbClr val="DDDDDD"/>
          </a:solidFill>
          <a:ln/>
        </p:spPr>
        <p:txBody>
          <a:bodyPr/>
          <a:lstStyle/>
          <a:p>
            <a:endParaRPr lang="en-GB"/>
          </a:p>
        </p:txBody>
      </p:sp>
      <p:sp>
        <p:nvSpPr>
          <p:cNvPr id="3" name="Text 1"/>
          <p:cNvSpPr/>
          <p:nvPr/>
        </p:nvSpPr>
        <p:spPr>
          <a:xfrm>
            <a:off x="457200" y="274320"/>
            <a:ext cx="6400800" cy="228600"/>
          </a:xfrm>
          <a:prstGeom prst="rect">
            <a:avLst/>
          </a:prstGeom>
          <a:noFill/>
          <a:ln/>
        </p:spPr>
        <p:txBody>
          <a:bodyPr wrap="square" rtlCol="0" anchor="ctr"/>
          <a:lstStyle/>
          <a:p>
            <a:pPr marL="0" indent="0">
              <a:buNone/>
            </a:pPr>
            <a:r>
              <a:rPr lang="en-US" sz="1000" b="1" kern="0" spc="200" dirty="0">
                <a:solidFill>
                  <a:srgbClr val="888888"/>
                </a:solidFill>
                <a:latin typeface="Arial" pitchFamily="34" charset="0"/>
                <a:ea typeface="Arial" pitchFamily="34" charset="-122"/>
                <a:cs typeface="Arial" pitchFamily="34" charset="-120"/>
              </a:rPr>
              <a:t>DELIVERY PROCESS</a:t>
            </a:r>
            <a:endParaRPr lang="en-US" sz="1000" dirty="0"/>
          </a:p>
        </p:txBody>
      </p:sp>
      <p:sp>
        <p:nvSpPr>
          <p:cNvPr id="4" name="Text 2"/>
          <p:cNvSpPr/>
          <p:nvPr/>
        </p:nvSpPr>
        <p:spPr>
          <a:xfrm>
            <a:off x="3657600" y="4919472"/>
            <a:ext cx="5212080" cy="182880"/>
          </a:xfrm>
          <a:prstGeom prst="rect">
            <a:avLst/>
          </a:prstGeom>
          <a:noFill/>
          <a:ln/>
        </p:spPr>
        <p:txBody>
          <a:bodyPr wrap="square" rtlCol="0" anchor="ctr"/>
          <a:lstStyle/>
          <a:p>
            <a:pPr marL="0" indent="0" algn="r">
              <a:buNone/>
            </a:pPr>
            <a:r>
              <a:rPr lang="en-US" sz="900" dirty="0">
                <a:solidFill>
                  <a:srgbClr val="888888"/>
                </a:solidFill>
                <a:latin typeface="Arial" pitchFamily="34" charset="0"/>
                <a:ea typeface="Arial" pitchFamily="34" charset="-122"/>
                <a:cs typeface="Arial" pitchFamily="34" charset="-120"/>
              </a:rPr>
              <a:t>NINJA QUIZ  ·  503IT  ·  09 / 18</a:t>
            </a:r>
            <a:endParaRPr lang="en-US" sz="900" dirty="0"/>
          </a:p>
        </p:txBody>
      </p:sp>
      <p:sp>
        <p:nvSpPr>
          <p:cNvPr id="5" name="Text 3"/>
          <p:cNvSpPr/>
          <p:nvPr/>
        </p:nvSpPr>
        <p:spPr>
          <a:xfrm>
            <a:off x="457200" y="685800"/>
            <a:ext cx="8229600" cy="812800"/>
          </a:xfrm>
          <a:prstGeom prst="rect">
            <a:avLst/>
          </a:prstGeom>
          <a:noFill/>
          <a:ln/>
        </p:spPr>
        <p:txBody>
          <a:bodyPr wrap="square" rtlCol="0" anchor="ctr"/>
          <a:lstStyle/>
          <a:p>
            <a:pPr marL="0" indent="0">
              <a:buNone/>
            </a:pPr>
            <a:r>
              <a:rPr lang="en-US" sz="3200" b="1" dirty="0">
                <a:solidFill>
                  <a:srgbClr val="111111"/>
                </a:solidFill>
                <a:latin typeface="Arial Black" pitchFamily="34" charset="0"/>
                <a:ea typeface="Arial Black" pitchFamily="34" charset="-122"/>
                <a:cs typeface="Arial Black" pitchFamily="34" charset="-120"/>
              </a:rPr>
              <a:t>Built in five sprints.</a:t>
            </a:r>
            <a:endParaRPr lang="en-US" sz="3200" dirty="0"/>
          </a:p>
        </p:txBody>
      </p:sp>
      <p:sp>
        <p:nvSpPr>
          <p:cNvPr id="6" name="Shape 4"/>
          <p:cNvSpPr/>
          <p:nvPr/>
        </p:nvSpPr>
        <p:spPr>
          <a:xfrm>
            <a:off x="457200" y="1463040"/>
            <a:ext cx="8229600" cy="10973"/>
          </a:xfrm>
          <a:prstGeom prst="rect">
            <a:avLst/>
          </a:prstGeom>
          <a:solidFill>
            <a:srgbClr val="EEEEEE"/>
          </a:solidFill>
          <a:ln/>
        </p:spPr>
        <p:txBody>
          <a:bodyPr/>
          <a:lstStyle/>
          <a:p>
            <a:endParaRPr lang="en-GB"/>
          </a:p>
        </p:txBody>
      </p:sp>
      <p:sp>
        <p:nvSpPr>
          <p:cNvPr id="7" name="Text 5"/>
          <p:cNvSpPr/>
          <p:nvPr/>
        </p:nvSpPr>
        <p:spPr>
          <a:xfrm>
            <a:off x="457200" y="1609344"/>
            <a:ext cx="868680" cy="411480"/>
          </a:xfrm>
          <a:prstGeom prst="rect">
            <a:avLst/>
          </a:prstGeom>
          <a:noFill/>
          <a:ln/>
        </p:spPr>
        <p:txBody>
          <a:bodyPr wrap="square" rtlCol="0" anchor="ctr">
            <a:normAutofit/>
          </a:bodyPr>
          <a:lstStyle/>
          <a:p>
            <a:pPr marL="0" indent="0">
              <a:buNone/>
            </a:pPr>
            <a:r>
              <a:rPr lang="en-US" sz="2000" b="1" dirty="0">
                <a:solidFill>
                  <a:srgbClr val="FFCD00"/>
                </a:solidFill>
                <a:latin typeface="Arial Black" pitchFamily="34" charset="0"/>
                <a:ea typeface="Arial Black" pitchFamily="34" charset="-122"/>
                <a:cs typeface="Arial Black" pitchFamily="34" charset="-120"/>
              </a:rPr>
              <a:t>01</a:t>
            </a:r>
            <a:endParaRPr lang="en-US" sz="2000" dirty="0"/>
          </a:p>
        </p:txBody>
      </p:sp>
      <p:sp>
        <p:nvSpPr>
          <p:cNvPr id="8" name="Text 6"/>
          <p:cNvSpPr/>
          <p:nvPr/>
        </p:nvSpPr>
        <p:spPr>
          <a:xfrm>
            <a:off x="1371600" y="1591056"/>
            <a:ext cx="7315200" cy="292608"/>
          </a:xfrm>
          <a:prstGeom prst="rect">
            <a:avLst/>
          </a:prstGeom>
          <a:noFill/>
          <a:ln/>
        </p:spPr>
        <p:txBody>
          <a:bodyPr wrap="square" rtlCol="0" anchor="ctr"/>
          <a:lstStyle/>
          <a:p>
            <a:pPr marL="0" indent="0">
              <a:buNone/>
            </a:pPr>
            <a:r>
              <a:rPr lang="en-US" sz="1700" b="1" dirty="0">
                <a:solidFill>
                  <a:srgbClr val="111111"/>
                </a:solidFill>
                <a:latin typeface="Arial Black" pitchFamily="34" charset="0"/>
                <a:ea typeface="Arial Black" pitchFamily="34" charset="-122"/>
                <a:cs typeface="Arial Black" pitchFamily="34" charset="-120"/>
              </a:rPr>
              <a:t>Sprint 1  —  Login &amp; menu</a:t>
            </a:r>
            <a:endParaRPr lang="en-US" sz="1700" dirty="0"/>
          </a:p>
        </p:txBody>
      </p:sp>
      <p:sp>
        <p:nvSpPr>
          <p:cNvPr id="9" name="Text 7"/>
          <p:cNvSpPr/>
          <p:nvPr/>
        </p:nvSpPr>
        <p:spPr>
          <a:xfrm>
            <a:off x="1371600" y="1892808"/>
            <a:ext cx="7315200" cy="228600"/>
          </a:xfrm>
          <a:prstGeom prst="rect">
            <a:avLst/>
          </a:prstGeom>
          <a:noFill/>
          <a:ln/>
        </p:spPr>
        <p:txBody>
          <a:bodyPr wrap="square" rtlCol="0" anchor="ctr"/>
          <a:lstStyle/>
          <a:p>
            <a:pPr marL="0" indent="0">
              <a:buNone/>
            </a:pPr>
            <a:r>
              <a:rPr lang="en-US" sz="1200" dirty="0">
                <a:solidFill>
                  <a:srgbClr val="888888"/>
                </a:solidFill>
                <a:latin typeface="Arial" pitchFamily="34" charset="0"/>
                <a:ea typeface="Arial" pitchFamily="34" charset="-122"/>
                <a:cs typeface="Arial" pitchFamily="34" charset="-120"/>
              </a:rPr>
              <a:t>Foundation. Every member set up. GitHub branches created.</a:t>
            </a:r>
            <a:endParaRPr lang="en-US" sz="1200" dirty="0"/>
          </a:p>
        </p:txBody>
      </p:sp>
      <p:sp>
        <p:nvSpPr>
          <p:cNvPr id="10" name="Text 8"/>
          <p:cNvSpPr/>
          <p:nvPr/>
        </p:nvSpPr>
        <p:spPr>
          <a:xfrm>
            <a:off x="457200" y="2231136"/>
            <a:ext cx="868680" cy="411480"/>
          </a:xfrm>
          <a:prstGeom prst="rect">
            <a:avLst/>
          </a:prstGeom>
          <a:noFill/>
          <a:ln/>
        </p:spPr>
        <p:txBody>
          <a:bodyPr wrap="square" rtlCol="0" anchor="ctr">
            <a:normAutofit/>
          </a:bodyPr>
          <a:lstStyle/>
          <a:p>
            <a:pPr marL="0" indent="0">
              <a:buNone/>
            </a:pPr>
            <a:r>
              <a:rPr lang="en-US" sz="2000" b="1" dirty="0">
                <a:solidFill>
                  <a:srgbClr val="FFCD00"/>
                </a:solidFill>
                <a:latin typeface="Arial Black" pitchFamily="34" charset="0"/>
                <a:ea typeface="Arial Black" pitchFamily="34" charset="-122"/>
                <a:cs typeface="Arial Black" pitchFamily="34" charset="-120"/>
              </a:rPr>
              <a:t>02</a:t>
            </a:r>
            <a:endParaRPr lang="en-US" sz="2000" dirty="0"/>
          </a:p>
        </p:txBody>
      </p:sp>
      <p:sp>
        <p:nvSpPr>
          <p:cNvPr id="11" name="Text 9"/>
          <p:cNvSpPr/>
          <p:nvPr/>
        </p:nvSpPr>
        <p:spPr>
          <a:xfrm>
            <a:off x="1371600" y="2212848"/>
            <a:ext cx="7315200" cy="292608"/>
          </a:xfrm>
          <a:prstGeom prst="rect">
            <a:avLst/>
          </a:prstGeom>
          <a:noFill/>
          <a:ln/>
        </p:spPr>
        <p:txBody>
          <a:bodyPr wrap="square" rtlCol="0" anchor="ctr"/>
          <a:lstStyle/>
          <a:p>
            <a:pPr marL="0" indent="0">
              <a:buNone/>
            </a:pPr>
            <a:r>
              <a:rPr lang="en-US" sz="1700" b="1" dirty="0">
                <a:solidFill>
                  <a:srgbClr val="111111"/>
                </a:solidFill>
                <a:latin typeface="Arial Black" pitchFamily="34" charset="0"/>
                <a:ea typeface="Arial Black" pitchFamily="34" charset="-122"/>
                <a:cs typeface="Arial Black" pitchFamily="34" charset="-120"/>
              </a:rPr>
              <a:t>Sprint 2  —  Game engine</a:t>
            </a:r>
            <a:endParaRPr lang="en-US" sz="1700" dirty="0"/>
          </a:p>
        </p:txBody>
      </p:sp>
      <p:sp>
        <p:nvSpPr>
          <p:cNvPr id="12" name="Text 10"/>
          <p:cNvSpPr/>
          <p:nvPr/>
        </p:nvSpPr>
        <p:spPr>
          <a:xfrm>
            <a:off x="1371600" y="2514600"/>
            <a:ext cx="7315200" cy="228600"/>
          </a:xfrm>
          <a:prstGeom prst="rect">
            <a:avLst/>
          </a:prstGeom>
          <a:noFill/>
          <a:ln/>
        </p:spPr>
        <p:txBody>
          <a:bodyPr wrap="square" rtlCol="0" anchor="ctr"/>
          <a:lstStyle/>
          <a:p>
            <a:pPr marL="0" indent="0">
              <a:buNone/>
            </a:pPr>
            <a:r>
              <a:rPr lang="en-US" sz="1200" dirty="0">
                <a:solidFill>
                  <a:srgbClr val="888888"/>
                </a:solidFill>
                <a:latin typeface="Arial" pitchFamily="34" charset="0"/>
                <a:ea typeface="Arial" pitchFamily="34" charset="-122"/>
                <a:cs typeface="Arial" pitchFamily="34" charset="-120"/>
              </a:rPr>
              <a:t>Core mechanics built. Daily check-ins via WhatsApp.</a:t>
            </a:r>
            <a:endParaRPr lang="en-US" sz="1200" dirty="0"/>
          </a:p>
        </p:txBody>
      </p:sp>
      <p:sp>
        <p:nvSpPr>
          <p:cNvPr id="13" name="Text 11"/>
          <p:cNvSpPr/>
          <p:nvPr/>
        </p:nvSpPr>
        <p:spPr>
          <a:xfrm>
            <a:off x="457200" y="2852928"/>
            <a:ext cx="868680" cy="411480"/>
          </a:xfrm>
          <a:prstGeom prst="rect">
            <a:avLst/>
          </a:prstGeom>
          <a:noFill/>
          <a:ln/>
        </p:spPr>
        <p:txBody>
          <a:bodyPr wrap="square" rtlCol="0" anchor="ctr">
            <a:normAutofit/>
          </a:bodyPr>
          <a:lstStyle/>
          <a:p>
            <a:pPr marL="0" indent="0">
              <a:buNone/>
            </a:pPr>
            <a:r>
              <a:rPr lang="en-US" sz="2000" b="1" dirty="0">
                <a:solidFill>
                  <a:srgbClr val="FFCD00"/>
                </a:solidFill>
                <a:latin typeface="Arial Black" pitchFamily="34" charset="0"/>
                <a:ea typeface="Arial Black" pitchFamily="34" charset="-122"/>
                <a:cs typeface="Arial Black" pitchFamily="34" charset="-120"/>
              </a:rPr>
              <a:t>03</a:t>
            </a:r>
            <a:endParaRPr lang="en-US" sz="2000" dirty="0"/>
          </a:p>
        </p:txBody>
      </p:sp>
      <p:sp>
        <p:nvSpPr>
          <p:cNvPr id="14" name="Text 12"/>
          <p:cNvSpPr/>
          <p:nvPr/>
        </p:nvSpPr>
        <p:spPr>
          <a:xfrm>
            <a:off x="1371600" y="2834640"/>
            <a:ext cx="7315200" cy="292608"/>
          </a:xfrm>
          <a:prstGeom prst="rect">
            <a:avLst/>
          </a:prstGeom>
          <a:noFill/>
          <a:ln/>
        </p:spPr>
        <p:txBody>
          <a:bodyPr wrap="square" rtlCol="0" anchor="ctr"/>
          <a:lstStyle/>
          <a:p>
            <a:pPr marL="0" indent="0">
              <a:buNone/>
            </a:pPr>
            <a:r>
              <a:rPr lang="en-US" sz="1700" b="1" dirty="0">
                <a:solidFill>
                  <a:srgbClr val="111111"/>
                </a:solidFill>
                <a:latin typeface="Arial Black" pitchFamily="34" charset="0"/>
                <a:ea typeface="Arial Black" pitchFamily="34" charset="-122"/>
                <a:cs typeface="Arial Black" pitchFamily="34" charset="-120"/>
              </a:rPr>
              <a:t>Sprint 3  —  Slicing &amp; sound</a:t>
            </a:r>
            <a:endParaRPr lang="en-US" sz="1700" dirty="0"/>
          </a:p>
        </p:txBody>
      </p:sp>
      <p:sp>
        <p:nvSpPr>
          <p:cNvPr id="15" name="Text 13"/>
          <p:cNvSpPr/>
          <p:nvPr/>
        </p:nvSpPr>
        <p:spPr>
          <a:xfrm>
            <a:off x="1371600" y="3136392"/>
            <a:ext cx="7315200" cy="228600"/>
          </a:xfrm>
          <a:prstGeom prst="rect">
            <a:avLst/>
          </a:prstGeom>
          <a:noFill/>
          <a:ln/>
        </p:spPr>
        <p:txBody>
          <a:bodyPr wrap="square" rtlCol="0" anchor="ctr"/>
          <a:lstStyle/>
          <a:p>
            <a:pPr marL="0" indent="0">
              <a:buNone/>
            </a:pPr>
            <a:r>
              <a:rPr lang="en-US" sz="1200" dirty="0">
                <a:solidFill>
                  <a:srgbClr val="888888"/>
                </a:solidFill>
                <a:latin typeface="Arial" pitchFamily="34" charset="0"/>
                <a:ea typeface="Arial" pitchFamily="34" charset="-122"/>
                <a:cs typeface="Arial" pitchFamily="34" charset="-120"/>
              </a:rPr>
              <a:t>Visual integration. First merge conflicts resolved.</a:t>
            </a:r>
            <a:endParaRPr lang="en-US" sz="1200" dirty="0"/>
          </a:p>
        </p:txBody>
      </p:sp>
      <p:sp>
        <p:nvSpPr>
          <p:cNvPr id="16" name="Text 14"/>
          <p:cNvSpPr/>
          <p:nvPr/>
        </p:nvSpPr>
        <p:spPr>
          <a:xfrm>
            <a:off x="457200" y="3474720"/>
            <a:ext cx="868680" cy="411480"/>
          </a:xfrm>
          <a:prstGeom prst="rect">
            <a:avLst/>
          </a:prstGeom>
          <a:noFill/>
          <a:ln/>
        </p:spPr>
        <p:txBody>
          <a:bodyPr wrap="square" rtlCol="0" anchor="ctr">
            <a:normAutofit/>
          </a:bodyPr>
          <a:lstStyle/>
          <a:p>
            <a:pPr marL="0" indent="0">
              <a:buNone/>
            </a:pPr>
            <a:r>
              <a:rPr lang="en-US" sz="2000" b="1" dirty="0">
                <a:solidFill>
                  <a:srgbClr val="FFCD00"/>
                </a:solidFill>
                <a:latin typeface="Arial Black" pitchFamily="34" charset="0"/>
                <a:ea typeface="Arial Black" pitchFamily="34" charset="-122"/>
                <a:cs typeface="Arial Black" pitchFamily="34" charset="-120"/>
              </a:rPr>
              <a:t>04</a:t>
            </a:r>
            <a:endParaRPr lang="en-US" sz="2000" dirty="0"/>
          </a:p>
        </p:txBody>
      </p:sp>
      <p:sp>
        <p:nvSpPr>
          <p:cNvPr id="17" name="Text 15"/>
          <p:cNvSpPr/>
          <p:nvPr/>
        </p:nvSpPr>
        <p:spPr>
          <a:xfrm>
            <a:off x="1371600" y="3456432"/>
            <a:ext cx="7315200" cy="292608"/>
          </a:xfrm>
          <a:prstGeom prst="rect">
            <a:avLst/>
          </a:prstGeom>
          <a:noFill/>
          <a:ln/>
        </p:spPr>
        <p:txBody>
          <a:bodyPr wrap="square" rtlCol="0" anchor="ctr"/>
          <a:lstStyle/>
          <a:p>
            <a:pPr marL="0" indent="0">
              <a:buNone/>
            </a:pPr>
            <a:r>
              <a:rPr lang="en-US" sz="1700" b="1" dirty="0">
                <a:solidFill>
                  <a:srgbClr val="111111"/>
                </a:solidFill>
                <a:latin typeface="Arial Black" pitchFamily="34" charset="0"/>
                <a:ea typeface="Arial Black" pitchFamily="34" charset="-122"/>
                <a:cs typeface="Arial Black" pitchFamily="34" charset="-120"/>
              </a:rPr>
              <a:t>Sprint 4  —  Leaderboard</a:t>
            </a:r>
            <a:endParaRPr lang="en-US" sz="1700" dirty="0"/>
          </a:p>
        </p:txBody>
      </p:sp>
      <p:sp>
        <p:nvSpPr>
          <p:cNvPr id="18" name="Text 16"/>
          <p:cNvSpPr/>
          <p:nvPr/>
        </p:nvSpPr>
        <p:spPr>
          <a:xfrm>
            <a:off x="1371600" y="3758184"/>
            <a:ext cx="7315200" cy="228600"/>
          </a:xfrm>
          <a:prstGeom prst="rect">
            <a:avLst/>
          </a:prstGeom>
          <a:noFill/>
          <a:ln/>
        </p:spPr>
        <p:txBody>
          <a:bodyPr wrap="square" rtlCol="0" anchor="ctr"/>
          <a:lstStyle/>
          <a:p>
            <a:pPr marL="0" indent="0">
              <a:buNone/>
            </a:pPr>
            <a:r>
              <a:rPr lang="en-US" sz="1200" dirty="0">
                <a:solidFill>
                  <a:srgbClr val="888888"/>
                </a:solidFill>
                <a:latin typeface="Arial" pitchFamily="34" charset="0"/>
                <a:ea typeface="Arial" pitchFamily="34" charset="-122"/>
                <a:cs typeface="Arial" pitchFamily="34" charset="-120"/>
              </a:rPr>
              <a:t>Peer testing begins. Feedback collected and logged.</a:t>
            </a:r>
            <a:endParaRPr lang="en-US" sz="1200" dirty="0"/>
          </a:p>
        </p:txBody>
      </p:sp>
      <p:sp>
        <p:nvSpPr>
          <p:cNvPr id="19" name="Text 17"/>
          <p:cNvSpPr/>
          <p:nvPr/>
        </p:nvSpPr>
        <p:spPr>
          <a:xfrm>
            <a:off x="457200" y="4096512"/>
            <a:ext cx="868680" cy="411480"/>
          </a:xfrm>
          <a:prstGeom prst="rect">
            <a:avLst/>
          </a:prstGeom>
          <a:noFill/>
          <a:ln/>
        </p:spPr>
        <p:txBody>
          <a:bodyPr wrap="square" rtlCol="0" anchor="ctr">
            <a:normAutofit/>
          </a:bodyPr>
          <a:lstStyle/>
          <a:p>
            <a:pPr marL="0" indent="0">
              <a:buNone/>
            </a:pPr>
            <a:r>
              <a:rPr lang="en-US" sz="2000" b="1" dirty="0">
                <a:solidFill>
                  <a:srgbClr val="FFCD00"/>
                </a:solidFill>
                <a:latin typeface="Arial Black" pitchFamily="34" charset="0"/>
                <a:ea typeface="Arial Black" pitchFamily="34" charset="-122"/>
                <a:cs typeface="Arial Black" pitchFamily="34" charset="-120"/>
              </a:rPr>
              <a:t>05</a:t>
            </a:r>
            <a:endParaRPr lang="en-US" sz="2000" dirty="0"/>
          </a:p>
        </p:txBody>
      </p:sp>
      <p:sp>
        <p:nvSpPr>
          <p:cNvPr id="20" name="Text 18"/>
          <p:cNvSpPr/>
          <p:nvPr/>
        </p:nvSpPr>
        <p:spPr>
          <a:xfrm>
            <a:off x="1371600" y="4078224"/>
            <a:ext cx="7315200" cy="292608"/>
          </a:xfrm>
          <a:prstGeom prst="rect">
            <a:avLst/>
          </a:prstGeom>
          <a:noFill/>
          <a:ln/>
        </p:spPr>
        <p:txBody>
          <a:bodyPr wrap="square" rtlCol="0" anchor="ctr"/>
          <a:lstStyle/>
          <a:p>
            <a:pPr marL="0" indent="0">
              <a:buNone/>
            </a:pPr>
            <a:r>
              <a:rPr lang="en-US" sz="1700" b="1" dirty="0">
                <a:solidFill>
                  <a:srgbClr val="111111"/>
                </a:solidFill>
                <a:latin typeface="Arial Black" pitchFamily="34" charset="0"/>
                <a:ea typeface="Arial Black" pitchFamily="34" charset="-122"/>
                <a:cs typeface="Arial Black" pitchFamily="34" charset="-120"/>
              </a:rPr>
              <a:t>Sprint 5  —  Testing &amp; polish</a:t>
            </a:r>
            <a:endParaRPr lang="en-US" sz="1700" dirty="0"/>
          </a:p>
        </p:txBody>
      </p:sp>
      <p:sp>
        <p:nvSpPr>
          <p:cNvPr id="21" name="Text 19"/>
          <p:cNvSpPr/>
          <p:nvPr/>
        </p:nvSpPr>
        <p:spPr>
          <a:xfrm>
            <a:off x="1371600" y="4379976"/>
            <a:ext cx="7315200" cy="228600"/>
          </a:xfrm>
          <a:prstGeom prst="rect">
            <a:avLst/>
          </a:prstGeom>
          <a:noFill/>
          <a:ln/>
        </p:spPr>
        <p:txBody>
          <a:bodyPr wrap="square" rtlCol="0" anchor="ctr"/>
          <a:lstStyle/>
          <a:p>
            <a:pPr marL="0" indent="0">
              <a:buNone/>
            </a:pPr>
            <a:r>
              <a:rPr lang="en-US" sz="1200" dirty="0">
                <a:solidFill>
                  <a:srgbClr val="888888"/>
                </a:solidFill>
                <a:latin typeface="Arial" pitchFamily="34" charset="0"/>
                <a:ea typeface="Arial" pitchFamily="34" charset="-122"/>
                <a:cs typeface="Arial" pitchFamily="34" charset="-120"/>
              </a:rPr>
              <a:t>Bug hunt, final fixes, review before submission.</a:t>
            </a:r>
            <a:endParaRPr lang="en-US" sz="12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0D0D0D"/>
        </a:solidFill>
        <a:effectLst/>
      </p:bgPr>
    </p:bg>
    <p:spTree>
      <p:nvGrpSpPr>
        <p:cNvPr id="1" name=""/>
        <p:cNvGrpSpPr/>
        <p:nvPr/>
      </p:nvGrpSpPr>
      <p:grpSpPr>
        <a:xfrm>
          <a:off x="0" y="0"/>
          <a:ext cx="0" cy="0"/>
          <a:chOff x="0" y="0"/>
          <a:chExt cx="0" cy="0"/>
        </a:xfrm>
      </p:grpSpPr>
      <p:sp>
        <p:nvSpPr>
          <p:cNvPr id="2" name="Shape 0"/>
          <p:cNvSpPr/>
          <p:nvPr/>
        </p:nvSpPr>
        <p:spPr>
          <a:xfrm>
            <a:off x="8458200" y="201168"/>
            <a:ext cx="256032" cy="256032"/>
          </a:xfrm>
          <a:prstGeom prst="ellipse">
            <a:avLst/>
          </a:prstGeom>
          <a:solidFill>
            <a:srgbClr val="FFCD00"/>
          </a:solidFill>
          <a:ln/>
        </p:spPr>
        <p:txBody>
          <a:bodyPr/>
          <a:lstStyle/>
          <a:p>
            <a:endParaRPr lang="en-GB"/>
          </a:p>
        </p:txBody>
      </p:sp>
      <p:sp>
        <p:nvSpPr>
          <p:cNvPr id="3" name="Text 1"/>
          <p:cNvSpPr/>
          <p:nvPr/>
        </p:nvSpPr>
        <p:spPr>
          <a:xfrm>
            <a:off x="457200" y="274320"/>
            <a:ext cx="6400800" cy="228600"/>
          </a:xfrm>
          <a:prstGeom prst="rect">
            <a:avLst/>
          </a:prstGeom>
          <a:noFill/>
          <a:ln/>
        </p:spPr>
        <p:txBody>
          <a:bodyPr wrap="square" rtlCol="0" anchor="ctr"/>
          <a:lstStyle/>
          <a:p>
            <a:pPr marL="0" indent="0">
              <a:buNone/>
            </a:pPr>
            <a:endParaRPr lang="en-US" sz="1000" dirty="0"/>
          </a:p>
        </p:txBody>
      </p:sp>
      <p:sp>
        <p:nvSpPr>
          <p:cNvPr id="4" name="Text 2"/>
          <p:cNvSpPr/>
          <p:nvPr/>
        </p:nvSpPr>
        <p:spPr>
          <a:xfrm>
            <a:off x="3657600" y="4919472"/>
            <a:ext cx="5212080" cy="182880"/>
          </a:xfrm>
          <a:prstGeom prst="rect">
            <a:avLst/>
          </a:prstGeom>
          <a:noFill/>
          <a:ln/>
        </p:spPr>
        <p:txBody>
          <a:bodyPr wrap="square" rtlCol="0" anchor="ctr"/>
          <a:lstStyle/>
          <a:p>
            <a:pPr marL="0" indent="0" algn="r">
              <a:buNone/>
            </a:pPr>
            <a:r>
              <a:rPr lang="en-US" sz="900" dirty="0">
                <a:solidFill>
                  <a:srgbClr val="555555"/>
                </a:solidFill>
                <a:latin typeface="Arial" pitchFamily="34" charset="0"/>
                <a:ea typeface="Arial" pitchFamily="34" charset="-122"/>
                <a:cs typeface="Arial" pitchFamily="34" charset="-120"/>
              </a:rPr>
              <a:t>NINJA QUIZ  ·  503IT  ·  10 / 18</a:t>
            </a:r>
            <a:endParaRPr lang="en-US" sz="900" dirty="0"/>
          </a:p>
        </p:txBody>
      </p:sp>
      <p:sp>
        <p:nvSpPr>
          <p:cNvPr id="5" name="Text 3"/>
          <p:cNvSpPr/>
          <p:nvPr/>
        </p:nvSpPr>
        <p:spPr>
          <a:xfrm>
            <a:off x="457200" y="1463040"/>
            <a:ext cx="8229600" cy="1524000"/>
          </a:xfrm>
          <a:prstGeom prst="rect">
            <a:avLst/>
          </a:prstGeom>
          <a:noFill/>
          <a:ln/>
        </p:spPr>
        <p:txBody>
          <a:bodyPr wrap="square" rtlCol="0" anchor="ctr"/>
          <a:lstStyle/>
          <a:p>
            <a:pPr marL="0" indent="0">
              <a:buNone/>
            </a:pPr>
            <a:r>
              <a:rPr lang="en-US" sz="6000" b="1" dirty="0">
                <a:solidFill>
                  <a:srgbClr val="FFFFFF"/>
                </a:solidFill>
                <a:latin typeface="Arial Black" pitchFamily="34" charset="0"/>
                <a:ea typeface="Arial Black" pitchFamily="34" charset="-122"/>
                <a:cs typeface="Arial Black" pitchFamily="34" charset="-120"/>
              </a:rPr>
              <a:t>Then it broke.</a:t>
            </a:r>
            <a:endParaRPr lang="en-US" sz="6000" dirty="0"/>
          </a:p>
        </p:txBody>
      </p:sp>
      <p:sp>
        <p:nvSpPr>
          <p:cNvPr id="6" name="Text 4"/>
          <p:cNvSpPr/>
          <p:nvPr/>
        </p:nvSpPr>
        <p:spPr>
          <a:xfrm>
            <a:off x="457200" y="3200400"/>
            <a:ext cx="7772400" cy="320040"/>
          </a:xfrm>
          <a:prstGeom prst="rect">
            <a:avLst/>
          </a:prstGeom>
          <a:noFill/>
          <a:ln/>
        </p:spPr>
        <p:txBody>
          <a:bodyPr wrap="square" rtlCol="0" anchor="ctr"/>
          <a:lstStyle/>
          <a:p>
            <a:pPr marL="0" indent="0">
              <a:buNone/>
            </a:pPr>
            <a:r>
              <a:rPr lang="en-US" sz="1400" dirty="0">
                <a:solidFill>
                  <a:srgbClr val="555555"/>
                </a:solidFill>
                <a:latin typeface="Arial" pitchFamily="34" charset="0"/>
                <a:ea typeface="Arial" pitchFamily="34" charset="-122"/>
                <a:cs typeface="Arial" pitchFamily="34" charset="-120"/>
              </a:rPr>
              <a:t>How the team responded under pressure.</a:t>
            </a:r>
            <a:endParaRPr lang="en-US" sz="14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0D0D0D"/>
        </a:solidFill>
        <a:effectLst/>
      </p:bgPr>
    </p:bg>
    <p:spTree>
      <p:nvGrpSpPr>
        <p:cNvPr id="1" name=""/>
        <p:cNvGrpSpPr/>
        <p:nvPr/>
      </p:nvGrpSpPr>
      <p:grpSpPr>
        <a:xfrm>
          <a:off x="0" y="0"/>
          <a:ext cx="0" cy="0"/>
          <a:chOff x="0" y="0"/>
          <a:chExt cx="0" cy="0"/>
        </a:xfrm>
      </p:grpSpPr>
      <p:sp>
        <p:nvSpPr>
          <p:cNvPr id="2" name="Shape 0"/>
          <p:cNvSpPr/>
          <p:nvPr/>
        </p:nvSpPr>
        <p:spPr>
          <a:xfrm>
            <a:off x="8458200" y="201168"/>
            <a:ext cx="256032" cy="256032"/>
          </a:xfrm>
          <a:prstGeom prst="ellipse">
            <a:avLst/>
          </a:prstGeom>
          <a:solidFill>
            <a:srgbClr val="FFCD00"/>
          </a:solidFill>
          <a:ln/>
        </p:spPr>
        <p:txBody>
          <a:bodyPr/>
          <a:lstStyle/>
          <a:p>
            <a:endParaRPr lang="en-GB"/>
          </a:p>
        </p:txBody>
      </p:sp>
      <p:sp>
        <p:nvSpPr>
          <p:cNvPr id="3" name="Text 1"/>
          <p:cNvSpPr/>
          <p:nvPr/>
        </p:nvSpPr>
        <p:spPr>
          <a:xfrm>
            <a:off x="457200" y="274320"/>
            <a:ext cx="6400800" cy="228600"/>
          </a:xfrm>
          <a:prstGeom prst="rect">
            <a:avLst/>
          </a:prstGeom>
          <a:noFill/>
          <a:ln/>
        </p:spPr>
        <p:txBody>
          <a:bodyPr wrap="square" rtlCol="0" anchor="ctr"/>
          <a:lstStyle/>
          <a:p>
            <a:pPr marL="0" indent="0">
              <a:buNone/>
            </a:pPr>
            <a:r>
              <a:rPr lang="en-US" sz="1000" b="1" kern="0" spc="200" dirty="0">
                <a:solidFill>
                  <a:srgbClr val="555555"/>
                </a:solidFill>
                <a:latin typeface="Arial" pitchFamily="34" charset="0"/>
                <a:ea typeface="Arial" pitchFamily="34" charset="-122"/>
                <a:cs typeface="Arial" pitchFamily="34" charset="-120"/>
              </a:rPr>
              <a:t>PROBLEM &amp; SOLUTION</a:t>
            </a:r>
            <a:endParaRPr lang="en-US" sz="1000" dirty="0"/>
          </a:p>
        </p:txBody>
      </p:sp>
      <p:sp>
        <p:nvSpPr>
          <p:cNvPr id="4" name="Text 2"/>
          <p:cNvSpPr/>
          <p:nvPr/>
        </p:nvSpPr>
        <p:spPr>
          <a:xfrm>
            <a:off x="3657600" y="4919472"/>
            <a:ext cx="5212080" cy="182880"/>
          </a:xfrm>
          <a:prstGeom prst="rect">
            <a:avLst/>
          </a:prstGeom>
          <a:noFill/>
          <a:ln/>
        </p:spPr>
        <p:txBody>
          <a:bodyPr wrap="square" rtlCol="0" anchor="ctr"/>
          <a:lstStyle/>
          <a:p>
            <a:pPr marL="0" indent="0" algn="r">
              <a:buNone/>
            </a:pPr>
            <a:r>
              <a:rPr lang="en-US" sz="900" dirty="0">
                <a:solidFill>
                  <a:srgbClr val="555555"/>
                </a:solidFill>
                <a:latin typeface="Arial" pitchFamily="34" charset="0"/>
                <a:ea typeface="Arial" pitchFamily="34" charset="-122"/>
                <a:cs typeface="Arial" pitchFamily="34" charset="-120"/>
              </a:rPr>
              <a:t>NINJA QUIZ  ·  503IT  ·  11 / 18</a:t>
            </a:r>
            <a:endParaRPr lang="en-US" sz="900" dirty="0"/>
          </a:p>
        </p:txBody>
      </p:sp>
      <p:sp>
        <p:nvSpPr>
          <p:cNvPr id="5" name="Text 3"/>
          <p:cNvSpPr/>
          <p:nvPr/>
        </p:nvSpPr>
        <p:spPr>
          <a:xfrm>
            <a:off x="457200" y="594360"/>
            <a:ext cx="8229600" cy="762000"/>
          </a:xfrm>
          <a:prstGeom prst="rect">
            <a:avLst/>
          </a:prstGeom>
          <a:noFill/>
          <a:ln/>
        </p:spPr>
        <p:txBody>
          <a:bodyPr wrap="square" rtlCol="0" anchor="ctr"/>
          <a:lstStyle/>
          <a:p>
            <a:pPr marL="0" indent="0">
              <a:buNone/>
            </a:pPr>
            <a:r>
              <a:rPr lang="en-US" sz="3000" b="1" dirty="0">
                <a:solidFill>
                  <a:srgbClr val="FFFFFF"/>
                </a:solidFill>
                <a:latin typeface="Arial Black" pitchFamily="34" charset="0"/>
                <a:ea typeface="Arial Black" pitchFamily="34" charset="-122"/>
                <a:cs typeface="Arial Black" pitchFamily="34" charset="-120"/>
              </a:rPr>
              <a:t>The game stopped working.</a:t>
            </a:r>
            <a:endParaRPr lang="en-US" sz="3000" dirty="0"/>
          </a:p>
        </p:txBody>
      </p:sp>
      <p:sp>
        <p:nvSpPr>
          <p:cNvPr id="6" name="Shape 4"/>
          <p:cNvSpPr/>
          <p:nvPr/>
        </p:nvSpPr>
        <p:spPr>
          <a:xfrm>
            <a:off x="457200" y="1463040"/>
            <a:ext cx="3840480" cy="3108960"/>
          </a:xfrm>
          <a:prstGeom prst="rect">
            <a:avLst/>
          </a:prstGeom>
          <a:solidFill>
            <a:srgbClr val="1A1A1A"/>
          </a:solidFill>
          <a:ln/>
        </p:spPr>
        <p:txBody>
          <a:bodyPr/>
          <a:lstStyle/>
          <a:p>
            <a:endParaRPr lang="en-GB"/>
          </a:p>
        </p:txBody>
      </p:sp>
      <p:sp>
        <p:nvSpPr>
          <p:cNvPr id="7" name="Shape 5"/>
          <p:cNvSpPr/>
          <p:nvPr/>
        </p:nvSpPr>
        <p:spPr>
          <a:xfrm>
            <a:off x="457200" y="1463040"/>
            <a:ext cx="3840480" cy="54864"/>
          </a:xfrm>
          <a:prstGeom prst="rect">
            <a:avLst/>
          </a:prstGeom>
          <a:solidFill>
            <a:srgbClr val="444444"/>
          </a:solidFill>
          <a:ln/>
        </p:spPr>
        <p:txBody>
          <a:bodyPr/>
          <a:lstStyle/>
          <a:p>
            <a:endParaRPr lang="en-GB"/>
          </a:p>
        </p:txBody>
      </p:sp>
      <p:sp>
        <p:nvSpPr>
          <p:cNvPr id="8" name="Text 6"/>
          <p:cNvSpPr/>
          <p:nvPr/>
        </p:nvSpPr>
        <p:spPr>
          <a:xfrm>
            <a:off x="640080" y="1600200"/>
            <a:ext cx="3474720" cy="274320"/>
          </a:xfrm>
          <a:prstGeom prst="rect">
            <a:avLst/>
          </a:prstGeom>
          <a:noFill/>
          <a:ln/>
        </p:spPr>
        <p:txBody>
          <a:bodyPr wrap="square" rtlCol="0" anchor="ctr"/>
          <a:lstStyle/>
          <a:p>
            <a:pPr marL="0" indent="0">
              <a:buNone/>
            </a:pPr>
            <a:r>
              <a:rPr lang="en-US" sz="1000" b="1" kern="0" spc="100" dirty="0">
                <a:solidFill>
                  <a:srgbClr val="555555"/>
                </a:solidFill>
                <a:latin typeface="Arial" pitchFamily="34" charset="0"/>
                <a:ea typeface="Arial" pitchFamily="34" charset="-122"/>
                <a:cs typeface="Arial" pitchFamily="34" charset="-120"/>
              </a:rPr>
              <a:t>THE DEFECT</a:t>
            </a:r>
            <a:endParaRPr lang="en-US" sz="1000" dirty="0"/>
          </a:p>
        </p:txBody>
      </p:sp>
      <p:sp>
        <p:nvSpPr>
          <p:cNvPr id="9" name="Text 7"/>
          <p:cNvSpPr/>
          <p:nvPr/>
        </p:nvSpPr>
        <p:spPr>
          <a:xfrm>
            <a:off x="640080" y="2011680"/>
            <a:ext cx="3383280" cy="411480"/>
          </a:xfrm>
          <a:prstGeom prst="rect">
            <a:avLst/>
          </a:prstGeom>
          <a:noFill/>
          <a:ln/>
        </p:spPr>
        <p:txBody>
          <a:bodyPr wrap="square" rtlCol="0" anchor="ctr"/>
          <a:lstStyle/>
          <a:p>
            <a:pPr marL="0" indent="0">
              <a:buNone/>
            </a:pPr>
            <a:r>
              <a:rPr lang="en-US" sz="1500" dirty="0">
                <a:solidFill>
                  <a:srgbClr val="FFFFFF"/>
                </a:solidFill>
                <a:latin typeface="Arial" pitchFamily="34" charset="0"/>
                <a:ea typeface="Arial" pitchFamily="34" charset="-122"/>
                <a:cs typeface="Arial" pitchFamily="34" charset="-120"/>
              </a:rPr>
              <a:t>Game ran.</a:t>
            </a:r>
            <a:endParaRPr lang="en-US" sz="1500" dirty="0"/>
          </a:p>
        </p:txBody>
      </p:sp>
      <p:sp>
        <p:nvSpPr>
          <p:cNvPr id="10" name="Text 8"/>
          <p:cNvSpPr/>
          <p:nvPr/>
        </p:nvSpPr>
        <p:spPr>
          <a:xfrm>
            <a:off x="640080" y="2542032"/>
            <a:ext cx="3383280" cy="411480"/>
          </a:xfrm>
          <a:prstGeom prst="rect">
            <a:avLst/>
          </a:prstGeom>
          <a:noFill/>
          <a:ln/>
        </p:spPr>
        <p:txBody>
          <a:bodyPr wrap="square" rtlCol="0" anchor="ctr"/>
          <a:lstStyle/>
          <a:p>
            <a:pPr marL="0" indent="0">
              <a:buNone/>
            </a:pPr>
            <a:r>
              <a:rPr lang="en-US" sz="1500" dirty="0">
                <a:solidFill>
                  <a:srgbClr val="FFFFFF"/>
                </a:solidFill>
                <a:latin typeface="Arial" pitchFamily="34" charset="0"/>
                <a:ea typeface="Arial" pitchFamily="34" charset="-122"/>
                <a:cs typeface="Arial" pitchFamily="34" charset="-120"/>
              </a:rPr>
              <a:t>Question loaded.</a:t>
            </a:r>
            <a:endParaRPr lang="en-US" sz="1500" dirty="0"/>
          </a:p>
        </p:txBody>
      </p:sp>
      <p:sp>
        <p:nvSpPr>
          <p:cNvPr id="11" name="Text 9"/>
          <p:cNvSpPr/>
          <p:nvPr/>
        </p:nvSpPr>
        <p:spPr>
          <a:xfrm>
            <a:off x="640080" y="3072384"/>
            <a:ext cx="3383280" cy="411480"/>
          </a:xfrm>
          <a:prstGeom prst="rect">
            <a:avLst/>
          </a:prstGeom>
          <a:noFill/>
          <a:ln/>
        </p:spPr>
        <p:txBody>
          <a:bodyPr wrap="square" rtlCol="0" anchor="ctr"/>
          <a:lstStyle/>
          <a:p>
            <a:pPr marL="0" indent="0">
              <a:buNone/>
            </a:pPr>
            <a:r>
              <a:rPr lang="en-US" sz="1500" dirty="0">
                <a:solidFill>
                  <a:srgbClr val="FFFFFF"/>
                </a:solidFill>
                <a:latin typeface="Arial" pitchFamily="34" charset="0"/>
                <a:ea typeface="Arial" pitchFamily="34" charset="-122"/>
                <a:cs typeface="Arial" pitchFamily="34" charset="-120"/>
              </a:rPr>
              <a:t>Answer targets — never appeared.</a:t>
            </a:r>
            <a:endParaRPr lang="en-US" sz="1500" dirty="0"/>
          </a:p>
        </p:txBody>
      </p:sp>
      <p:sp>
        <p:nvSpPr>
          <p:cNvPr id="12" name="Text 10"/>
          <p:cNvSpPr/>
          <p:nvPr/>
        </p:nvSpPr>
        <p:spPr>
          <a:xfrm>
            <a:off x="640080" y="3602736"/>
            <a:ext cx="3383280" cy="411480"/>
          </a:xfrm>
          <a:prstGeom prst="rect">
            <a:avLst/>
          </a:prstGeom>
          <a:noFill/>
          <a:ln/>
        </p:spPr>
        <p:txBody>
          <a:bodyPr wrap="square" rtlCol="0" anchor="ctr"/>
          <a:lstStyle/>
          <a:p>
            <a:pPr marL="0" indent="0">
              <a:buNone/>
            </a:pPr>
            <a:r>
              <a:rPr lang="en-US" sz="1500" dirty="0">
                <a:solidFill>
                  <a:srgbClr val="FFFFFF"/>
                </a:solidFill>
                <a:latin typeface="Arial" pitchFamily="34" charset="0"/>
                <a:ea typeface="Arial" pitchFamily="34" charset="-122"/>
                <a:cs typeface="Arial" pitchFamily="34" charset="-120"/>
              </a:rPr>
              <a:t>Entire game depended on them.</a:t>
            </a:r>
            <a:endParaRPr lang="en-US" sz="1500" dirty="0"/>
          </a:p>
        </p:txBody>
      </p:sp>
      <p:sp>
        <p:nvSpPr>
          <p:cNvPr id="13" name="Shape 11"/>
          <p:cNvSpPr/>
          <p:nvPr/>
        </p:nvSpPr>
        <p:spPr>
          <a:xfrm>
            <a:off x="4846320" y="1463040"/>
            <a:ext cx="3840480" cy="3108960"/>
          </a:xfrm>
          <a:prstGeom prst="rect">
            <a:avLst/>
          </a:prstGeom>
          <a:solidFill>
            <a:srgbClr val="1A1A1A"/>
          </a:solidFill>
          <a:ln/>
        </p:spPr>
        <p:txBody>
          <a:bodyPr/>
          <a:lstStyle/>
          <a:p>
            <a:endParaRPr lang="en-GB"/>
          </a:p>
        </p:txBody>
      </p:sp>
      <p:sp>
        <p:nvSpPr>
          <p:cNvPr id="14" name="Shape 12"/>
          <p:cNvSpPr/>
          <p:nvPr/>
        </p:nvSpPr>
        <p:spPr>
          <a:xfrm>
            <a:off x="4846320" y="1463040"/>
            <a:ext cx="3840480" cy="54864"/>
          </a:xfrm>
          <a:prstGeom prst="rect">
            <a:avLst/>
          </a:prstGeom>
          <a:solidFill>
            <a:srgbClr val="FFCD00"/>
          </a:solidFill>
          <a:ln/>
        </p:spPr>
        <p:txBody>
          <a:bodyPr/>
          <a:lstStyle/>
          <a:p>
            <a:endParaRPr lang="en-GB"/>
          </a:p>
        </p:txBody>
      </p:sp>
      <p:sp>
        <p:nvSpPr>
          <p:cNvPr id="15" name="Text 13"/>
          <p:cNvSpPr/>
          <p:nvPr/>
        </p:nvSpPr>
        <p:spPr>
          <a:xfrm>
            <a:off x="5029200" y="1600200"/>
            <a:ext cx="3474720" cy="274320"/>
          </a:xfrm>
          <a:prstGeom prst="rect">
            <a:avLst/>
          </a:prstGeom>
          <a:noFill/>
          <a:ln/>
        </p:spPr>
        <p:txBody>
          <a:bodyPr wrap="square" rtlCol="0" anchor="ctr"/>
          <a:lstStyle/>
          <a:p>
            <a:pPr marL="0" indent="0">
              <a:buNone/>
            </a:pPr>
            <a:r>
              <a:rPr lang="en-US" sz="1000" b="1" kern="0" spc="100" dirty="0">
                <a:solidFill>
                  <a:srgbClr val="FFCD00"/>
                </a:solidFill>
                <a:latin typeface="Arial" pitchFamily="34" charset="0"/>
                <a:ea typeface="Arial" pitchFamily="34" charset="-122"/>
                <a:cs typeface="Arial" pitchFamily="34" charset="-120"/>
              </a:rPr>
              <a:t>THE FIX</a:t>
            </a:r>
            <a:endParaRPr lang="en-US" sz="1000" dirty="0"/>
          </a:p>
        </p:txBody>
      </p:sp>
      <p:sp>
        <p:nvSpPr>
          <p:cNvPr id="16" name="Text 14"/>
          <p:cNvSpPr/>
          <p:nvPr/>
        </p:nvSpPr>
        <p:spPr>
          <a:xfrm>
            <a:off x="5029200" y="2011680"/>
            <a:ext cx="3383280" cy="411480"/>
          </a:xfrm>
          <a:prstGeom prst="rect">
            <a:avLst/>
          </a:prstGeom>
          <a:noFill/>
          <a:ln/>
        </p:spPr>
        <p:txBody>
          <a:bodyPr wrap="square" rtlCol="0" anchor="ctr"/>
          <a:lstStyle/>
          <a:p>
            <a:pPr marL="0" indent="0">
              <a:buNone/>
            </a:pPr>
            <a:r>
              <a:rPr lang="en-US" sz="1500" dirty="0">
                <a:solidFill>
                  <a:srgbClr val="FFFFFF"/>
                </a:solidFill>
                <a:latin typeface="Arial" pitchFamily="34" charset="0"/>
                <a:ea typeface="Arial" pitchFamily="34" charset="-122"/>
                <a:cs typeface="Arial" pitchFamily="34" charset="-120"/>
              </a:rPr>
              <a:t>Raised on WhatsApp immediately.</a:t>
            </a:r>
            <a:endParaRPr lang="en-US" sz="1500" dirty="0"/>
          </a:p>
        </p:txBody>
      </p:sp>
      <p:sp>
        <p:nvSpPr>
          <p:cNvPr id="17" name="Text 15"/>
          <p:cNvSpPr/>
          <p:nvPr/>
        </p:nvSpPr>
        <p:spPr>
          <a:xfrm>
            <a:off x="5029200" y="2542032"/>
            <a:ext cx="3383280" cy="411480"/>
          </a:xfrm>
          <a:prstGeom prst="rect">
            <a:avLst/>
          </a:prstGeom>
          <a:noFill/>
          <a:ln/>
        </p:spPr>
        <p:txBody>
          <a:bodyPr wrap="square" rtlCol="0" anchor="ctr"/>
          <a:lstStyle/>
          <a:p>
            <a:pPr marL="0" indent="0">
              <a:buNone/>
            </a:pPr>
            <a:r>
              <a:rPr lang="en-US" sz="1500" dirty="0">
                <a:solidFill>
                  <a:srgbClr val="FFFFFF"/>
                </a:solidFill>
                <a:latin typeface="Arial" pitchFamily="34" charset="0"/>
                <a:ea typeface="Arial" pitchFamily="34" charset="-122"/>
                <a:cs typeface="Arial" pitchFamily="34" charset="-120"/>
              </a:rPr>
              <a:t>Full team read the error log.</a:t>
            </a:r>
            <a:endParaRPr lang="en-US" sz="1500" dirty="0"/>
          </a:p>
        </p:txBody>
      </p:sp>
      <p:sp>
        <p:nvSpPr>
          <p:cNvPr id="18" name="Text 16"/>
          <p:cNvSpPr/>
          <p:nvPr/>
        </p:nvSpPr>
        <p:spPr>
          <a:xfrm>
            <a:off x="5029200" y="3072384"/>
            <a:ext cx="3383280" cy="411480"/>
          </a:xfrm>
          <a:prstGeom prst="rect">
            <a:avLst/>
          </a:prstGeom>
          <a:noFill/>
          <a:ln/>
        </p:spPr>
        <p:txBody>
          <a:bodyPr wrap="square" rtlCol="0" anchor="ctr"/>
          <a:lstStyle/>
          <a:p>
            <a:pPr marL="0" indent="0">
              <a:buNone/>
            </a:pPr>
            <a:r>
              <a:rPr lang="en-US" sz="1500" dirty="0">
                <a:solidFill>
                  <a:srgbClr val="FFFFFF"/>
                </a:solidFill>
                <a:latin typeface="Arial" pitchFamily="34" charset="0"/>
                <a:ea typeface="Arial" pitchFamily="34" charset="-122"/>
                <a:cs typeface="Arial" pitchFamily="34" charset="-120"/>
              </a:rPr>
              <a:t>Root cause: two runtime errors.</a:t>
            </a:r>
            <a:endParaRPr lang="en-US" sz="1500" dirty="0"/>
          </a:p>
        </p:txBody>
      </p:sp>
      <p:sp>
        <p:nvSpPr>
          <p:cNvPr id="19" name="Text 17"/>
          <p:cNvSpPr/>
          <p:nvPr/>
        </p:nvSpPr>
        <p:spPr>
          <a:xfrm>
            <a:off x="5029200" y="3602736"/>
            <a:ext cx="3383280" cy="411480"/>
          </a:xfrm>
          <a:prstGeom prst="rect">
            <a:avLst/>
          </a:prstGeom>
          <a:noFill/>
          <a:ln/>
        </p:spPr>
        <p:txBody>
          <a:bodyPr wrap="square" rtlCol="0" anchor="ctr"/>
          <a:lstStyle/>
          <a:p>
            <a:pPr marL="0" indent="0">
              <a:buNone/>
            </a:pPr>
            <a:r>
              <a:rPr lang="en-US" sz="1500" dirty="0">
                <a:solidFill>
                  <a:srgbClr val="FFFFFF"/>
                </a:solidFill>
                <a:latin typeface="Arial" pitchFamily="34" charset="0"/>
                <a:ea typeface="Arial" pitchFamily="34" charset="-122"/>
                <a:cs typeface="Arial" pitchFamily="34" charset="-120"/>
              </a:rPr>
              <a:t>Rebuilt in HTML. Resolved in 1 day.</a:t>
            </a:r>
            <a:endParaRPr lang="en-US" sz="15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8458200" y="201168"/>
            <a:ext cx="256032" cy="256032"/>
          </a:xfrm>
          <a:prstGeom prst="ellipse">
            <a:avLst/>
          </a:prstGeom>
          <a:solidFill>
            <a:srgbClr val="DDDDDD"/>
          </a:solidFill>
          <a:ln/>
        </p:spPr>
        <p:txBody>
          <a:bodyPr/>
          <a:lstStyle/>
          <a:p>
            <a:endParaRPr lang="en-GB"/>
          </a:p>
        </p:txBody>
      </p:sp>
      <p:sp>
        <p:nvSpPr>
          <p:cNvPr id="3" name="Text 1"/>
          <p:cNvSpPr/>
          <p:nvPr/>
        </p:nvSpPr>
        <p:spPr>
          <a:xfrm>
            <a:off x="457200" y="274320"/>
            <a:ext cx="6400800" cy="228600"/>
          </a:xfrm>
          <a:prstGeom prst="rect">
            <a:avLst/>
          </a:prstGeom>
          <a:noFill/>
          <a:ln/>
        </p:spPr>
        <p:txBody>
          <a:bodyPr wrap="square" rtlCol="0" anchor="ctr"/>
          <a:lstStyle/>
          <a:p>
            <a:pPr marL="0" indent="0">
              <a:buNone/>
            </a:pPr>
            <a:r>
              <a:rPr lang="en-US" sz="1000" b="1" kern="0" spc="200" dirty="0">
                <a:solidFill>
                  <a:srgbClr val="888888"/>
                </a:solidFill>
                <a:latin typeface="Arial" pitchFamily="34" charset="0"/>
                <a:ea typeface="Arial" pitchFamily="34" charset="-122"/>
                <a:cs typeface="Arial" pitchFamily="34" charset="-120"/>
              </a:rPr>
              <a:t>LESSONS FROM THE BUG</a:t>
            </a:r>
            <a:endParaRPr lang="en-US" sz="1000" dirty="0"/>
          </a:p>
        </p:txBody>
      </p:sp>
      <p:sp>
        <p:nvSpPr>
          <p:cNvPr id="4" name="Text 2"/>
          <p:cNvSpPr/>
          <p:nvPr/>
        </p:nvSpPr>
        <p:spPr>
          <a:xfrm>
            <a:off x="3657600" y="4919472"/>
            <a:ext cx="5212080" cy="182880"/>
          </a:xfrm>
          <a:prstGeom prst="rect">
            <a:avLst/>
          </a:prstGeom>
          <a:noFill/>
          <a:ln/>
        </p:spPr>
        <p:txBody>
          <a:bodyPr wrap="square" rtlCol="0" anchor="ctr"/>
          <a:lstStyle/>
          <a:p>
            <a:pPr marL="0" indent="0" algn="r">
              <a:buNone/>
            </a:pPr>
            <a:r>
              <a:rPr lang="en-US" sz="900" dirty="0">
                <a:solidFill>
                  <a:srgbClr val="888888"/>
                </a:solidFill>
                <a:latin typeface="Arial" pitchFamily="34" charset="0"/>
                <a:ea typeface="Arial" pitchFamily="34" charset="-122"/>
                <a:cs typeface="Arial" pitchFamily="34" charset="-120"/>
              </a:rPr>
              <a:t>NINJA QUIZ  ·  503IT  ·  12 / 18</a:t>
            </a:r>
            <a:endParaRPr lang="en-US" sz="900" dirty="0"/>
          </a:p>
        </p:txBody>
      </p:sp>
      <p:sp>
        <p:nvSpPr>
          <p:cNvPr id="5" name="Text 3"/>
          <p:cNvSpPr/>
          <p:nvPr/>
        </p:nvSpPr>
        <p:spPr>
          <a:xfrm>
            <a:off x="457200" y="685800"/>
            <a:ext cx="8229600" cy="812800"/>
          </a:xfrm>
          <a:prstGeom prst="rect">
            <a:avLst/>
          </a:prstGeom>
          <a:noFill/>
          <a:ln/>
        </p:spPr>
        <p:txBody>
          <a:bodyPr wrap="square" rtlCol="0" anchor="ctr"/>
          <a:lstStyle/>
          <a:p>
            <a:pPr marL="0" indent="0">
              <a:buNone/>
            </a:pPr>
            <a:r>
              <a:rPr lang="en-US" sz="3200" b="1" dirty="0">
                <a:solidFill>
                  <a:srgbClr val="111111"/>
                </a:solidFill>
                <a:latin typeface="Arial Black" pitchFamily="34" charset="0"/>
                <a:ea typeface="Arial Black" pitchFamily="34" charset="-122"/>
                <a:cs typeface="Arial Black" pitchFamily="34" charset="-120"/>
              </a:rPr>
              <a:t>What fixing it taught us.</a:t>
            </a:r>
            <a:endParaRPr lang="en-US" sz="3200" dirty="0"/>
          </a:p>
        </p:txBody>
      </p:sp>
      <p:sp>
        <p:nvSpPr>
          <p:cNvPr id="6" name="Shape 4"/>
          <p:cNvSpPr/>
          <p:nvPr/>
        </p:nvSpPr>
        <p:spPr>
          <a:xfrm>
            <a:off x="457200" y="1463040"/>
            <a:ext cx="8229600" cy="10973"/>
          </a:xfrm>
          <a:prstGeom prst="rect">
            <a:avLst/>
          </a:prstGeom>
          <a:solidFill>
            <a:srgbClr val="EEEEEE"/>
          </a:solidFill>
          <a:ln/>
        </p:spPr>
        <p:txBody>
          <a:bodyPr/>
          <a:lstStyle/>
          <a:p>
            <a:endParaRPr lang="en-GB"/>
          </a:p>
        </p:txBody>
      </p:sp>
      <p:sp>
        <p:nvSpPr>
          <p:cNvPr id="7" name="Text 5"/>
          <p:cNvSpPr/>
          <p:nvPr/>
        </p:nvSpPr>
        <p:spPr>
          <a:xfrm>
            <a:off x="457200" y="1609344"/>
            <a:ext cx="868680" cy="411480"/>
          </a:xfrm>
          <a:prstGeom prst="rect">
            <a:avLst/>
          </a:prstGeom>
          <a:noFill/>
          <a:ln/>
        </p:spPr>
        <p:txBody>
          <a:bodyPr wrap="square" rtlCol="0" anchor="ctr">
            <a:normAutofit/>
          </a:bodyPr>
          <a:lstStyle/>
          <a:p>
            <a:pPr marL="0" indent="0">
              <a:buNone/>
            </a:pPr>
            <a:r>
              <a:rPr lang="en-US" sz="2000" b="1" dirty="0">
                <a:solidFill>
                  <a:srgbClr val="FFCD00"/>
                </a:solidFill>
                <a:latin typeface="Arial Black" pitchFamily="34" charset="0"/>
                <a:ea typeface="Arial Black" pitchFamily="34" charset="-122"/>
                <a:cs typeface="Arial Black" pitchFamily="34" charset="-120"/>
              </a:rPr>
              <a:t>01</a:t>
            </a:r>
            <a:endParaRPr lang="en-US" sz="2000" dirty="0"/>
          </a:p>
        </p:txBody>
      </p:sp>
      <p:sp>
        <p:nvSpPr>
          <p:cNvPr id="8" name="Text 6"/>
          <p:cNvSpPr/>
          <p:nvPr/>
        </p:nvSpPr>
        <p:spPr>
          <a:xfrm>
            <a:off x="1371600" y="1591056"/>
            <a:ext cx="7315200" cy="292608"/>
          </a:xfrm>
          <a:prstGeom prst="rect">
            <a:avLst/>
          </a:prstGeom>
          <a:noFill/>
          <a:ln/>
        </p:spPr>
        <p:txBody>
          <a:bodyPr wrap="square" rtlCol="0" anchor="ctr"/>
          <a:lstStyle/>
          <a:p>
            <a:pPr marL="0" indent="0">
              <a:buNone/>
            </a:pPr>
            <a:r>
              <a:rPr lang="en-US" sz="1700" b="1" dirty="0">
                <a:solidFill>
                  <a:srgbClr val="111111"/>
                </a:solidFill>
                <a:latin typeface="Arial Black" pitchFamily="34" charset="0"/>
                <a:ea typeface="Arial Black" pitchFamily="34" charset="-122"/>
                <a:cs typeface="Arial Black" pitchFamily="34" charset="-120"/>
              </a:rPr>
              <a:t>Raise it fast</a:t>
            </a:r>
            <a:endParaRPr lang="en-US" sz="1700" dirty="0"/>
          </a:p>
        </p:txBody>
      </p:sp>
      <p:sp>
        <p:nvSpPr>
          <p:cNvPr id="9" name="Text 7"/>
          <p:cNvSpPr/>
          <p:nvPr/>
        </p:nvSpPr>
        <p:spPr>
          <a:xfrm>
            <a:off x="1371600" y="1892808"/>
            <a:ext cx="7315200" cy="228600"/>
          </a:xfrm>
          <a:prstGeom prst="rect">
            <a:avLst/>
          </a:prstGeom>
          <a:noFill/>
          <a:ln/>
        </p:spPr>
        <p:txBody>
          <a:bodyPr wrap="square" rtlCol="0" anchor="ctr"/>
          <a:lstStyle/>
          <a:p>
            <a:pPr marL="0" indent="0">
              <a:buNone/>
            </a:pPr>
            <a:r>
              <a:rPr lang="en-US" sz="1200" dirty="0">
                <a:solidFill>
                  <a:srgbClr val="888888"/>
                </a:solidFill>
                <a:latin typeface="Arial" pitchFamily="34" charset="0"/>
                <a:ea typeface="Arial" pitchFamily="34" charset="-122"/>
                <a:cs typeface="Arial" pitchFamily="34" charset="-120"/>
              </a:rPr>
              <a:t>Issue shared on WhatsApp the same hour it was found</a:t>
            </a:r>
            <a:endParaRPr lang="en-US" sz="1200" dirty="0"/>
          </a:p>
        </p:txBody>
      </p:sp>
      <p:sp>
        <p:nvSpPr>
          <p:cNvPr id="10" name="Text 8"/>
          <p:cNvSpPr/>
          <p:nvPr/>
        </p:nvSpPr>
        <p:spPr>
          <a:xfrm>
            <a:off x="457200" y="2432304"/>
            <a:ext cx="868680" cy="411480"/>
          </a:xfrm>
          <a:prstGeom prst="rect">
            <a:avLst/>
          </a:prstGeom>
          <a:noFill/>
          <a:ln/>
        </p:spPr>
        <p:txBody>
          <a:bodyPr wrap="square" rtlCol="0" anchor="ctr">
            <a:normAutofit/>
          </a:bodyPr>
          <a:lstStyle/>
          <a:p>
            <a:pPr marL="0" indent="0">
              <a:buNone/>
            </a:pPr>
            <a:r>
              <a:rPr lang="en-US" sz="2000" b="1" dirty="0">
                <a:solidFill>
                  <a:srgbClr val="FFCD00"/>
                </a:solidFill>
                <a:latin typeface="Arial Black" pitchFamily="34" charset="0"/>
                <a:ea typeface="Arial Black" pitchFamily="34" charset="-122"/>
                <a:cs typeface="Arial Black" pitchFamily="34" charset="-120"/>
              </a:rPr>
              <a:t>02</a:t>
            </a:r>
            <a:endParaRPr lang="en-US" sz="2000" dirty="0"/>
          </a:p>
        </p:txBody>
      </p:sp>
      <p:sp>
        <p:nvSpPr>
          <p:cNvPr id="11" name="Text 9"/>
          <p:cNvSpPr/>
          <p:nvPr/>
        </p:nvSpPr>
        <p:spPr>
          <a:xfrm>
            <a:off x="1371600" y="2414016"/>
            <a:ext cx="7315200" cy="292608"/>
          </a:xfrm>
          <a:prstGeom prst="rect">
            <a:avLst/>
          </a:prstGeom>
          <a:noFill/>
          <a:ln/>
        </p:spPr>
        <p:txBody>
          <a:bodyPr wrap="square" rtlCol="0" anchor="ctr"/>
          <a:lstStyle/>
          <a:p>
            <a:pPr marL="0" indent="0">
              <a:buNone/>
            </a:pPr>
            <a:r>
              <a:rPr lang="en-US" sz="1700" b="1" dirty="0">
                <a:solidFill>
                  <a:srgbClr val="111111"/>
                </a:solidFill>
                <a:latin typeface="Arial Black" pitchFamily="34" charset="0"/>
                <a:ea typeface="Arial Black" pitchFamily="34" charset="-122"/>
                <a:cs typeface="Arial Black" pitchFamily="34" charset="-120"/>
              </a:rPr>
              <a:t>One owner per module</a:t>
            </a:r>
            <a:endParaRPr lang="en-US" sz="1700" dirty="0"/>
          </a:p>
        </p:txBody>
      </p:sp>
      <p:sp>
        <p:nvSpPr>
          <p:cNvPr id="12" name="Text 10"/>
          <p:cNvSpPr/>
          <p:nvPr/>
        </p:nvSpPr>
        <p:spPr>
          <a:xfrm>
            <a:off x="1371600" y="2715768"/>
            <a:ext cx="7315200" cy="228600"/>
          </a:xfrm>
          <a:prstGeom prst="rect">
            <a:avLst/>
          </a:prstGeom>
          <a:noFill/>
          <a:ln/>
        </p:spPr>
        <p:txBody>
          <a:bodyPr wrap="square" rtlCol="0" anchor="ctr"/>
          <a:lstStyle/>
          <a:p>
            <a:pPr marL="0" indent="0">
              <a:buNone/>
            </a:pPr>
            <a:r>
              <a:rPr lang="en-US" sz="1200" dirty="0">
                <a:solidFill>
                  <a:srgbClr val="888888"/>
                </a:solidFill>
                <a:latin typeface="Arial" pitchFamily="34" charset="0"/>
                <a:ea typeface="Arial" pitchFamily="34" charset="-122"/>
                <a:cs typeface="Arial" pitchFamily="34" charset="-120"/>
              </a:rPr>
              <a:t>We knew exactly whose code to look at — no confusion</a:t>
            </a:r>
            <a:endParaRPr lang="en-US" sz="1200" dirty="0"/>
          </a:p>
        </p:txBody>
      </p:sp>
      <p:sp>
        <p:nvSpPr>
          <p:cNvPr id="13" name="Text 11"/>
          <p:cNvSpPr/>
          <p:nvPr/>
        </p:nvSpPr>
        <p:spPr>
          <a:xfrm>
            <a:off x="457200" y="3255264"/>
            <a:ext cx="868680" cy="411480"/>
          </a:xfrm>
          <a:prstGeom prst="rect">
            <a:avLst/>
          </a:prstGeom>
          <a:noFill/>
          <a:ln/>
        </p:spPr>
        <p:txBody>
          <a:bodyPr wrap="square" rtlCol="0" anchor="ctr">
            <a:normAutofit/>
          </a:bodyPr>
          <a:lstStyle/>
          <a:p>
            <a:pPr marL="0" indent="0">
              <a:buNone/>
            </a:pPr>
            <a:r>
              <a:rPr lang="en-US" sz="2000" b="1" dirty="0">
                <a:solidFill>
                  <a:srgbClr val="FFCD00"/>
                </a:solidFill>
                <a:latin typeface="Arial Black" pitchFamily="34" charset="0"/>
                <a:ea typeface="Arial Black" pitchFamily="34" charset="-122"/>
                <a:cs typeface="Arial Black" pitchFamily="34" charset="-120"/>
              </a:rPr>
              <a:t>03</a:t>
            </a:r>
            <a:endParaRPr lang="en-US" sz="2000" dirty="0"/>
          </a:p>
        </p:txBody>
      </p:sp>
      <p:sp>
        <p:nvSpPr>
          <p:cNvPr id="14" name="Text 12"/>
          <p:cNvSpPr/>
          <p:nvPr/>
        </p:nvSpPr>
        <p:spPr>
          <a:xfrm>
            <a:off x="1371600" y="3236976"/>
            <a:ext cx="7315200" cy="292608"/>
          </a:xfrm>
          <a:prstGeom prst="rect">
            <a:avLst/>
          </a:prstGeom>
          <a:noFill/>
          <a:ln/>
        </p:spPr>
        <p:txBody>
          <a:bodyPr wrap="square" rtlCol="0" anchor="ctr"/>
          <a:lstStyle/>
          <a:p>
            <a:pPr marL="0" indent="0">
              <a:buNone/>
            </a:pPr>
            <a:r>
              <a:rPr lang="en-US" sz="1700" b="1" dirty="0">
                <a:solidFill>
                  <a:srgbClr val="111111"/>
                </a:solidFill>
                <a:latin typeface="Arial Black" pitchFamily="34" charset="0"/>
                <a:ea typeface="Arial Black" pitchFamily="34" charset="-122"/>
                <a:cs typeface="Arial Black" pitchFamily="34" charset="-120"/>
              </a:rPr>
              <a:t>Review together</a:t>
            </a:r>
            <a:endParaRPr lang="en-US" sz="1700" dirty="0"/>
          </a:p>
        </p:txBody>
      </p:sp>
      <p:sp>
        <p:nvSpPr>
          <p:cNvPr id="15" name="Text 13"/>
          <p:cNvSpPr/>
          <p:nvPr/>
        </p:nvSpPr>
        <p:spPr>
          <a:xfrm>
            <a:off x="1371600" y="3538728"/>
            <a:ext cx="7315200" cy="228600"/>
          </a:xfrm>
          <a:prstGeom prst="rect">
            <a:avLst/>
          </a:prstGeom>
          <a:noFill/>
          <a:ln/>
        </p:spPr>
        <p:txBody>
          <a:bodyPr wrap="square" rtlCol="0" anchor="ctr"/>
          <a:lstStyle/>
          <a:p>
            <a:pPr marL="0" indent="0">
              <a:buNone/>
            </a:pPr>
            <a:r>
              <a:rPr lang="en-US" sz="1200" dirty="0">
                <a:solidFill>
                  <a:srgbClr val="888888"/>
                </a:solidFill>
                <a:latin typeface="Arial" pitchFamily="34" charset="0"/>
                <a:ea typeface="Arial" pitchFamily="34" charset="-122"/>
                <a:cs typeface="Arial" pitchFamily="34" charset="-120"/>
              </a:rPr>
              <a:t>Team read the log as a group — solved what one person would have missed</a:t>
            </a:r>
            <a:endParaRPr lang="en-US" sz="1200" dirty="0"/>
          </a:p>
        </p:txBody>
      </p:sp>
      <p:sp>
        <p:nvSpPr>
          <p:cNvPr id="16" name="Text 14"/>
          <p:cNvSpPr/>
          <p:nvPr/>
        </p:nvSpPr>
        <p:spPr>
          <a:xfrm>
            <a:off x="457200" y="4160520"/>
            <a:ext cx="7772400" cy="320040"/>
          </a:xfrm>
          <a:prstGeom prst="rect">
            <a:avLst/>
          </a:prstGeom>
          <a:noFill/>
          <a:ln/>
        </p:spPr>
        <p:txBody>
          <a:bodyPr wrap="square" rtlCol="0" anchor="ctr"/>
          <a:lstStyle/>
          <a:p>
            <a:pPr marL="0" indent="0">
              <a:buNone/>
            </a:pPr>
            <a:r>
              <a:rPr lang="en-US" sz="1400" dirty="0">
                <a:solidFill>
                  <a:srgbClr val="444444"/>
                </a:solidFill>
                <a:latin typeface="Arial" pitchFamily="34" charset="0"/>
                <a:ea typeface="Arial" pitchFamily="34" charset="-122"/>
                <a:cs typeface="Arial" pitchFamily="34" charset="-120"/>
              </a:rPr>
              <a:t>Structured communication turned a critical bug into a one-day fix.</a:t>
            </a:r>
            <a:endParaRPr lang="en-US" sz="14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0D0D0D"/>
        </a:solidFill>
        <a:effectLst/>
      </p:bgPr>
    </p:bg>
    <p:spTree>
      <p:nvGrpSpPr>
        <p:cNvPr id="1" name=""/>
        <p:cNvGrpSpPr/>
        <p:nvPr/>
      </p:nvGrpSpPr>
      <p:grpSpPr>
        <a:xfrm>
          <a:off x="0" y="0"/>
          <a:ext cx="0" cy="0"/>
          <a:chOff x="0" y="0"/>
          <a:chExt cx="0" cy="0"/>
        </a:xfrm>
      </p:grpSpPr>
      <p:sp>
        <p:nvSpPr>
          <p:cNvPr id="2" name="Shape 0"/>
          <p:cNvSpPr/>
          <p:nvPr/>
        </p:nvSpPr>
        <p:spPr>
          <a:xfrm>
            <a:off x="8458200" y="201168"/>
            <a:ext cx="256032" cy="256032"/>
          </a:xfrm>
          <a:prstGeom prst="ellipse">
            <a:avLst/>
          </a:prstGeom>
          <a:solidFill>
            <a:srgbClr val="FFCD00"/>
          </a:solidFill>
          <a:ln/>
        </p:spPr>
        <p:txBody>
          <a:bodyPr/>
          <a:lstStyle/>
          <a:p>
            <a:endParaRPr lang="en-GB"/>
          </a:p>
        </p:txBody>
      </p:sp>
      <p:sp>
        <p:nvSpPr>
          <p:cNvPr id="3" name="Text 1"/>
          <p:cNvSpPr/>
          <p:nvPr/>
        </p:nvSpPr>
        <p:spPr>
          <a:xfrm>
            <a:off x="457200" y="274320"/>
            <a:ext cx="6400800" cy="228600"/>
          </a:xfrm>
          <a:prstGeom prst="rect">
            <a:avLst/>
          </a:prstGeom>
          <a:noFill/>
          <a:ln/>
        </p:spPr>
        <p:txBody>
          <a:bodyPr wrap="square" rtlCol="0" anchor="ctr"/>
          <a:lstStyle/>
          <a:p>
            <a:pPr marL="0" indent="0">
              <a:buNone/>
            </a:pPr>
            <a:endParaRPr lang="en-US" sz="1000" dirty="0"/>
          </a:p>
        </p:txBody>
      </p:sp>
      <p:sp>
        <p:nvSpPr>
          <p:cNvPr id="4" name="Text 2"/>
          <p:cNvSpPr/>
          <p:nvPr/>
        </p:nvSpPr>
        <p:spPr>
          <a:xfrm>
            <a:off x="3657600" y="4919472"/>
            <a:ext cx="5212080" cy="182880"/>
          </a:xfrm>
          <a:prstGeom prst="rect">
            <a:avLst/>
          </a:prstGeom>
          <a:noFill/>
          <a:ln/>
        </p:spPr>
        <p:txBody>
          <a:bodyPr wrap="square" rtlCol="0" anchor="ctr"/>
          <a:lstStyle/>
          <a:p>
            <a:pPr marL="0" indent="0" algn="r">
              <a:buNone/>
            </a:pPr>
            <a:r>
              <a:rPr lang="en-US" sz="900" dirty="0">
                <a:solidFill>
                  <a:srgbClr val="555555"/>
                </a:solidFill>
                <a:latin typeface="Arial" pitchFamily="34" charset="0"/>
                <a:ea typeface="Arial" pitchFamily="34" charset="-122"/>
                <a:cs typeface="Arial" pitchFamily="34" charset="-120"/>
              </a:rPr>
              <a:t>NINJA QUIZ  ·  503IT  ·  13 / 18</a:t>
            </a:r>
            <a:endParaRPr lang="en-US" sz="900" dirty="0"/>
          </a:p>
        </p:txBody>
      </p:sp>
      <p:sp>
        <p:nvSpPr>
          <p:cNvPr id="5" name="Text 3"/>
          <p:cNvSpPr/>
          <p:nvPr/>
        </p:nvSpPr>
        <p:spPr>
          <a:xfrm>
            <a:off x="457200" y="1463040"/>
            <a:ext cx="8229600" cy="1524000"/>
          </a:xfrm>
          <a:prstGeom prst="rect">
            <a:avLst/>
          </a:prstGeom>
          <a:noFill/>
          <a:ln/>
        </p:spPr>
        <p:txBody>
          <a:bodyPr wrap="square" rtlCol="0" anchor="ctr"/>
          <a:lstStyle/>
          <a:p>
            <a:pPr marL="0" indent="0">
              <a:buNone/>
            </a:pPr>
            <a:r>
              <a:rPr lang="en-US" sz="6000" b="1" dirty="0">
                <a:solidFill>
                  <a:srgbClr val="FFFFFF"/>
                </a:solidFill>
                <a:latin typeface="Arial Black" pitchFamily="34" charset="0"/>
                <a:ea typeface="Arial Black" pitchFamily="34" charset="-122"/>
                <a:cs typeface="Arial Black" pitchFamily="34" charset="-120"/>
              </a:rPr>
              <a:t>The result.</a:t>
            </a:r>
            <a:endParaRPr lang="en-US" sz="6000" dirty="0"/>
          </a:p>
        </p:txBody>
      </p:sp>
      <p:sp>
        <p:nvSpPr>
          <p:cNvPr id="6" name="Text 4"/>
          <p:cNvSpPr/>
          <p:nvPr/>
        </p:nvSpPr>
        <p:spPr>
          <a:xfrm>
            <a:off x="457200" y="3200400"/>
            <a:ext cx="7772400" cy="320040"/>
          </a:xfrm>
          <a:prstGeom prst="rect">
            <a:avLst/>
          </a:prstGeom>
          <a:noFill/>
          <a:ln/>
        </p:spPr>
        <p:txBody>
          <a:bodyPr wrap="square" rtlCol="0" anchor="ctr"/>
          <a:lstStyle/>
          <a:p>
            <a:pPr marL="0" indent="0">
              <a:buNone/>
            </a:pPr>
            <a:r>
              <a:rPr lang="en-US" sz="1400" dirty="0">
                <a:solidFill>
                  <a:srgbClr val="555555"/>
                </a:solidFill>
                <a:latin typeface="Arial" pitchFamily="34" charset="0"/>
                <a:ea typeface="Arial" pitchFamily="34" charset="-122"/>
                <a:cs typeface="Arial" pitchFamily="34" charset="-120"/>
              </a:rPr>
              <a:t>Did we meet the brief?</a:t>
            </a:r>
            <a:endParaRPr lang="en-US" sz="14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8458200" y="201168"/>
            <a:ext cx="256032" cy="256032"/>
          </a:xfrm>
          <a:prstGeom prst="ellipse">
            <a:avLst/>
          </a:prstGeom>
          <a:solidFill>
            <a:srgbClr val="DDDDDD"/>
          </a:solidFill>
          <a:ln/>
        </p:spPr>
        <p:txBody>
          <a:bodyPr/>
          <a:lstStyle/>
          <a:p>
            <a:endParaRPr lang="en-GB"/>
          </a:p>
        </p:txBody>
      </p:sp>
      <p:sp>
        <p:nvSpPr>
          <p:cNvPr id="3" name="Text 1"/>
          <p:cNvSpPr/>
          <p:nvPr/>
        </p:nvSpPr>
        <p:spPr>
          <a:xfrm>
            <a:off x="457200" y="274320"/>
            <a:ext cx="6400800" cy="228600"/>
          </a:xfrm>
          <a:prstGeom prst="rect">
            <a:avLst/>
          </a:prstGeom>
          <a:noFill/>
          <a:ln/>
        </p:spPr>
        <p:txBody>
          <a:bodyPr wrap="square" rtlCol="0" anchor="ctr"/>
          <a:lstStyle/>
          <a:p>
            <a:pPr marL="0" indent="0">
              <a:buNone/>
            </a:pPr>
            <a:r>
              <a:rPr lang="en-US" sz="1000" b="1" kern="0" spc="200" dirty="0">
                <a:solidFill>
                  <a:srgbClr val="888888"/>
                </a:solidFill>
                <a:latin typeface="Arial" pitchFamily="34" charset="0"/>
                <a:ea typeface="Arial" pitchFamily="34" charset="-122"/>
                <a:cs typeface="Arial" pitchFamily="34" charset="-120"/>
              </a:rPr>
              <a:t>BRIEF REQUIREMENTS</a:t>
            </a:r>
            <a:endParaRPr lang="en-US" sz="1000" dirty="0"/>
          </a:p>
        </p:txBody>
      </p:sp>
      <p:sp>
        <p:nvSpPr>
          <p:cNvPr id="4" name="Text 2"/>
          <p:cNvSpPr/>
          <p:nvPr/>
        </p:nvSpPr>
        <p:spPr>
          <a:xfrm>
            <a:off x="3657600" y="4919472"/>
            <a:ext cx="5212080" cy="182880"/>
          </a:xfrm>
          <a:prstGeom prst="rect">
            <a:avLst/>
          </a:prstGeom>
          <a:noFill/>
          <a:ln/>
        </p:spPr>
        <p:txBody>
          <a:bodyPr wrap="square" rtlCol="0" anchor="ctr"/>
          <a:lstStyle/>
          <a:p>
            <a:pPr marL="0" indent="0" algn="r">
              <a:buNone/>
            </a:pPr>
            <a:r>
              <a:rPr lang="en-US" sz="900" dirty="0">
                <a:solidFill>
                  <a:srgbClr val="888888"/>
                </a:solidFill>
                <a:latin typeface="Arial" pitchFamily="34" charset="0"/>
                <a:ea typeface="Arial" pitchFamily="34" charset="-122"/>
                <a:cs typeface="Arial" pitchFamily="34" charset="-120"/>
              </a:rPr>
              <a:t>NINJA QUIZ  ·  503IT  ·  14 / 18</a:t>
            </a:r>
            <a:endParaRPr lang="en-US" sz="900" dirty="0"/>
          </a:p>
        </p:txBody>
      </p:sp>
      <p:sp>
        <p:nvSpPr>
          <p:cNvPr id="5" name="Text 3"/>
          <p:cNvSpPr/>
          <p:nvPr/>
        </p:nvSpPr>
        <p:spPr>
          <a:xfrm>
            <a:off x="457200" y="685800"/>
            <a:ext cx="8229600" cy="965200"/>
          </a:xfrm>
          <a:prstGeom prst="rect">
            <a:avLst/>
          </a:prstGeom>
          <a:noFill/>
          <a:ln/>
        </p:spPr>
        <p:txBody>
          <a:bodyPr wrap="square" rtlCol="0" anchor="ctr"/>
          <a:lstStyle/>
          <a:p>
            <a:pPr marL="0" indent="0">
              <a:buNone/>
            </a:pPr>
            <a:r>
              <a:rPr lang="en-US" sz="3800" b="1" dirty="0">
                <a:solidFill>
                  <a:srgbClr val="111111"/>
                </a:solidFill>
                <a:latin typeface="Arial Black" pitchFamily="34" charset="0"/>
                <a:ea typeface="Arial Black" pitchFamily="34" charset="-122"/>
                <a:cs typeface="Arial Black" pitchFamily="34" charset="-120"/>
              </a:rPr>
              <a:t>Every box. Ticked.</a:t>
            </a:r>
            <a:endParaRPr lang="en-US" sz="3800" dirty="0"/>
          </a:p>
        </p:txBody>
      </p:sp>
      <p:sp>
        <p:nvSpPr>
          <p:cNvPr id="6" name="Shape 4"/>
          <p:cNvSpPr/>
          <p:nvPr/>
        </p:nvSpPr>
        <p:spPr>
          <a:xfrm>
            <a:off x="457200" y="1463040"/>
            <a:ext cx="8229600" cy="10973"/>
          </a:xfrm>
          <a:prstGeom prst="rect">
            <a:avLst/>
          </a:prstGeom>
          <a:solidFill>
            <a:srgbClr val="EEEEEE"/>
          </a:solidFill>
          <a:ln/>
        </p:spPr>
        <p:txBody>
          <a:bodyPr/>
          <a:lstStyle/>
          <a:p>
            <a:endParaRPr lang="en-GB"/>
          </a:p>
        </p:txBody>
      </p:sp>
      <p:sp>
        <p:nvSpPr>
          <p:cNvPr id="7" name="Shape 5"/>
          <p:cNvSpPr/>
          <p:nvPr/>
        </p:nvSpPr>
        <p:spPr>
          <a:xfrm>
            <a:off x="457200" y="1700784"/>
            <a:ext cx="128016" cy="128016"/>
          </a:xfrm>
          <a:prstGeom prst="rect">
            <a:avLst/>
          </a:prstGeom>
          <a:solidFill>
            <a:srgbClr val="FFCD00"/>
          </a:solidFill>
          <a:ln/>
        </p:spPr>
        <p:txBody>
          <a:bodyPr/>
          <a:lstStyle/>
          <a:p>
            <a:endParaRPr lang="en-GB"/>
          </a:p>
        </p:txBody>
      </p:sp>
      <p:sp>
        <p:nvSpPr>
          <p:cNvPr id="8" name="Text 6"/>
          <p:cNvSpPr/>
          <p:nvPr/>
        </p:nvSpPr>
        <p:spPr>
          <a:xfrm>
            <a:off x="749808" y="1572768"/>
            <a:ext cx="4206240" cy="411480"/>
          </a:xfrm>
          <a:prstGeom prst="rect">
            <a:avLst/>
          </a:prstGeom>
          <a:noFill/>
          <a:ln/>
        </p:spPr>
        <p:txBody>
          <a:bodyPr wrap="square" rtlCol="0" anchor="ctr"/>
          <a:lstStyle/>
          <a:p>
            <a:pPr marL="0" indent="0">
              <a:buNone/>
            </a:pPr>
            <a:r>
              <a:rPr lang="en-US" sz="1400" b="1" dirty="0">
                <a:solidFill>
                  <a:srgbClr val="111111"/>
                </a:solidFill>
                <a:latin typeface="Arial Black" pitchFamily="34" charset="0"/>
                <a:ea typeface="Arial Black" pitchFamily="34" charset="-122"/>
                <a:cs typeface="Arial Black" pitchFamily="34" charset="-120"/>
              </a:rPr>
              <a:t>Cyber-safety concept taught</a:t>
            </a:r>
            <a:endParaRPr lang="en-US" sz="1400" dirty="0"/>
          </a:p>
        </p:txBody>
      </p:sp>
      <p:sp>
        <p:nvSpPr>
          <p:cNvPr id="9" name="Text 7"/>
          <p:cNvSpPr/>
          <p:nvPr/>
        </p:nvSpPr>
        <p:spPr>
          <a:xfrm>
            <a:off x="5074920" y="1572768"/>
            <a:ext cx="3657600" cy="411480"/>
          </a:xfrm>
          <a:prstGeom prst="rect">
            <a:avLst/>
          </a:prstGeom>
          <a:noFill/>
          <a:ln/>
        </p:spPr>
        <p:txBody>
          <a:bodyPr wrap="square" rtlCol="0" anchor="ctr"/>
          <a:lstStyle/>
          <a:p>
            <a:pPr marL="0" indent="0">
              <a:buNone/>
            </a:pPr>
            <a:r>
              <a:rPr lang="en-US" sz="1300" dirty="0">
                <a:solidFill>
                  <a:srgbClr val="888888"/>
                </a:solidFill>
                <a:latin typeface="Arial" pitchFamily="34" charset="0"/>
                <a:ea typeface="Arial" pitchFamily="34" charset="-122"/>
                <a:cs typeface="Arial" pitchFamily="34" charset="-120"/>
              </a:rPr>
              <a:t>Phishing, passwords, 2FA, VPNs and more</a:t>
            </a:r>
            <a:endParaRPr lang="en-US" sz="1300" dirty="0"/>
          </a:p>
        </p:txBody>
      </p:sp>
      <p:sp>
        <p:nvSpPr>
          <p:cNvPr id="10" name="Shape 8"/>
          <p:cNvSpPr/>
          <p:nvPr/>
        </p:nvSpPr>
        <p:spPr>
          <a:xfrm>
            <a:off x="457200" y="2029968"/>
            <a:ext cx="8229600" cy="10973"/>
          </a:xfrm>
          <a:prstGeom prst="rect">
            <a:avLst/>
          </a:prstGeom>
          <a:solidFill>
            <a:srgbClr val="EEEEEE"/>
          </a:solidFill>
          <a:ln/>
        </p:spPr>
        <p:txBody>
          <a:bodyPr/>
          <a:lstStyle/>
          <a:p>
            <a:endParaRPr lang="en-GB"/>
          </a:p>
        </p:txBody>
      </p:sp>
      <p:sp>
        <p:nvSpPr>
          <p:cNvPr id="11" name="Shape 9"/>
          <p:cNvSpPr/>
          <p:nvPr/>
        </p:nvSpPr>
        <p:spPr>
          <a:xfrm>
            <a:off x="457200" y="2276856"/>
            <a:ext cx="128016" cy="128016"/>
          </a:xfrm>
          <a:prstGeom prst="rect">
            <a:avLst/>
          </a:prstGeom>
          <a:solidFill>
            <a:srgbClr val="FFCD00"/>
          </a:solidFill>
          <a:ln/>
        </p:spPr>
        <p:txBody>
          <a:bodyPr/>
          <a:lstStyle/>
          <a:p>
            <a:endParaRPr lang="en-GB"/>
          </a:p>
        </p:txBody>
      </p:sp>
      <p:sp>
        <p:nvSpPr>
          <p:cNvPr id="12" name="Text 10"/>
          <p:cNvSpPr/>
          <p:nvPr/>
        </p:nvSpPr>
        <p:spPr>
          <a:xfrm>
            <a:off x="749808" y="2148840"/>
            <a:ext cx="4206240" cy="411480"/>
          </a:xfrm>
          <a:prstGeom prst="rect">
            <a:avLst/>
          </a:prstGeom>
          <a:noFill/>
          <a:ln/>
        </p:spPr>
        <p:txBody>
          <a:bodyPr wrap="square" rtlCol="0" anchor="ctr"/>
          <a:lstStyle/>
          <a:p>
            <a:pPr marL="0" indent="0">
              <a:buNone/>
            </a:pPr>
            <a:r>
              <a:rPr lang="en-US" sz="1400" b="1" dirty="0">
                <a:solidFill>
                  <a:srgbClr val="111111"/>
                </a:solidFill>
                <a:latin typeface="Arial Black" pitchFamily="34" charset="0"/>
                <a:ea typeface="Arial Black" pitchFamily="34" charset="-122"/>
                <a:cs typeface="Arial Black" pitchFamily="34" charset="-120"/>
              </a:rPr>
              <a:t>Defined audience</a:t>
            </a:r>
            <a:endParaRPr lang="en-US" sz="1400" dirty="0"/>
          </a:p>
        </p:txBody>
      </p:sp>
      <p:sp>
        <p:nvSpPr>
          <p:cNvPr id="13" name="Text 11"/>
          <p:cNvSpPr/>
          <p:nvPr/>
        </p:nvSpPr>
        <p:spPr>
          <a:xfrm>
            <a:off x="5074920" y="2148840"/>
            <a:ext cx="3657600" cy="411480"/>
          </a:xfrm>
          <a:prstGeom prst="rect">
            <a:avLst/>
          </a:prstGeom>
          <a:noFill/>
          <a:ln/>
        </p:spPr>
        <p:txBody>
          <a:bodyPr wrap="square" rtlCol="0" anchor="ctr"/>
          <a:lstStyle/>
          <a:p>
            <a:pPr marL="0" indent="0">
              <a:buNone/>
            </a:pPr>
            <a:r>
              <a:rPr lang="en-US" sz="1300" dirty="0">
                <a:solidFill>
                  <a:srgbClr val="888888"/>
                </a:solidFill>
                <a:latin typeface="Arial" pitchFamily="34" charset="0"/>
                <a:ea typeface="Arial" pitchFamily="34" charset="-122"/>
                <a:cs typeface="Arial" pitchFamily="34" charset="-120"/>
              </a:rPr>
              <a:t>Children and young teens aged 8–14</a:t>
            </a:r>
            <a:endParaRPr lang="en-US" sz="1300" dirty="0"/>
          </a:p>
        </p:txBody>
      </p:sp>
      <p:sp>
        <p:nvSpPr>
          <p:cNvPr id="14" name="Shape 12"/>
          <p:cNvSpPr/>
          <p:nvPr/>
        </p:nvSpPr>
        <p:spPr>
          <a:xfrm>
            <a:off x="457200" y="2606040"/>
            <a:ext cx="8229600" cy="10973"/>
          </a:xfrm>
          <a:prstGeom prst="rect">
            <a:avLst/>
          </a:prstGeom>
          <a:solidFill>
            <a:srgbClr val="EEEEEE"/>
          </a:solidFill>
          <a:ln/>
        </p:spPr>
        <p:txBody>
          <a:bodyPr/>
          <a:lstStyle/>
          <a:p>
            <a:endParaRPr lang="en-GB"/>
          </a:p>
        </p:txBody>
      </p:sp>
      <p:sp>
        <p:nvSpPr>
          <p:cNvPr id="15" name="Shape 13"/>
          <p:cNvSpPr/>
          <p:nvPr/>
        </p:nvSpPr>
        <p:spPr>
          <a:xfrm>
            <a:off x="457200" y="2852928"/>
            <a:ext cx="128016" cy="128016"/>
          </a:xfrm>
          <a:prstGeom prst="rect">
            <a:avLst/>
          </a:prstGeom>
          <a:solidFill>
            <a:srgbClr val="FFCD00"/>
          </a:solidFill>
          <a:ln/>
        </p:spPr>
        <p:txBody>
          <a:bodyPr/>
          <a:lstStyle/>
          <a:p>
            <a:endParaRPr lang="en-GB"/>
          </a:p>
        </p:txBody>
      </p:sp>
      <p:sp>
        <p:nvSpPr>
          <p:cNvPr id="16" name="Text 14"/>
          <p:cNvSpPr/>
          <p:nvPr/>
        </p:nvSpPr>
        <p:spPr>
          <a:xfrm>
            <a:off x="749808" y="2724912"/>
            <a:ext cx="4206240" cy="411480"/>
          </a:xfrm>
          <a:prstGeom prst="rect">
            <a:avLst/>
          </a:prstGeom>
          <a:noFill/>
          <a:ln/>
        </p:spPr>
        <p:txBody>
          <a:bodyPr wrap="square" rtlCol="0" anchor="ctr"/>
          <a:lstStyle/>
          <a:p>
            <a:pPr marL="0" indent="0">
              <a:buNone/>
            </a:pPr>
            <a:r>
              <a:rPr lang="en-US" sz="1400" b="1" dirty="0">
                <a:solidFill>
                  <a:srgbClr val="111111"/>
                </a:solidFill>
                <a:latin typeface="Arial Black" pitchFamily="34" charset="0"/>
                <a:ea typeface="Arial Black" pitchFamily="34" charset="-122"/>
                <a:cs typeface="Arial Black" pitchFamily="34" charset="-120"/>
              </a:rPr>
              <a:t>Educational value + replayability</a:t>
            </a:r>
            <a:endParaRPr lang="en-US" sz="1400" dirty="0"/>
          </a:p>
        </p:txBody>
      </p:sp>
      <p:sp>
        <p:nvSpPr>
          <p:cNvPr id="17" name="Text 15"/>
          <p:cNvSpPr/>
          <p:nvPr/>
        </p:nvSpPr>
        <p:spPr>
          <a:xfrm>
            <a:off x="5074920" y="2724912"/>
            <a:ext cx="3657600" cy="411480"/>
          </a:xfrm>
          <a:prstGeom prst="rect">
            <a:avLst/>
          </a:prstGeom>
          <a:noFill/>
          <a:ln/>
        </p:spPr>
        <p:txBody>
          <a:bodyPr wrap="square" rtlCol="0" anchor="ctr"/>
          <a:lstStyle/>
          <a:p>
            <a:pPr marL="0" indent="0">
              <a:buNone/>
            </a:pPr>
            <a:r>
              <a:rPr lang="en-US" sz="1300" dirty="0">
                <a:solidFill>
                  <a:srgbClr val="888888"/>
                </a:solidFill>
                <a:latin typeface="Arial" pitchFamily="34" charset="0"/>
                <a:ea typeface="Arial" pitchFamily="34" charset="-122"/>
                <a:cs typeface="Arial" pitchFamily="34" charset="-120"/>
              </a:rPr>
              <a:t>45 cyber-safety questions · 3 difficulty levels · leaderboard</a:t>
            </a:r>
            <a:endParaRPr lang="en-US" sz="1300" dirty="0"/>
          </a:p>
        </p:txBody>
      </p:sp>
      <p:sp>
        <p:nvSpPr>
          <p:cNvPr id="18" name="Shape 16"/>
          <p:cNvSpPr/>
          <p:nvPr/>
        </p:nvSpPr>
        <p:spPr>
          <a:xfrm>
            <a:off x="457200" y="3182112"/>
            <a:ext cx="8229600" cy="10973"/>
          </a:xfrm>
          <a:prstGeom prst="rect">
            <a:avLst/>
          </a:prstGeom>
          <a:solidFill>
            <a:srgbClr val="EEEEEE"/>
          </a:solidFill>
          <a:ln/>
        </p:spPr>
        <p:txBody>
          <a:bodyPr/>
          <a:lstStyle/>
          <a:p>
            <a:endParaRPr lang="en-GB"/>
          </a:p>
        </p:txBody>
      </p:sp>
      <p:sp>
        <p:nvSpPr>
          <p:cNvPr id="19" name="Shape 17"/>
          <p:cNvSpPr/>
          <p:nvPr/>
        </p:nvSpPr>
        <p:spPr>
          <a:xfrm>
            <a:off x="457200" y="3429000"/>
            <a:ext cx="128016" cy="128016"/>
          </a:xfrm>
          <a:prstGeom prst="rect">
            <a:avLst/>
          </a:prstGeom>
          <a:solidFill>
            <a:srgbClr val="FFCD00"/>
          </a:solidFill>
          <a:ln/>
        </p:spPr>
        <p:txBody>
          <a:bodyPr/>
          <a:lstStyle/>
          <a:p>
            <a:endParaRPr lang="en-GB"/>
          </a:p>
        </p:txBody>
      </p:sp>
      <p:sp>
        <p:nvSpPr>
          <p:cNvPr id="20" name="Text 18"/>
          <p:cNvSpPr/>
          <p:nvPr/>
        </p:nvSpPr>
        <p:spPr>
          <a:xfrm>
            <a:off x="749808" y="3300984"/>
            <a:ext cx="4206240" cy="411480"/>
          </a:xfrm>
          <a:prstGeom prst="rect">
            <a:avLst/>
          </a:prstGeom>
          <a:noFill/>
          <a:ln/>
        </p:spPr>
        <p:txBody>
          <a:bodyPr wrap="square" rtlCol="0" anchor="ctr"/>
          <a:lstStyle/>
          <a:p>
            <a:pPr marL="0" indent="0">
              <a:buNone/>
            </a:pPr>
            <a:r>
              <a:rPr lang="en-US" sz="1400" b="1" dirty="0">
                <a:solidFill>
                  <a:srgbClr val="111111"/>
                </a:solidFill>
                <a:latin typeface="Arial Black" pitchFamily="34" charset="0"/>
                <a:ea typeface="Arial Black" pitchFamily="34" charset="-122"/>
                <a:cs typeface="Arial Black" pitchFamily="34" charset="-120"/>
              </a:rPr>
              <a:t>Complete working prototype</a:t>
            </a:r>
            <a:endParaRPr lang="en-US" sz="1400" dirty="0"/>
          </a:p>
        </p:txBody>
      </p:sp>
      <p:sp>
        <p:nvSpPr>
          <p:cNvPr id="21" name="Text 19"/>
          <p:cNvSpPr/>
          <p:nvPr/>
        </p:nvSpPr>
        <p:spPr>
          <a:xfrm>
            <a:off x="5074920" y="3300984"/>
            <a:ext cx="3657600" cy="411480"/>
          </a:xfrm>
          <a:prstGeom prst="rect">
            <a:avLst/>
          </a:prstGeom>
          <a:noFill/>
          <a:ln/>
        </p:spPr>
        <p:txBody>
          <a:bodyPr wrap="square" rtlCol="0" anchor="ctr"/>
          <a:lstStyle/>
          <a:p>
            <a:pPr marL="0" indent="0">
              <a:buNone/>
            </a:pPr>
            <a:r>
              <a:rPr lang="en-US" sz="1300" dirty="0">
                <a:solidFill>
                  <a:srgbClr val="888888"/>
                </a:solidFill>
                <a:latin typeface="Arial" pitchFamily="34" charset="0"/>
                <a:ea typeface="Arial" pitchFamily="34" charset="-122"/>
                <a:cs typeface="Arial" pitchFamily="34" charset="-120"/>
              </a:rPr>
              <a:t>Runs in any browser — no install</a:t>
            </a:r>
            <a:endParaRPr lang="en-US" sz="1300" dirty="0"/>
          </a:p>
        </p:txBody>
      </p:sp>
      <p:sp>
        <p:nvSpPr>
          <p:cNvPr id="22" name="Shape 20"/>
          <p:cNvSpPr/>
          <p:nvPr/>
        </p:nvSpPr>
        <p:spPr>
          <a:xfrm>
            <a:off x="457200" y="3758184"/>
            <a:ext cx="8229600" cy="10973"/>
          </a:xfrm>
          <a:prstGeom prst="rect">
            <a:avLst/>
          </a:prstGeom>
          <a:solidFill>
            <a:srgbClr val="EEEEEE"/>
          </a:solidFill>
          <a:ln/>
        </p:spPr>
        <p:txBody>
          <a:bodyPr/>
          <a:lstStyle/>
          <a:p>
            <a:endParaRPr lang="en-GB"/>
          </a:p>
        </p:txBody>
      </p:sp>
      <p:sp>
        <p:nvSpPr>
          <p:cNvPr id="23" name="Shape 21"/>
          <p:cNvSpPr/>
          <p:nvPr/>
        </p:nvSpPr>
        <p:spPr>
          <a:xfrm>
            <a:off x="457200" y="4005072"/>
            <a:ext cx="128016" cy="128016"/>
          </a:xfrm>
          <a:prstGeom prst="rect">
            <a:avLst/>
          </a:prstGeom>
          <a:solidFill>
            <a:srgbClr val="FFCD00"/>
          </a:solidFill>
          <a:ln/>
        </p:spPr>
        <p:txBody>
          <a:bodyPr/>
          <a:lstStyle/>
          <a:p>
            <a:endParaRPr lang="en-GB"/>
          </a:p>
        </p:txBody>
      </p:sp>
      <p:sp>
        <p:nvSpPr>
          <p:cNvPr id="24" name="Text 22"/>
          <p:cNvSpPr/>
          <p:nvPr/>
        </p:nvSpPr>
        <p:spPr>
          <a:xfrm>
            <a:off x="749808" y="3877056"/>
            <a:ext cx="4206240" cy="411480"/>
          </a:xfrm>
          <a:prstGeom prst="rect">
            <a:avLst/>
          </a:prstGeom>
          <a:noFill/>
          <a:ln/>
        </p:spPr>
        <p:txBody>
          <a:bodyPr wrap="square" rtlCol="0" anchor="ctr"/>
          <a:lstStyle/>
          <a:p>
            <a:pPr marL="0" indent="0">
              <a:buNone/>
            </a:pPr>
            <a:r>
              <a:rPr lang="en-US" sz="1400" b="1" dirty="0">
                <a:solidFill>
                  <a:srgbClr val="111111"/>
                </a:solidFill>
                <a:latin typeface="Arial Black" pitchFamily="34" charset="0"/>
                <a:ea typeface="Arial Black" pitchFamily="34" charset="-122"/>
                <a:cs typeface="Arial Black" pitchFamily="34" charset="-120"/>
              </a:rPr>
              <a:t>Ready for demonstration</a:t>
            </a:r>
            <a:endParaRPr lang="en-US" sz="1400" dirty="0"/>
          </a:p>
        </p:txBody>
      </p:sp>
      <p:sp>
        <p:nvSpPr>
          <p:cNvPr id="25" name="Text 23"/>
          <p:cNvSpPr/>
          <p:nvPr/>
        </p:nvSpPr>
        <p:spPr>
          <a:xfrm>
            <a:off x="5074920" y="3877056"/>
            <a:ext cx="3657600" cy="411480"/>
          </a:xfrm>
          <a:prstGeom prst="rect">
            <a:avLst/>
          </a:prstGeom>
          <a:noFill/>
          <a:ln/>
        </p:spPr>
        <p:txBody>
          <a:bodyPr wrap="square" rtlCol="0" anchor="ctr"/>
          <a:lstStyle/>
          <a:p>
            <a:pPr marL="0" indent="0">
              <a:buNone/>
            </a:pPr>
            <a:r>
              <a:rPr lang="en-US" sz="1300" dirty="0">
                <a:solidFill>
                  <a:srgbClr val="888888"/>
                </a:solidFill>
                <a:latin typeface="Arial" pitchFamily="34" charset="0"/>
                <a:ea typeface="Arial" pitchFamily="34" charset="-122"/>
                <a:cs typeface="Arial" pitchFamily="34" charset="-120"/>
              </a:rPr>
              <a:t>Live today — with supporting documentation</a:t>
            </a:r>
            <a:endParaRPr lang="en-US" sz="1300" dirty="0"/>
          </a:p>
        </p:txBody>
      </p:sp>
      <p:sp>
        <p:nvSpPr>
          <p:cNvPr id="26" name="Shape 24"/>
          <p:cNvSpPr/>
          <p:nvPr/>
        </p:nvSpPr>
        <p:spPr>
          <a:xfrm>
            <a:off x="457200" y="4334256"/>
            <a:ext cx="8229600" cy="10973"/>
          </a:xfrm>
          <a:prstGeom prst="rect">
            <a:avLst/>
          </a:prstGeom>
          <a:solidFill>
            <a:srgbClr val="EEEEEE"/>
          </a:solidFill>
          <a:ln/>
        </p:spPr>
        <p:txBody>
          <a:bodyPr/>
          <a:lstStyle/>
          <a:p>
            <a:endParaRPr lang="en-GB"/>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6">
    <p:bg>
      <p:bgPr>
        <a:solidFill>
          <a:srgbClr val="0D0D0D"/>
        </a:solidFill>
        <a:effectLst/>
      </p:bgPr>
    </p:bg>
    <p:spTree>
      <p:nvGrpSpPr>
        <p:cNvPr id="1" name=""/>
        <p:cNvGrpSpPr/>
        <p:nvPr/>
      </p:nvGrpSpPr>
      <p:grpSpPr>
        <a:xfrm>
          <a:off x="0" y="0"/>
          <a:ext cx="0" cy="0"/>
          <a:chOff x="0" y="0"/>
          <a:chExt cx="0" cy="0"/>
        </a:xfrm>
      </p:grpSpPr>
      <p:sp>
        <p:nvSpPr>
          <p:cNvPr id="2" name="Shape 0"/>
          <p:cNvSpPr/>
          <p:nvPr/>
        </p:nvSpPr>
        <p:spPr>
          <a:xfrm>
            <a:off x="8458200" y="201168"/>
            <a:ext cx="256032" cy="256032"/>
          </a:xfrm>
          <a:prstGeom prst="ellipse">
            <a:avLst/>
          </a:prstGeom>
          <a:solidFill>
            <a:srgbClr val="FFCD00"/>
          </a:solidFill>
          <a:ln/>
        </p:spPr>
        <p:txBody>
          <a:bodyPr/>
          <a:lstStyle/>
          <a:p>
            <a:endParaRPr lang="en-GB"/>
          </a:p>
        </p:txBody>
      </p:sp>
      <p:sp>
        <p:nvSpPr>
          <p:cNvPr id="3" name="Text 1"/>
          <p:cNvSpPr/>
          <p:nvPr/>
        </p:nvSpPr>
        <p:spPr>
          <a:xfrm>
            <a:off x="457200" y="274320"/>
            <a:ext cx="6400800" cy="228600"/>
          </a:xfrm>
          <a:prstGeom prst="rect">
            <a:avLst/>
          </a:prstGeom>
          <a:noFill/>
          <a:ln/>
        </p:spPr>
        <p:txBody>
          <a:bodyPr wrap="square" rtlCol="0" anchor="ctr"/>
          <a:lstStyle/>
          <a:p>
            <a:pPr marL="0" indent="0">
              <a:buNone/>
            </a:pPr>
            <a:r>
              <a:rPr lang="en-US" sz="1000" b="1" kern="0" spc="200" dirty="0">
                <a:solidFill>
                  <a:srgbClr val="555555"/>
                </a:solidFill>
                <a:latin typeface="Arial" pitchFamily="34" charset="0"/>
                <a:ea typeface="Arial" pitchFamily="34" charset="-122"/>
                <a:cs typeface="Arial" pitchFamily="34" charset="-120"/>
              </a:rPr>
              <a:t>THE PRODUCT</a:t>
            </a:r>
            <a:endParaRPr lang="en-US" sz="1000" dirty="0"/>
          </a:p>
        </p:txBody>
      </p:sp>
      <p:sp>
        <p:nvSpPr>
          <p:cNvPr id="4" name="Text 2"/>
          <p:cNvSpPr/>
          <p:nvPr/>
        </p:nvSpPr>
        <p:spPr>
          <a:xfrm>
            <a:off x="3657600" y="4919472"/>
            <a:ext cx="5212080" cy="182880"/>
          </a:xfrm>
          <a:prstGeom prst="rect">
            <a:avLst/>
          </a:prstGeom>
          <a:noFill/>
          <a:ln/>
        </p:spPr>
        <p:txBody>
          <a:bodyPr wrap="square" rtlCol="0" anchor="ctr"/>
          <a:lstStyle/>
          <a:p>
            <a:pPr marL="0" indent="0" algn="r">
              <a:buNone/>
            </a:pPr>
            <a:r>
              <a:rPr lang="en-US" sz="900" dirty="0">
                <a:solidFill>
                  <a:srgbClr val="555555"/>
                </a:solidFill>
                <a:latin typeface="Arial" pitchFamily="34" charset="0"/>
                <a:ea typeface="Arial" pitchFamily="34" charset="-122"/>
                <a:cs typeface="Arial" pitchFamily="34" charset="-120"/>
              </a:rPr>
              <a:t>NINJA QUIZ  ·  503IT  ·  15 / 18</a:t>
            </a:r>
            <a:endParaRPr lang="en-US" sz="900" dirty="0"/>
          </a:p>
        </p:txBody>
      </p:sp>
      <p:sp>
        <p:nvSpPr>
          <p:cNvPr id="5" name="Text 3"/>
          <p:cNvSpPr/>
          <p:nvPr/>
        </p:nvSpPr>
        <p:spPr>
          <a:xfrm>
            <a:off x="457200" y="457200"/>
            <a:ext cx="8229600" cy="660400"/>
          </a:xfrm>
          <a:prstGeom prst="rect">
            <a:avLst/>
          </a:prstGeom>
          <a:noFill/>
          <a:ln/>
        </p:spPr>
        <p:txBody>
          <a:bodyPr wrap="square" rtlCol="0" anchor="ctr"/>
          <a:lstStyle/>
          <a:p>
            <a:pPr marL="0" indent="0">
              <a:buNone/>
            </a:pPr>
            <a:r>
              <a:rPr lang="en-US" sz="2600" b="1" dirty="0">
                <a:solidFill>
                  <a:srgbClr val="FFFFFF"/>
                </a:solidFill>
                <a:latin typeface="Arial Black" pitchFamily="34" charset="0"/>
                <a:ea typeface="Arial Black" pitchFamily="34" charset="-122"/>
                <a:cs typeface="Arial Black" pitchFamily="34" charset="-120"/>
              </a:rPr>
              <a:t>This is what we built.</a:t>
            </a:r>
            <a:endParaRPr lang="en-US" sz="2600" dirty="0"/>
          </a:p>
        </p:txBody>
      </p:sp>
      <p:pic>
        <p:nvPicPr>
          <p:cNvPr id="6" name="Picture 5" descr="Game ss.png"/>
          <p:cNvPicPr>
            <a:picLocks noChangeAspect="1"/>
          </p:cNvPicPr>
          <p:nvPr/>
        </p:nvPicPr>
        <p:blipFill>
          <a:blip r:embed="rId3"/>
          <a:stretch>
            <a:fillRect/>
          </a:stretch>
        </p:blipFill>
        <p:spPr>
          <a:xfrm>
            <a:off x="365760" y="1005840"/>
            <a:ext cx="8412480" cy="3931920"/>
          </a:xfrm>
          <a:prstGeom prst="rect">
            <a:avLst/>
          </a:prstGeom>
        </p:spPr>
      </p:pic>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7">
    <p:bg>
      <p:bgPr>
        <a:solidFill>
          <a:srgbClr val="0D0D0D"/>
        </a:solidFill>
        <a:effectLst/>
      </p:bgPr>
    </p:bg>
    <p:spTree>
      <p:nvGrpSpPr>
        <p:cNvPr id="1" name=""/>
        <p:cNvGrpSpPr/>
        <p:nvPr/>
      </p:nvGrpSpPr>
      <p:grpSpPr>
        <a:xfrm>
          <a:off x="0" y="0"/>
          <a:ext cx="0" cy="0"/>
          <a:chOff x="0" y="0"/>
          <a:chExt cx="0" cy="0"/>
        </a:xfrm>
      </p:grpSpPr>
      <p:sp>
        <p:nvSpPr>
          <p:cNvPr id="2" name="Shape 0"/>
          <p:cNvSpPr/>
          <p:nvPr/>
        </p:nvSpPr>
        <p:spPr>
          <a:xfrm>
            <a:off x="8458200" y="201168"/>
            <a:ext cx="256032" cy="256032"/>
          </a:xfrm>
          <a:prstGeom prst="ellipse">
            <a:avLst/>
          </a:prstGeom>
          <a:solidFill>
            <a:srgbClr val="FFCD00"/>
          </a:solidFill>
          <a:ln/>
        </p:spPr>
        <p:txBody>
          <a:bodyPr/>
          <a:lstStyle/>
          <a:p>
            <a:endParaRPr lang="en-GB"/>
          </a:p>
        </p:txBody>
      </p:sp>
      <p:sp>
        <p:nvSpPr>
          <p:cNvPr id="3" name="Text 1"/>
          <p:cNvSpPr/>
          <p:nvPr/>
        </p:nvSpPr>
        <p:spPr>
          <a:xfrm>
            <a:off x="457200" y="274320"/>
            <a:ext cx="6400800" cy="228600"/>
          </a:xfrm>
          <a:prstGeom prst="rect">
            <a:avLst/>
          </a:prstGeom>
          <a:noFill/>
          <a:ln/>
        </p:spPr>
        <p:txBody>
          <a:bodyPr wrap="square" rtlCol="0" anchor="ctr"/>
          <a:lstStyle/>
          <a:p>
            <a:pPr marL="0" indent="0">
              <a:buNone/>
            </a:pPr>
            <a:r>
              <a:rPr lang="en-US" sz="1000" b="1" kern="0" spc="200" dirty="0">
                <a:solidFill>
                  <a:srgbClr val="555555"/>
                </a:solidFill>
                <a:latin typeface="Arial" pitchFamily="34" charset="0"/>
                <a:ea typeface="Arial" pitchFamily="34" charset="-122"/>
                <a:cs typeface="Arial" pitchFamily="34" charset="-120"/>
              </a:rPr>
              <a:t>WHAT WE LEARNED</a:t>
            </a:r>
            <a:endParaRPr lang="en-US" sz="1000" dirty="0"/>
          </a:p>
        </p:txBody>
      </p:sp>
      <p:sp>
        <p:nvSpPr>
          <p:cNvPr id="4" name="Text 2"/>
          <p:cNvSpPr/>
          <p:nvPr/>
        </p:nvSpPr>
        <p:spPr>
          <a:xfrm>
            <a:off x="3657600" y="4919472"/>
            <a:ext cx="5212080" cy="182880"/>
          </a:xfrm>
          <a:prstGeom prst="rect">
            <a:avLst/>
          </a:prstGeom>
          <a:noFill/>
          <a:ln/>
        </p:spPr>
        <p:txBody>
          <a:bodyPr wrap="square" rtlCol="0" anchor="ctr"/>
          <a:lstStyle/>
          <a:p>
            <a:pPr marL="0" indent="0" algn="r">
              <a:buNone/>
            </a:pPr>
            <a:r>
              <a:rPr lang="en-US" sz="900" dirty="0">
                <a:solidFill>
                  <a:srgbClr val="555555"/>
                </a:solidFill>
                <a:latin typeface="Arial" pitchFamily="34" charset="0"/>
                <a:ea typeface="Arial" pitchFamily="34" charset="-122"/>
                <a:cs typeface="Arial" pitchFamily="34" charset="-120"/>
              </a:rPr>
              <a:t>NINJA QUIZ  ·  503IT  ·  16 / 18</a:t>
            </a:r>
            <a:endParaRPr lang="en-US" sz="900" dirty="0"/>
          </a:p>
        </p:txBody>
      </p:sp>
      <p:sp>
        <p:nvSpPr>
          <p:cNvPr id="5" name="Text 3"/>
          <p:cNvSpPr/>
          <p:nvPr/>
        </p:nvSpPr>
        <p:spPr>
          <a:xfrm>
            <a:off x="457200" y="1005840"/>
            <a:ext cx="8229600" cy="1320800"/>
          </a:xfrm>
          <a:prstGeom prst="rect">
            <a:avLst/>
          </a:prstGeom>
          <a:noFill/>
          <a:ln/>
        </p:spPr>
        <p:txBody>
          <a:bodyPr wrap="square" rtlCol="0" anchor="ctr"/>
          <a:lstStyle/>
          <a:p>
            <a:pPr marL="0" indent="0">
              <a:buNone/>
            </a:pPr>
            <a:r>
              <a:rPr lang="en-US" sz="5200" b="1" dirty="0">
                <a:solidFill>
                  <a:srgbClr val="FFFFFF"/>
                </a:solidFill>
                <a:latin typeface="Arial Black" pitchFamily="34" charset="0"/>
                <a:ea typeface="Arial Black" pitchFamily="34" charset="-122"/>
                <a:cs typeface="Arial Black" pitchFamily="34" charset="-120"/>
              </a:rPr>
              <a:t>Communication</a:t>
            </a:r>
            <a:endParaRPr lang="en-US" sz="5200" dirty="0"/>
          </a:p>
          <a:p>
            <a:pPr marL="0" indent="0">
              <a:buNone/>
            </a:pPr>
            <a:r>
              <a:rPr lang="en-US" sz="5200" b="1" dirty="0">
                <a:solidFill>
                  <a:srgbClr val="FFFFFF"/>
                </a:solidFill>
                <a:latin typeface="Arial Black" pitchFamily="34" charset="0"/>
                <a:ea typeface="Arial Black" pitchFamily="34" charset="-122"/>
                <a:cs typeface="Arial Black" pitchFamily="34" charset="-120"/>
              </a:rPr>
              <a:t>built the product.</a:t>
            </a:r>
            <a:endParaRPr lang="en-US" sz="5200" dirty="0"/>
          </a:p>
        </p:txBody>
      </p:sp>
      <p:sp>
        <p:nvSpPr>
          <p:cNvPr id="6" name="Shape 4"/>
          <p:cNvSpPr/>
          <p:nvPr/>
        </p:nvSpPr>
        <p:spPr>
          <a:xfrm>
            <a:off x="457200" y="3291840"/>
            <a:ext cx="8229600" cy="10973"/>
          </a:xfrm>
          <a:prstGeom prst="rect">
            <a:avLst/>
          </a:prstGeom>
          <a:solidFill>
            <a:srgbClr val="222222"/>
          </a:solidFill>
          <a:ln/>
        </p:spPr>
        <p:txBody>
          <a:bodyPr/>
          <a:lstStyle/>
          <a:p>
            <a:endParaRPr lang="en-GB"/>
          </a:p>
        </p:txBody>
      </p:sp>
      <p:sp>
        <p:nvSpPr>
          <p:cNvPr id="7" name="Text 5"/>
          <p:cNvSpPr/>
          <p:nvPr/>
        </p:nvSpPr>
        <p:spPr>
          <a:xfrm>
            <a:off x="457200" y="3429000"/>
            <a:ext cx="7772400" cy="320040"/>
          </a:xfrm>
          <a:prstGeom prst="rect">
            <a:avLst/>
          </a:prstGeom>
          <a:noFill/>
          <a:ln/>
        </p:spPr>
        <p:txBody>
          <a:bodyPr wrap="square" rtlCol="0" anchor="ctr"/>
          <a:lstStyle/>
          <a:p>
            <a:pPr marL="0" indent="0">
              <a:buNone/>
            </a:pPr>
            <a:r>
              <a:rPr lang="en-US" sz="1400" dirty="0">
                <a:solidFill>
                  <a:srgbClr val="555555"/>
                </a:solidFill>
                <a:latin typeface="Arial" pitchFamily="34" charset="0"/>
                <a:ea typeface="Arial" pitchFamily="34" charset="-122"/>
                <a:cs typeface="Arial" pitchFamily="34" charset="-120"/>
              </a:rPr>
              <a:t>Not the code. Not the tools. The way five people stayed aligned.</a:t>
            </a:r>
            <a:endParaRPr lang="en-US" sz="14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bg>
      <p:bgPr>
        <a:solidFill>
          <a:srgbClr val="0D0D0D"/>
        </a:solidFill>
        <a:effectLst/>
      </p:bgPr>
    </p:bg>
    <p:spTree>
      <p:nvGrpSpPr>
        <p:cNvPr id="1" name=""/>
        <p:cNvGrpSpPr/>
        <p:nvPr/>
      </p:nvGrpSpPr>
      <p:grpSpPr>
        <a:xfrm>
          <a:off x="0" y="0"/>
          <a:ext cx="0" cy="0"/>
          <a:chOff x="0" y="0"/>
          <a:chExt cx="0" cy="0"/>
        </a:xfrm>
      </p:grpSpPr>
      <p:sp>
        <p:nvSpPr>
          <p:cNvPr id="2" name="TextBox 1"/>
          <p:cNvSpPr txBox="1"/>
          <p:nvPr/>
        </p:nvSpPr>
        <p:spPr>
          <a:xfrm>
            <a:off x="457200" y="256032"/>
            <a:ext cx="6858000" cy="256032"/>
          </a:xfrm>
          <a:prstGeom prst="rect">
            <a:avLst/>
          </a:prstGeom>
          <a:noFill/>
        </p:spPr>
        <p:txBody>
          <a:bodyPr wrap="square">
            <a:spAutoFit/>
          </a:bodyPr>
          <a:lstStyle/>
          <a:p>
            <a:pPr algn="l"/>
            <a:r>
              <a:rPr sz="1000" b="1" i="0">
                <a:solidFill>
                  <a:srgbClr val="888888"/>
                </a:solidFill>
              </a:rPr>
              <a:t>PROFESSIONAL DEVELOPMENT</a:t>
            </a:r>
          </a:p>
        </p:txBody>
      </p:sp>
      <p:sp>
        <p:nvSpPr>
          <p:cNvPr id="3" name="TextBox 2"/>
          <p:cNvSpPr txBox="1"/>
          <p:nvPr/>
        </p:nvSpPr>
        <p:spPr>
          <a:xfrm>
            <a:off x="3657600" y="4919472"/>
            <a:ext cx="5212080" cy="182880"/>
          </a:xfrm>
          <a:prstGeom prst="rect">
            <a:avLst/>
          </a:prstGeom>
          <a:noFill/>
        </p:spPr>
        <p:txBody>
          <a:bodyPr wrap="square">
            <a:spAutoFit/>
          </a:bodyPr>
          <a:lstStyle/>
          <a:p>
            <a:pPr algn="l"/>
            <a:r>
              <a:rPr sz="800" b="0" i="0">
                <a:solidFill>
                  <a:srgbClr val="444444"/>
                </a:solidFill>
              </a:rPr>
              <a:t>NINJA QUIZ  .  503IT</a:t>
            </a:r>
          </a:p>
        </p:txBody>
      </p:sp>
      <p:sp>
        <p:nvSpPr>
          <p:cNvPr id="4" name="TextBox 3"/>
          <p:cNvSpPr txBox="1"/>
          <p:nvPr/>
        </p:nvSpPr>
        <p:spPr>
          <a:xfrm>
            <a:off x="457200" y="594360"/>
            <a:ext cx="8229600" cy="1097280"/>
          </a:xfrm>
          <a:prstGeom prst="rect">
            <a:avLst/>
          </a:prstGeom>
          <a:noFill/>
        </p:spPr>
        <p:txBody>
          <a:bodyPr wrap="square">
            <a:spAutoFit/>
          </a:bodyPr>
          <a:lstStyle/>
          <a:p>
            <a:pPr algn="l"/>
            <a:r>
              <a:rPr sz="2800" b="1" i="0">
                <a:solidFill>
                  <a:srgbClr val="FFFFFF"/>
                </a:solidFill>
              </a:rPr>
              <a:t>This project taught us how</a:t>
            </a:r>
          </a:p>
          <a:p>
            <a:pPr algn="l"/>
            <a:r>
              <a:rPr sz="2800" b="1" i="0">
                <a:solidFill>
                  <a:srgbClr val="FFFFFF"/>
                </a:solidFill>
              </a:rPr>
              <a:t>industry teams actually work.</a:t>
            </a:r>
          </a:p>
        </p:txBody>
      </p:sp>
      <p:sp>
        <p:nvSpPr>
          <p:cNvPr id="5" name="TextBox 4"/>
          <p:cNvSpPr txBox="1"/>
          <p:nvPr/>
        </p:nvSpPr>
        <p:spPr>
          <a:xfrm>
            <a:off x="457200" y="1874519"/>
            <a:ext cx="3840480" cy="256032"/>
          </a:xfrm>
          <a:prstGeom prst="rect">
            <a:avLst/>
          </a:prstGeom>
          <a:noFill/>
        </p:spPr>
        <p:txBody>
          <a:bodyPr wrap="square">
            <a:spAutoFit/>
          </a:bodyPr>
          <a:lstStyle/>
          <a:p>
            <a:pPr algn="l"/>
            <a:r>
              <a:rPr sz="1300" b="1" i="0">
                <a:solidFill>
                  <a:srgbClr val="FFCD00"/>
                </a:solidFill>
              </a:rPr>
              <a:t>Structured communication</a:t>
            </a:r>
          </a:p>
        </p:txBody>
      </p:sp>
      <p:sp>
        <p:nvSpPr>
          <p:cNvPr id="6" name="TextBox 5"/>
          <p:cNvSpPr txBox="1"/>
          <p:nvPr/>
        </p:nvSpPr>
        <p:spPr>
          <a:xfrm>
            <a:off x="457200" y="2148839"/>
            <a:ext cx="8229600" cy="411480"/>
          </a:xfrm>
          <a:prstGeom prst="rect">
            <a:avLst/>
          </a:prstGeom>
          <a:noFill/>
        </p:spPr>
        <p:txBody>
          <a:bodyPr wrap="square">
            <a:spAutoFit/>
          </a:bodyPr>
          <a:lstStyle/>
          <a:p>
            <a:pPr algn="l"/>
            <a:r>
              <a:rPr sz="1100" b="0" i="0">
                <a:solidFill>
                  <a:srgbClr val="AAAAAA"/>
                </a:solidFill>
              </a:rPr>
              <a:t>Raising issues immediately, logging decisions in Trello and meeting minutes — these are professional standards, not student habits.</a:t>
            </a:r>
          </a:p>
        </p:txBody>
      </p:sp>
      <p:sp>
        <p:nvSpPr>
          <p:cNvPr id="7" name="TextBox 6"/>
          <p:cNvSpPr txBox="1"/>
          <p:nvPr/>
        </p:nvSpPr>
        <p:spPr>
          <a:xfrm>
            <a:off x="457200" y="2697479"/>
            <a:ext cx="3840480" cy="256032"/>
          </a:xfrm>
          <a:prstGeom prst="rect">
            <a:avLst/>
          </a:prstGeom>
          <a:noFill/>
        </p:spPr>
        <p:txBody>
          <a:bodyPr wrap="square">
            <a:spAutoFit/>
          </a:bodyPr>
          <a:lstStyle/>
          <a:p>
            <a:pPr algn="l"/>
            <a:r>
              <a:rPr sz="1300" b="1" i="0">
                <a:solidFill>
                  <a:srgbClr val="FFCD00"/>
                </a:solidFill>
              </a:rPr>
              <a:t>Real version control</a:t>
            </a:r>
          </a:p>
        </p:txBody>
      </p:sp>
      <p:sp>
        <p:nvSpPr>
          <p:cNvPr id="8" name="TextBox 7"/>
          <p:cNvSpPr txBox="1"/>
          <p:nvPr/>
        </p:nvSpPr>
        <p:spPr>
          <a:xfrm>
            <a:off x="457200" y="2971799"/>
            <a:ext cx="8229600" cy="411480"/>
          </a:xfrm>
          <a:prstGeom prst="rect">
            <a:avLst/>
          </a:prstGeom>
          <a:noFill/>
        </p:spPr>
        <p:txBody>
          <a:bodyPr wrap="square">
            <a:spAutoFit/>
          </a:bodyPr>
          <a:lstStyle/>
          <a:p>
            <a:pPr algn="l"/>
            <a:r>
              <a:rPr sz="1100" b="0" i="0">
                <a:solidFill>
                  <a:srgbClr val="AAAAAA"/>
                </a:solidFill>
              </a:rPr>
              <a:t>Feature branches, no pushing to main without review. We left this project with actual Git workflow experience.</a:t>
            </a:r>
          </a:p>
        </p:txBody>
      </p:sp>
      <p:sp>
        <p:nvSpPr>
          <p:cNvPr id="9" name="TextBox 8"/>
          <p:cNvSpPr txBox="1"/>
          <p:nvPr/>
        </p:nvSpPr>
        <p:spPr>
          <a:xfrm>
            <a:off x="457200" y="3520439"/>
            <a:ext cx="3840480" cy="256032"/>
          </a:xfrm>
          <a:prstGeom prst="rect">
            <a:avLst/>
          </a:prstGeom>
          <a:noFill/>
        </p:spPr>
        <p:txBody>
          <a:bodyPr wrap="square">
            <a:spAutoFit/>
          </a:bodyPr>
          <a:lstStyle/>
          <a:p>
            <a:pPr algn="l"/>
            <a:r>
              <a:rPr sz="1300" b="1" i="0">
                <a:solidFill>
                  <a:srgbClr val="FFCD00"/>
                </a:solidFill>
              </a:rPr>
              <a:t>Agile delivery mindset</a:t>
            </a:r>
          </a:p>
        </p:txBody>
      </p:sp>
      <p:sp>
        <p:nvSpPr>
          <p:cNvPr id="10" name="TextBox 9"/>
          <p:cNvSpPr txBox="1"/>
          <p:nvPr/>
        </p:nvSpPr>
        <p:spPr>
          <a:xfrm>
            <a:off x="457200" y="3794759"/>
            <a:ext cx="8229600" cy="411480"/>
          </a:xfrm>
          <a:prstGeom prst="rect">
            <a:avLst/>
          </a:prstGeom>
          <a:noFill/>
        </p:spPr>
        <p:txBody>
          <a:bodyPr wrap="square">
            <a:spAutoFit/>
          </a:bodyPr>
          <a:lstStyle/>
          <a:p>
            <a:pPr algn="l"/>
            <a:r>
              <a:rPr sz="1100" b="0" i="0">
                <a:solidFill>
                  <a:srgbClr val="AAAAAA"/>
                </a:solidFill>
              </a:rPr>
              <a:t>Five sprints with goals, retrospectives, and user testing mirrors how software teams ship in industry.</a:t>
            </a:r>
          </a:p>
        </p:txBody>
      </p:sp>
      <p:sp>
        <p:nvSpPr>
          <p:cNvPr id="11" name="TextBox 10"/>
          <p:cNvSpPr txBox="1"/>
          <p:nvPr/>
        </p:nvSpPr>
        <p:spPr>
          <a:xfrm>
            <a:off x="457200" y="4343400"/>
            <a:ext cx="3840480" cy="256032"/>
          </a:xfrm>
          <a:prstGeom prst="rect">
            <a:avLst/>
          </a:prstGeom>
          <a:noFill/>
        </p:spPr>
        <p:txBody>
          <a:bodyPr wrap="square">
            <a:spAutoFit/>
          </a:bodyPr>
          <a:lstStyle/>
          <a:p>
            <a:pPr algn="l"/>
            <a:r>
              <a:rPr sz="1300" b="1" i="0">
                <a:solidFill>
                  <a:srgbClr val="FFCD00"/>
                </a:solidFill>
              </a:rPr>
              <a:t>Resilience under pressure</a:t>
            </a:r>
          </a:p>
        </p:txBody>
      </p:sp>
      <p:sp>
        <p:nvSpPr>
          <p:cNvPr id="12" name="TextBox 11"/>
          <p:cNvSpPr txBox="1"/>
          <p:nvPr/>
        </p:nvSpPr>
        <p:spPr>
          <a:xfrm>
            <a:off x="457200" y="4617720"/>
            <a:ext cx="8229600" cy="411480"/>
          </a:xfrm>
          <a:prstGeom prst="rect">
            <a:avLst/>
          </a:prstGeom>
          <a:noFill/>
        </p:spPr>
        <p:txBody>
          <a:bodyPr wrap="square">
            <a:spAutoFit/>
          </a:bodyPr>
          <a:lstStyle/>
          <a:p>
            <a:pPr algn="l"/>
            <a:r>
              <a:rPr sz="1100" b="0" i="0">
                <a:solidFill>
                  <a:srgbClr val="AAAAAA"/>
                </a:solidFill>
              </a:rPr>
              <a:t>When the game broke 2 weeks before submission, we diagnosed and fixed it in one day — as a team. That experience is irreplaceable.</a:t>
            </a:r>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CD00"/>
        </a:solidFill>
        <a:effectLst/>
      </p:bgPr>
    </p:bg>
    <p:spTree>
      <p:nvGrpSpPr>
        <p:cNvPr id="1" name=""/>
        <p:cNvGrpSpPr/>
        <p:nvPr/>
      </p:nvGrpSpPr>
      <p:grpSpPr>
        <a:xfrm>
          <a:off x="0" y="0"/>
          <a:ext cx="0" cy="0"/>
          <a:chOff x="0" y="0"/>
          <a:chExt cx="0" cy="0"/>
        </a:xfrm>
      </p:grpSpPr>
      <p:sp>
        <p:nvSpPr>
          <p:cNvPr id="2" name="Shape 0"/>
          <p:cNvSpPr/>
          <p:nvPr/>
        </p:nvSpPr>
        <p:spPr>
          <a:xfrm>
            <a:off x="8458200" y="201168"/>
            <a:ext cx="256032" cy="256032"/>
          </a:xfrm>
          <a:prstGeom prst="ellipse">
            <a:avLst/>
          </a:prstGeom>
          <a:solidFill>
            <a:srgbClr val="DDDDDD"/>
          </a:solidFill>
          <a:ln/>
        </p:spPr>
        <p:txBody>
          <a:bodyPr/>
          <a:lstStyle/>
          <a:p>
            <a:endParaRPr lang="en-GB"/>
          </a:p>
        </p:txBody>
      </p:sp>
      <p:sp>
        <p:nvSpPr>
          <p:cNvPr id="3" name="Text 1"/>
          <p:cNvSpPr/>
          <p:nvPr/>
        </p:nvSpPr>
        <p:spPr>
          <a:xfrm>
            <a:off x="457200" y="1280160"/>
            <a:ext cx="8229600" cy="1645920"/>
          </a:xfrm>
          <a:prstGeom prst="rect">
            <a:avLst/>
          </a:prstGeom>
          <a:noFill/>
          <a:ln/>
        </p:spPr>
        <p:txBody>
          <a:bodyPr wrap="square" rtlCol="0" anchor="ctr"/>
          <a:lstStyle/>
          <a:p>
            <a:pPr marL="0" indent="0">
              <a:buNone/>
            </a:pPr>
            <a:r>
              <a:rPr lang="en-US" sz="8000" b="1" dirty="0">
                <a:solidFill>
                  <a:srgbClr val="111111"/>
                </a:solidFill>
                <a:latin typeface="Arial Black" pitchFamily="34" charset="0"/>
                <a:ea typeface="Arial Black" pitchFamily="34" charset="-122"/>
                <a:cs typeface="Arial Black" pitchFamily="34" charset="-120"/>
              </a:rPr>
              <a:t>Thank you.</a:t>
            </a:r>
            <a:endParaRPr lang="en-US" sz="8000" dirty="0"/>
          </a:p>
        </p:txBody>
      </p:sp>
      <p:sp>
        <p:nvSpPr>
          <p:cNvPr id="4" name="Shape 2"/>
          <p:cNvSpPr/>
          <p:nvPr/>
        </p:nvSpPr>
        <p:spPr>
          <a:xfrm>
            <a:off x="475488" y="3246120"/>
            <a:ext cx="1645920" cy="45720"/>
          </a:xfrm>
          <a:prstGeom prst="rect">
            <a:avLst/>
          </a:prstGeom>
          <a:solidFill>
            <a:srgbClr val="111111"/>
          </a:solidFill>
          <a:ln/>
        </p:spPr>
        <p:txBody>
          <a:bodyPr/>
          <a:lstStyle/>
          <a:p>
            <a:endParaRPr lang="en-GB"/>
          </a:p>
        </p:txBody>
      </p:sp>
      <p:sp>
        <p:nvSpPr>
          <p:cNvPr id="5" name="Text 3"/>
          <p:cNvSpPr/>
          <p:nvPr/>
        </p:nvSpPr>
        <p:spPr>
          <a:xfrm>
            <a:off x="475488" y="3429000"/>
            <a:ext cx="8229600" cy="365760"/>
          </a:xfrm>
          <a:prstGeom prst="rect">
            <a:avLst/>
          </a:prstGeom>
          <a:noFill/>
          <a:ln/>
        </p:spPr>
        <p:txBody>
          <a:bodyPr wrap="square" rtlCol="0" anchor="ctr"/>
          <a:lstStyle/>
          <a:p>
            <a:pPr marL="0" indent="0">
              <a:buNone/>
            </a:pPr>
            <a:r>
              <a:rPr lang="en-US" sz="1500" dirty="0">
                <a:solidFill>
                  <a:srgbClr val="333333"/>
                </a:solidFill>
                <a:latin typeface="Arial" pitchFamily="34" charset="0"/>
                <a:ea typeface="Arial" pitchFamily="34" charset="-122"/>
                <a:cs typeface="Arial" pitchFamily="34" charset="-120"/>
              </a:rPr>
              <a:t>Questions welcome — happy to run a live demo.</a:t>
            </a:r>
            <a:endParaRPr lang="en-US" sz="1500" dirty="0"/>
          </a:p>
        </p:txBody>
      </p:sp>
      <p:sp>
        <p:nvSpPr>
          <p:cNvPr id="6" name="Text 4"/>
          <p:cNvSpPr/>
          <p:nvPr/>
        </p:nvSpPr>
        <p:spPr>
          <a:xfrm>
            <a:off x="475488" y="4754880"/>
            <a:ext cx="8229600" cy="228600"/>
          </a:xfrm>
          <a:prstGeom prst="rect">
            <a:avLst/>
          </a:prstGeom>
          <a:noFill/>
          <a:ln/>
        </p:spPr>
        <p:txBody>
          <a:bodyPr wrap="square" rtlCol="0" anchor="ctr"/>
          <a:lstStyle/>
          <a:p>
            <a:pPr marL="0" indent="0">
              <a:buNone/>
            </a:pPr>
            <a:r>
              <a:rPr lang="en-US" sz="1000" b="1" dirty="0">
                <a:solidFill>
                  <a:srgbClr val="444444"/>
                </a:solidFill>
                <a:latin typeface="Arial" pitchFamily="34" charset="0"/>
                <a:ea typeface="Arial" pitchFamily="34" charset="-122"/>
                <a:cs typeface="Arial" pitchFamily="34" charset="-120"/>
              </a:rPr>
              <a:t>Ninja Quiz  ·  Team The Originals  ·  503IT</a:t>
            </a:r>
            <a:endParaRPr lang="en-US" sz="10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0</TotalTime>
  <Words>1471</Words>
  <Application>Microsoft Office PowerPoint</Application>
  <PresentationFormat>On-screen Show (16:9)</PresentationFormat>
  <Paragraphs>193</Paragraphs>
  <Slides>18</Slides>
  <Notes>16</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18</vt:i4>
      </vt:variant>
    </vt:vector>
  </HeadingPairs>
  <TitlesOfParts>
    <vt:vector size="21" baseType="lpstr">
      <vt:lpstr>Arial</vt:lpstr>
      <vt:lpstr>Arial Black</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Aakash G C</cp:lastModifiedBy>
  <cp:revision>4</cp:revision>
  <dcterms:created xsi:type="dcterms:W3CDTF">2026-06-09T16:06:25Z</dcterms:created>
  <dcterms:modified xsi:type="dcterms:W3CDTF">2026-06-10T11:18:48Z</dcterms:modified>
</cp:coreProperties>
</file>