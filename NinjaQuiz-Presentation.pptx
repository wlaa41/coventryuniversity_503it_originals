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43" d="100"/>
          <a:sy n="143"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454442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We are The Originals. We were given a brief: build a game that teaches cyber-safety. This presentation is about how we worked together to do that.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 brief existed. One in three children has already encountered an online risk — but passive teaching does not stick. The client needed something young people would actually engage with. That was our starting point.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what we built — let's establish who we are and how we divided the work.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was divided so every person owned one module end-to-end. No overlap meant clear accountability — when something needed fixing, we knew exactly who to speak to. This was a deliberate decision made in our first meeting.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process — how we actually organised, communicated and made decisions as a team.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three tools deliberately. Trello kept tasks visible to everyone — no one had to ask 'what are you working on?' GitHub meant five people could write code at the same time without conflicts. WhatsApp was our daily pulse — stand-ups every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eight stand-ups over eight weeks. Same three questions every time. This kept every team member focused on progress and surfaced blockers early — before they became emergencies. The stand-up format came from Agile methodology.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in the project we recognised that undocumented decisions were causing confusion. We moved to a structured approach — minutes for every meeting, a Trello card for every decision. If someone was absent, they could catch up. Nothing was lost.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Agile methodology — five two-week sprints. Each sprint closed with a working demo and a team retrospective. This meant we were always building on something that worked, and the team reviewed its own process at the end of every cycle.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Halfway through the project, we hit our biggest challenge. This is where the team's communication structure was actually tested.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our make-or-break moment. The game ran but answer targets never appeared — the entire gameplay depended on them. The reason it was resolved in one day: the team communicated immediately. Everyone looked at the error log together. Root cause identified, component rebuilt. Not one person could have done that alone.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bug was not just a technical problem — it was a test of our process. And our process worked. Because every person knew their role, issues were raised immediately, and the team reviewed code collaboratively, we resolved it without delaying the sprint.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process covered — let's show what it produced.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delivered every client requirement. This was possible because of the structured process — clear roles, sprint planning, and documented decisions meant nothing was missed.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testing was part of Sprint 4 and 5. We gathered feedback from peers who had not seen the game before. Their responses validated that the game teaches while entertaining — and the desire to replay confirms educational retention.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Ninja Quiz in play. A cyber-safety question appears, four answer targets fly across the screen, and the player slices the correct one. The product is fully working and available for a live demo right now.</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biggest takeaway from this project: the game existed because of how we communicated — not just how we coded. Structured stand-ups, documented decisions, and fast escalation of issues made the difference between a broken prototype and a working product.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 and run a live demo of the game. We are also happy to walk through any part of the team process in more detail.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1005840"/>
            <a:ext cx="8229600" cy="1463040"/>
          </a:xfrm>
          <a:prstGeom prst="rect">
            <a:avLst/>
          </a:prstGeom>
          <a:noFill/>
          <a:ln/>
        </p:spPr>
        <p:txBody>
          <a:bodyPr wrap="square" rtlCol="0" anchor="ctr"/>
          <a:lstStyle/>
          <a:p>
            <a:pPr marL="0" indent="0">
              <a:buNone/>
            </a:pPr>
            <a:r>
              <a:rPr lang="en-US" sz="10000" b="1" dirty="0">
                <a:solidFill>
                  <a:srgbClr val="FFFFFF"/>
                </a:solidFill>
                <a:latin typeface="Arial Black" pitchFamily="34" charset="0"/>
                <a:ea typeface="Arial Black" pitchFamily="34" charset="-122"/>
                <a:cs typeface="Arial Black" pitchFamily="34" charset="-120"/>
              </a:rPr>
              <a:t>Ninja</a:t>
            </a:r>
            <a:endParaRPr lang="en-US" sz="10000" dirty="0"/>
          </a:p>
        </p:txBody>
      </p:sp>
      <p:sp>
        <p:nvSpPr>
          <p:cNvPr id="4" name="Text 2"/>
          <p:cNvSpPr/>
          <p:nvPr/>
        </p:nvSpPr>
        <p:spPr>
          <a:xfrm>
            <a:off x="457200" y="2331720"/>
            <a:ext cx="8229600" cy="1463040"/>
          </a:xfrm>
          <a:prstGeom prst="rect">
            <a:avLst/>
          </a:prstGeom>
          <a:noFill/>
          <a:ln/>
        </p:spPr>
        <p:txBody>
          <a:bodyPr wrap="square" rtlCol="0" anchor="ctr"/>
          <a:lstStyle/>
          <a:p>
            <a:pPr marL="0" indent="0">
              <a:buNone/>
            </a:pPr>
            <a:r>
              <a:rPr lang="en-US" sz="10000" b="1" dirty="0">
                <a:solidFill>
                  <a:srgbClr val="FFCD00"/>
                </a:solidFill>
                <a:latin typeface="Arial Black" pitchFamily="34" charset="0"/>
                <a:ea typeface="Arial Black" pitchFamily="34" charset="-122"/>
                <a:cs typeface="Arial Black" pitchFamily="34" charset="-120"/>
              </a:rPr>
              <a:t>Quiz.</a:t>
            </a:r>
            <a:endParaRPr lang="en-US" sz="10000" dirty="0"/>
          </a:p>
        </p:txBody>
      </p:sp>
      <p:sp>
        <p:nvSpPr>
          <p:cNvPr id="5" name="Text 3"/>
          <p:cNvSpPr/>
          <p:nvPr/>
        </p:nvSpPr>
        <p:spPr>
          <a:xfrm>
            <a:off x="457200" y="3977640"/>
            <a:ext cx="5486400" cy="320040"/>
          </a:xfrm>
          <a:prstGeom prst="rect">
            <a:avLst/>
          </a:prstGeom>
          <a:noFill/>
          <a:ln/>
        </p:spPr>
        <p:txBody>
          <a:bodyPr wrap="square" rtlCol="0" anchor="ctr"/>
          <a:lstStyle/>
          <a:p>
            <a:pPr marL="0" indent="0">
              <a:buNone/>
            </a:pPr>
            <a:r>
              <a:rPr lang="en-US" sz="1400" i="1" dirty="0">
                <a:solidFill>
                  <a:srgbClr val="555555"/>
                </a:solidFill>
                <a:latin typeface="Arial" pitchFamily="34" charset="0"/>
                <a:ea typeface="Arial" pitchFamily="34" charset="-122"/>
                <a:cs typeface="Arial" pitchFamily="34" charset="-120"/>
              </a:rPr>
              <a:t>Cyber-safety for young learners</a:t>
            </a:r>
            <a:endParaRPr lang="en-US" sz="1400" dirty="0"/>
          </a:p>
        </p:txBody>
      </p:sp>
      <p:sp>
        <p:nvSpPr>
          <p:cNvPr id="6" name="Text 4"/>
          <p:cNvSpPr/>
          <p:nvPr/>
        </p:nvSpPr>
        <p:spPr>
          <a:xfrm>
            <a:off x="457200" y="4800600"/>
            <a:ext cx="8229600" cy="228600"/>
          </a:xfrm>
          <a:prstGeom prst="rect">
            <a:avLst/>
          </a:prstGeom>
          <a:noFill/>
          <a:ln/>
        </p:spPr>
        <p:txBody>
          <a:bodyPr wrap="square" rtlCol="0" anchor="ctr"/>
          <a:lstStyle/>
          <a:p>
            <a:pPr marL="0" indent="0">
              <a:buNone/>
            </a:pPr>
            <a:r>
              <a:rPr lang="en-US" sz="1000" dirty="0">
                <a:solidFill>
                  <a:srgbClr val="555555"/>
                </a:solidFill>
                <a:latin typeface="Arial" pitchFamily="34" charset="0"/>
                <a:ea typeface="Arial" pitchFamily="34" charset="-122"/>
                <a:cs typeface="Arial" pitchFamily="34" charset="-120"/>
              </a:rPr>
              <a:t>503IT  ·  Team The Originals  ·  Coventry University London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BRIEF</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02 / 18</a:t>
            </a:r>
            <a:endParaRPr lang="en-US" sz="900" dirty="0"/>
          </a:p>
        </p:txBody>
      </p:sp>
      <p:sp>
        <p:nvSpPr>
          <p:cNvPr id="5" name="Text 3"/>
          <p:cNvSpPr/>
          <p:nvPr/>
        </p:nvSpPr>
        <p:spPr>
          <a:xfrm>
            <a:off x="457200" y="822960"/>
            <a:ext cx="8229600" cy="2438400"/>
          </a:xfrm>
          <a:prstGeom prst="rect">
            <a:avLst/>
          </a:prstGeom>
          <a:noFill/>
          <a:ln/>
        </p:spPr>
        <p:txBody>
          <a:bodyPr wrap="square" rtlCol="0" anchor="ctr"/>
          <a:lstStyle/>
          <a:p>
            <a:pPr marL="0" indent="0">
              <a:buNone/>
            </a:pPr>
            <a:r>
              <a:rPr lang="en-US" sz="9600" b="1" dirty="0">
                <a:solidFill>
                  <a:srgbClr val="FFCD00"/>
                </a:solidFill>
                <a:latin typeface="Arial Black" pitchFamily="34" charset="0"/>
                <a:ea typeface="Arial Black" pitchFamily="34" charset="-122"/>
                <a:cs typeface="Arial Black" pitchFamily="34" charset="-120"/>
              </a:rPr>
              <a:t>1 in 3</a:t>
            </a:r>
            <a:endParaRPr lang="en-US" sz="9600" dirty="0"/>
          </a:p>
        </p:txBody>
      </p:sp>
      <p:sp>
        <p:nvSpPr>
          <p:cNvPr id="6" name="Text 4"/>
          <p:cNvSpPr/>
          <p:nvPr/>
        </p:nvSpPr>
        <p:spPr>
          <a:xfrm>
            <a:off x="457200" y="24688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children have already faced an online risk.</a:t>
            </a:r>
            <a:endParaRPr lang="en-US" sz="1400" dirty="0"/>
          </a:p>
        </p:txBody>
      </p:sp>
      <p:sp>
        <p:nvSpPr>
          <p:cNvPr id="7" name="Text 5"/>
          <p:cNvSpPr/>
          <p:nvPr/>
        </p:nvSpPr>
        <p:spPr>
          <a:xfrm>
            <a:off x="457200" y="292608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The brief: build a game that actually teaches them to stay safe.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team.</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Who we are. What we each owned.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THE TEAM</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04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Five people. One piece each.</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Mukesh</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Coordinator — planning, integration, client liaison</a:t>
            </a:r>
            <a:endParaRPr lang="en-US" sz="1200" dirty="0"/>
          </a:p>
        </p:txBody>
      </p:sp>
      <p:sp>
        <p:nvSpPr>
          <p:cNvPr id="10" name="Text 8"/>
          <p:cNvSpPr/>
          <p:nvPr/>
        </p:nvSpPr>
        <p:spPr>
          <a:xfrm>
            <a:off x="457200" y="227685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5856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Suman</a:t>
            </a:r>
            <a:endParaRPr lang="en-US" sz="1700" dirty="0"/>
          </a:p>
        </p:txBody>
      </p:sp>
      <p:sp>
        <p:nvSpPr>
          <p:cNvPr id="12" name="Text 10"/>
          <p:cNvSpPr/>
          <p:nvPr/>
        </p:nvSpPr>
        <p:spPr>
          <a:xfrm>
            <a:off x="1371600" y="256032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Login and registration system</a:t>
            </a:r>
            <a:endParaRPr lang="en-US" sz="1200" dirty="0"/>
          </a:p>
        </p:txBody>
      </p:sp>
      <p:sp>
        <p:nvSpPr>
          <p:cNvPr id="13" name="Text 11"/>
          <p:cNvSpPr/>
          <p:nvPr/>
        </p:nvSpPr>
        <p:spPr>
          <a:xfrm>
            <a:off x="457200" y="294436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92608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Kishor</a:t>
            </a:r>
            <a:endParaRPr lang="en-US" sz="1700" dirty="0"/>
          </a:p>
        </p:txBody>
      </p:sp>
      <p:sp>
        <p:nvSpPr>
          <p:cNvPr id="15" name="Text 13"/>
          <p:cNvSpPr/>
          <p:nvPr/>
        </p:nvSpPr>
        <p:spPr>
          <a:xfrm>
            <a:off x="1371600" y="322783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Question system and countdown timer</a:t>
            </a:r>
            <a:endParaRPr lang="en-US" sz="1200" dirty="0"/>
          </a:p>
        </p:txBody>
      </p:sp>
      <p:sp>
        <p:nvSpPr>
          <p:cNvPr id="16" name="Text 14"/>
          <p:cNvSpPr/>
          <p:nvPr/>
        </p:nvSpPr>
        <p:spPr>
          <a:xfrm>
            <a:off x="457200" y="361188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59359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Bishal</a:t>
            </a:r>
            <a:endParaRPr lang="en-US" sz="1700" dirty="0"/>
          </a:p>
        </p:txBody>
      </p:sp>
      <p:sp>
        <p:nvSpPr>
          <p:cNvPr id="18" name="Text 16"/>
          <p:cNvSpPr/>
          <p:nvPr/>
        </p:nvSpPr>
        <p:spPr>
          <a:xfrm>
            <a:off x="1371600" y="389534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Slicing mechanics and visual effects</a:t>
            </a:r>
            <a:endParaRPr lang="en-US" sz="1200" dirty="0"/>
          </a:p>
        </p:txBody>
      </p:sp>
      <p:sp>
        <p:nvSpPr>
          <p:cNvPr id="19" name="Text 17"/>
          <p:cNvSpPr/>
          <p:nvPr/>
        </p:nvSpPr>
        <p:spPr>
          <a:xfrm>
            <a:off x="457200" y="427939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26110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Aakash</a:t>
            </a:r>
            <a:endParaRPr lang="en-US" sz="1700" dirty="0"/>
          </a:p>
        </p:txBody>
      </p:sp>
      <p:sp>
        <p:nvSpPr>
          <p:cNvPr id="21" name="Text 19"/>
          <p:cNvSpPr/>
          <p:nvPr/>
        </p:nvSpPr>
        <p:spPr>
          <a:xfrm>
            <a:off x="1371600" y="456285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Scoring system and results screen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05 / 18</a:t>
            </a:r>
            <a:endParaRPr lang="en-US" sz="900" dirty="0"/>
          </a:p>
        </p:txBody>
      </p:sp>
      <p:sp>
        <p:nvSpPr>
          <p:cNvPr id="5" name="Text 3"/>
          <p:cNvSpPr/>
          <p:nvPr/>
        </p:nvSpPr>
        <p:spPr>
          <a:xfrm>
            <a:off x="457200" y="1371600"/>
            <a:ext cx="8229600" cy="1422400"/>
          </a:xfrm>
          <a:prstGeom prst="rect">
            <a:avLst/>
          </a:prstGeom>
          <a:noFill/>
          <a:ln/>
        </p:spPr>
        <p:txBody>
          <a:bodyPr wrap="square" rtlCol="0" anchor="ctr"/>
          <a:lstStyle/>
          <a:p>
            <a:pPr marL="0" indent="0">
              <a:buNone/>
            </a:pPr>
            <a:r>
              <a:rPr lang="en-US" sz="5600" b="1" dirty="0">
                <a:solidFill>
                  <a:srgbClr val="FFFFFF"/>
                </a:solidFill>
                <a:latin typeface="Arial Black" pitchFamily="34" charset="0"/>
                <a:ea typeface="Arial Black" pitchFamily="34" charset="-122"/>
                <a:cs typeface="Arial Black" pitchFamily="34" charset="-120"/>
              </a:rPr>
              <a:t>How we worked.</a:t>
            </a:r>
            <a:endParaRPr lang="en-US" sz="5600" dirty="0"/>
          </a:p>
        </p:txBody>
      </p:sp>
      <p:sp>
        <p:nvSpPr>
          <p:cNvPr id="6" name="Text 4"/>
          <p:cNvSpPr/>
          <p:nvPr/>
        </p:nvSpPr>
        <p:spPr>
          <a:xfrm>
            <a:off x="457200" y="310896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Three tools. </a:t>
            </a:r>
            <a:r>
              <a:rPr lang="en-US" sz="1400">
                <a:solidFill>
                  <a:srgbClr val="555555"/>
                </a:solidFill>
                <a:latin typeface="Arial" pitchFamily="34" charset="0"/>
                <a:ea typeface="Arial" pitchFamily="34" charset="-122"/>
                <a:cs typeface="Arial" pitchFamily="34" charset="-120"/>
              </a:rPr>
              <a:t>4 weeks</a:t>
            </a:r>
            <a:r>
              <a:rPr lang="en-US" sz="1400" dirty="0">
                <a:solidFill>
                  <a:srgbClr val="555555"/>
                </a:solidFill>
                <a:latin typeface="Arial" pitchFamily="34" charset="0"/>
                <a:ea typeface="Arial" pitchFamily="34" charset="-122"/>
                <a:cs typeface="Arial" pitchFamily="34" charset="-120"/>
              </a:rPr>
              <a:t>. Every decision documented.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COLLABORATION TOOLS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06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Three tools kept us aligned.</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Trello</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Every task visible, assigned and prioritised — nothing fell through the gaps</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GitHub</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Branches per feature — no one overwrote anyone else's work</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WhatsApp</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Daily contact — issues raised same day, not a week later</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Every tool had one purpose. No tool was used for everything.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HOW WE MET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07 / 18</a:t>
            </a:r>
            <a:endParaRPr lang="en-US" sz="900" dirty="0"/>
          </a:p>
        </p:txBody>
      </p:sp>
      <p:sp>
        <p:nvSpPr>
          <p:cNvPr id="5" name="Text 3"/>
          <p:cNvSpPr/>
          <p:nvPr/>
        </p:nvSpPr>
        <p:spPr>
          <a:xfrm>
            <a:off x="457200" y="777240"/>
            <a:ext cx="8229600" cy="1117600"/>
          </a:xfrm>
          <a:prstGeom prst="rect">
            <a:avLst/>
          </a:prstGeom>
          <a:noFill/>
          <a:ln/>
        </p:spPr>
        <p:txBody>
          <a:bodyPr wrap="square" rtlCol="0" anchor="ctr"/>
          <a:lstStyle/>
          <a:p>
            <a:pPr marL="0" indent="0">
              <a:buNone/>
            </a:pPr>
            <a:r>
              <a:rPr lang="en-US" sz="4400" b="1" dirty="0">
                <a:solidFill>
                  <a:srgbClr val="FFFFFF"/>
                </a:solidFill>
                <a:latin typeface="Arial Black" pitchFamily="34" charset="0"/>
                <a:ea typeface="Arial Black" pitchFamily="34" charset="-122"/>
                <a:cs typeface="Arial Black" pitchFamily="34" charset="-120"/>
              </a:rPr>
              <a:t>Same three questions.</a:t>
            </a:r>
            <a:endParaRPr lang="en-US" sz="4400" dirty="0"/>
          </a:p>
          <a:p>
            <a:pPr marL="0" indent="0">
              <a:buNone/>
            </a:pPr>
            <a:r>
              <a:rPr lang="en-US" sz="4400" b="1" dirty="0">
                <a:solidFill>
                  <a:srgbClr val="FFFFFF"/>
                </a:solidFill>
                <a:latin typeface="Arial Black" pitchFamily="34" charset="0"/>
                <a:ea typeface="Arial Black" pitchFamily="34" charset="-122"/>
                <a:cs typeface="Arial Black" pitchFamily="34" charset="-120"/>
              </a:rPr>
              <a:t>Every week.</a:t>
            </a:r>
            <a:endParaRPr lang="en-US" sz="4400" dirty="0"/>
          </a:p>
        </p:txBody>
      </p:sp>
      <p:sp>
        <p:nvSpPr>
          <p:cNvPr id="6" name="Shape 4"/>
          <p:cNvSpPr/>
          <p:nvPr/>
        </p:nvSpPr>
        <p:spPr>
          <a:xfrm>
            <a:off x="457200" y="2423160"/>
            <a:ext cx="8229600" cy="10973"/>
          </a:xfrm>
          <a:prstGeom prst="rect">
            <a:avLst/>
          </a:prstGeom>
          <a:solidFill>
            <a:srgbClr val="222222"/>
          </a:solidFill>
          <a:ln/>
        </p:spPr>
        <p:txBody>
          <a:bodyPr/>
          <a:lstStyle/>
          <a:p>
            <a:endParaRPr lang="en-GB"/>
          </a:p>
        </p:txBody>
      </p:sp>
      <p:sp>
        <p:nvSpPr>
          <p:cNvPr id="7" name="Text 5"/>
          <p:cNvSpPr/>
          <p:nvPr/>
        </p:nvSpPr>
        <p:spPr>
          <a:xfrm>
            <a:off x="457200" y="2560320"/>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01</a:t>
            </a:r>
            <a:endParaRPr lang="en-US" sz="2400" dirty="0"/>
          </a:p>
        </p:txBody>
      </p:sp>
      <p:sp>
        <p:nvSpPr>
          <p:cNvPr id="8" name="Text 6"/>
          <p:cNvSpPr/>
          <p:nvPr/>
        </p:nvSpPr>
        <p:spPr>
          <a:xfrm>
            <a:off x="1143000" y="2606040"/>
            <a:ext cx="68580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did I finish?</a:t>
            </a:r>
            <a:endParaRPr lang="en-US" sz="2000" dirty="0"/>
          </a:p>
        </p:txBody>
      </p:sp>
      <p:sp>
        <p:nvSpPr>
          <p:cNvPr id="9" name="Text 7"/>
          <p:cNvSpPr/>
          <p:nvPr/>
        </p:nvSpPr>
        <p:spPr>
          <a:xfrm>
            <a:off x="457200" y="3218688"/>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02</a:t>
            </a:r>
            <a:endParaRPr lang="en-US" sz="2400" dirty="0"/>
          </a:p>
        </p:txBody>
      </p:sp>
      <p:sp>
        <p:nvSpPr>
          <p:cNvPr id="10" name="Text 8"/>
          <p:cNvSpPr/>
          <p:nvPr/>
        </p:nvSpPr>
        <p:spPr>
          <a:xfrm>
            <a:off x="1143000" y="3264408"/>
            <a:ext cx="68580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am I doing next?</a:t>
            </a:r>
            <a:endParaRPr lang="en-US" sz="2000" dirty="0"/>
          </a:p>
        </p:txBody>
      </p:sp>
      <p:sp>
        <p:nvSpPr>
          <p:cNvPr id="11" name="Text 9"/>
          <p:cNvSpPr/>
          <p:nvPr/>
        </p:nvSpPr>
        <p:spPr>
          <a:xfrm>
            <a:off x="457200" y="3877056"/>
            <a:ext cx="640080" cy="502920"/>
          </a:xfrm>
          <a:prstGeom prst="rect">
            <a:avLst/>
          </a:prstGeom>
          <a:noFill/>
          <a:ln/>
        </p:spPr>
        <p:txBody>
          <a:bodyPr wrap="square" rtlCol="0" anchor="ctr"/>
          <a:lstStyle/>
          <a:p>
            <a:pPr marL="0" indent="0">
              <a:buNone/>
            </a:pPr>
            <a:r>
              <a:rPr lang="en-US" sz="2400" b="1" dirty="0">
                <a:solidFill>
                  <a:srgbClr val="FFCD00"/>
                </a:solidFill>
                <a:latin typeface="Arial Black" pitchFamily="34" charset="0"/>
                <a:ea typeface="Arial Black" pitchFamily="34" charset="-122"/>
                <a:cs typeface="Arial Black" pitchFamily="34" charset="-120"/>
              </a:rPr>
              <a:t>03</a:t>
            </a:r>
            <a:endParaRPr lang="en-US" sz="2400" dirty="0"/>
          </a:p>
        </p:txBody>
      </p:sp>
      <p:sp>
        <p:nvSpPr>
          <p:cNvPr id="12" name="Text 10"/>
          <p:cNvSpPr/>
          <p:nvPr/>
        </p:nvSpPr>
        <p:spPr>
          <a:xfrm>
            <a:off x="1143000" y="3922776"/>
            <a:ext cx="6858000" cy="411480"/>
          </a:xfrm>
          <a:prstGeom prst="rect">
            <a:avLst/>
          </a:prstGeom>
          <a:noFill/>
          <a:ln/>
        </p:spPr>
        <p:txBody>
          <a:bodyPr wrap="square" rtlCol="0" anchor="ctr"/>
          <a:lstStyle/>
          <a:p>
            <a:pPr marL="0" indent="0">
              <a:buNone/>
            </a:pPr>
            <a:r>
              <a:rPr lang="en-US" sz="2000" b="1" dirty="0">
                <a:solidFill>
                  <a:srgbClr val="FFFFFF"/>
                </a:solidFill>
                <a:latin typeface="Arial Black" pitchFamily="34" charset="0"/>
                <a:ea typeface="Arial Black" pitchFamily="34" charset="-122"/>
                <a:cs typeface="Arial Black" pitchFamily="34" charset="-120"/>
              </a:rPr>
              <a:t>What is blocking me?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KEY DECISIONS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08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How decisions got made.</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600200"/>
            <a:ext cx="3840480" cy="2926080"/>
          </a:xfrm>
          <a:prstGeom prst="rect">
            <a:avLst/>
          </a:prstGeom>
          <a:solidFill>
            <a:srgbClr val="F5F5F5"/>
          </a:solidFill>
          <a:ln/>
        </p:spPr>
        <p:txBody>
          <a:bodyPr/>
          <a:lstStyle/>
          <a:p>
            <a:endParaRPr lang="en-GB"/>
          </a:p>
        </p:txBody>
      </p:sp>
      <p:sp>
        <p:nvSpPr>
          <p:cNvPr id="8" name="Text 6"/>
          <p:cNvSpPr/>
          <p:nvPr/>
        </p:nvSpPr>
        <p:spPr>
          <a:xfrm>
            <a:off x="594360" y="1737360"/>
            <a:ext cx="3566160" cy="274320"/>
          </a:xfrm>
          <a:prstGeom prst="rect">
            <a:avLst/>
          </a:prstGeom>
          <a:noFill/>
          <a:ln/>
        </p:spPr>
        <p:txBody>
          <a:bodyPr wrap="square" rtlCol="0" anchor="ctr"/>
          <a:lstStyle/>
          <a:p>
            <a:pPr marL="0" indent="0">
              <a:buNone/>
            </a:pPr>
            <a:r>
              <a:rPr lang="en-US" sz="1000" b="1" kern="0" spc="100" dirty="0">
                <a:solidFill>
                  <a:srgbClr val="888888"/>
                </a:solidFill>
                <a:latin typeface="Arial" pitchFamily="34" charset="0"/>
                <a:ea typeface="Arial" pitchFamily="34" charset="-122"/>
                <a:cs typeface="Arial" pitchFamily="34" charset="-120"/>
              </a:rPr>
              <a:t>WITHOUT STRUCTURE</a:t>
            </a:r>
            <a:endParaRPr lang="en-US" sz="1000" dirty="0"/>
          </a:p>
        </p:txBody>
      </p:sp>
      <p:sp>
        <p:nvSpPr>
          <p:cNvPr id="9" name="Shape 7"/>
          <p:cNvSpPr/>
          <p:nvPr/>
        </p:nvSpPr>
        <p:spPr>
          <a:xfrm>
            <a:off x="594360" y="2148840"/>
            <a:ext cx="54864" cy="182880"/>
          </a:xfrm>
          <a:prstGeom prst="rect">
            <a:avLst/>
          </a:prstGeom>
          <a:solidFill>
            <a:srgbClr val="DDDDDD"/>
          </a:solidFill>
          <a:ln/>
        </p:spPr>
        <p:txBody>
          <a:bodyPr/>
          <a:lstStyle/>
          <a:p>
            <a:endParaRPr lang="en-GB"/>
          </a:p>
        </p:txBody>
      </p:sp>
      <p:sp>
        <p:nvSpPr>
          <p:cNvPr id="10" name="Text 8"/>
          <p:cNvSpPr/>
          <p:nvPr/>
        </p:nvSpPr>
        <p:spPr>
          <a:xfrm>
            <a:off x="731520" y="2103120"/>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Whoever spoke first won</a:t>
            </a:r>
            <a:endParaRPr lang="en-US" sz="1400" dirty="0"/>
          </a:p>
        </p:txBody>
      </p:sp>
      <p:sp>
        <p:nvSpPr>
          <p:cNvPr id="11" name="Shape 9"/>
          <p:cNvSpPr/>
          <p:nvPr/>
        </p:nvSpPr>
        <p:spPr>
          <a:xfrm>
            <a:off x="594360" y="2770632"/>
            <a:ext cx="54864" cy="182880"/>
          </a:xfrm>
          <a:prstGeom prst="rect">
            <a:avLst/>
          </a:prstGeom>
          <a:solidFill>
            <a:srgbClr val="DDDDDD"/>
          </a:solidFill>
          <a:ln/>
        </p:spPr>
        <p:txBody>
          <a:bodyPr/>
          <a:lstStyle/>
          <a:p>
            <a:endParaRPr lang="en-GB"/>
          </a:p>
        </p:txBody>
      </p:sp>
      <p:sp>
        <p:nvSpPr>
          <p:cNvPr id="12" name="Text 10"/>
          <p:cNvSpPr/>
          <p:nvPr/>
        </p:nvSpPr>
        <p:spPr>
          <a:xfrm>
            <a:off x="731520" y="2724912"/>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No record of why</a:t>
            </a:r>
            <a:endParaRPr lang="en-US" sz="1400" dirty="0"/>
          </a:p>
        </p:txBody>
      </p:sp>
      <p:sp>
        <p:nvSpPr>
          <p:cNvPr id="13" name="Shape 11"/>
          <p:cNvSpPr/>
          <p:nvPr/>
        </p:nvSpPr>
        <p:spPr>
          <a:xfrm>
            <a:off x="594360" y="3392424"/>
            <a:ext cx="54864" cy="182880"/>
          </a:xfrm>
          <a:prstGeom prst="rect">
            <a:avLst/>
          </a:prstGeom>
          <a:solidFill>
            <a:srgbClr val="DDDDDD"/>
          </a:solidFill>
          <a:ln/>
        </p:spPr>
        <p:txBody>
          <a:bodyPr/>
          <a:lstStyle/>
          <a:p>
            <a:endParaRPr lang="en-GB"/>
          </a:p>
        </p:txBody>
      </p:sp>
      <p:sp>
        <p:nvSpPr>
          <p:cNvPr id="14" name="Text 12"/>
          <p:cNvSpPr/>
          <p:nvPr/>
        </p:nvSpPr>
        <p:spPr>
          <a:xfrm>
            <a:off x="731520" y="3346704"/>
            <a:ext cx="3383280" cy="320040"/>
          </a:xfrm>
          <a:prstGeom prst="rect">
            <a:avLst/>
          </a:prstGeom>
          <a:noFill/>
          <a:ln/>
        </p:spPr>
        <p:txBody>
          <a:bodyPr wrap="square" rtlCol="0" anchor="ctr"/>
          <a:lstStyle/>
          <a:p>
            <a:pPr marL="0" indent="0">
              <a:buNone/>
            </a:pPr>
            <a:r>
              <a:rPr lang="en-US" sz="1400" dirty="0">
                <a:solidFill>
                  <a:srgbClr val="888888"/>
                </a:solidFill>
                <a:latin typeface="Arial" pitchFamily="34" charset="0"/>
                <a:ea typeface="Arial" pitchFamily="34" charset="-122"/>
                <a:cs typeface="Arial" pitchFamily="34" charset="-120"/>
              </a:rPr>
              <a:t>Decisions changed mid-sprint</a:t>
            </a:r>
            <a:endParaRPr lang="en-US" sz="1400" dirty="0"/>
          </a:p>
        </p:txBody>
      </p:sp>
      <p:sp>
        <p:nvSpPr>
          <p:cNvPr id="15" name="Shape 13"/>
          <p:cNvSpPr/>
          <p:nvPr/>
        </p:nvSpPr>
        <p:spPr>
          <a:xfrm>
            <a:off x="4846320" y="1600200"/>
            <a:ext cx="3840480" cy="2926080"/>
          </a:xfrm>
          <a:prstGeom prst="rect">
            <a:avLst/>
          </a:prstGeom>
          <a:solidFill>
            <a:srgbClr val="111111"/>
          </a:solidFill>
          <a:ln/>
        </p:spPr>
        <p:txBody>
          <a:bodyPr/>
          <a:lstStyle/>
          <a:p>
            <a:endParaRPr lang="en-GB"/>
          </a:p>
        </p:txBody>
      </p:sp>
      <p:sp>
        <p:nvSpPr>
          <p:cNvPr id="16" name="Shape 14"/>
          <p:cNvSpPr/>
          <p:nvPr/>
        </p:nvSpPr>
        <p:spPr>
          <a:xfrm>
            <a:off x="4846320" y="1600200"/>
            <a:ext cx="54864" cy="2926080"/>
          </a:xfrm>
          <a:prstGeom prst="rect">
            <a:avLst/>
          </a:prstGeom>
          <a:solidFill>
            <a:srgbClr val="FFCD00"/>
          </a:solidFill>
          <a:ln/>
        </p:spPr>
        <p:txBody>
          <a:bodyPr/>
          <a:lstStyle/>
          <a:p>
            <a:endParaRPr lang="en-GB"/>
          </a:p>
        </p:txBody>
      </p:sp>
      <p:sp>
        <p:nvSpPr>
          <p:cNvPr id="17" name="Text 15"/>
          <p:cNvSpPr/>
          <p:nvPr/>
        </p:nvSpPr>
        <p:spPr>
          <a:xfrm>
            <a:off x="5029200" y="1737360"/>
            <a:ext cx="356616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WITH STRUCTURE</a:t>
            </a:r>
            <a:endParaRPr lang="en-US" sz="1000" dirty="0"/>
          </a:p>
        </p:txBody>
      </p:sp>
      <p:sp>
        <p:nvSpPr>
          <p:cNvPr id="18" name="Shape 16"/>
          <p:cNvSpPr/>
          <p:nvPr/>
        </p:nvSpPr>
        <p:spPr>
          <a:xfrm>
            <a:off x="5029200" y="2148840"/>
            <a:ext cx="54864" cy="182880"/>
          </a:xfrm>
          <a:prstGeom prst="rect">
            <a:avLst/>
          </a:prstGeom>
          <a:solidFill>
            <a:srgbClr val="FFCD00"/>
          </a:solidFill>
          <a:ln/>
        </p:spPr>
        <p:txBody>
          <a:bodyPr/>
          <a:lstStyle/>
          <a:p>
            <a:endParaRPr lang="en-GB"/>
          </a:p>
        </p:txBody>
      </p:sp>
      <p:sp>
        <p:nvSpPr>
          <p:cNvPr id="19" name="Text 17"/>
          <p:cNvSpPr/>
          <p:nvPr/>
        </p:nvSpPr>
        <p:spPr>
          <a:xfrm>
            <a:off x="5166360" y="2103120"/>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Meeting minutes documented</a:t>
            </a:r>
            <a:endParaRPr lang="en-US" sz="1400" dirty="0"/>
          </a:p>
        </p:txBody>
      </p:sp>
      <p:sp>
        <p:nvSpPr>
          <p:cNvPr id="20" name="Shape 18"/>
          <p:cNvSpPr/>
          <p:nvPr/>
        </p:nvSpPr>
        <p:spPr>
          <a:xfrm>
            <a:off x="5029200" y="2770632"/>
            <a:ext cx="54864" cy="182880"/>
          </a:xfrm>
          <a:prstGeom prst="rect">
            <a:avLst/>
          </a:prstGeom>
          <a:solidFill>
            <a:srgbClr val="FFCD00"/>
          </a:solidFill>
          <a:ln/>
        </p:spPr>
        <p:txBody>
          <a:bodyPr/>
          <a:lstStyle/>
          <a:p>
            <a:endParaRPr lang="en-GB"/>
          </a:p>
        </p:txBody>
      </p:sp>
      <p:sp>
        <p:nvSpPr>
          <p:cNvPr id="21" name="Text 19"/>
          <p:cNvSpPr/>
          <p:nvPr/>
        </p:nvSpPr>
        <p:spPr>
          <a:xfrm>
            <a:off x="5166360" y="2724912"/>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Trello card created for each decision</a:t>
            </a:r>
            <a:endParaRPr lang="en-US" sz="1400" dirty="0"/>
          </a:p>
        </p:txBody>
      </p:sp>
      <p:sp>
        <p:nvSpPr>
          <p:cNvPr id="22" name="Shape 20"/>
          <p:cNvSpPr/>
          <p:nvPr/>
        </p:nvSpPr>
        <p:spPr>
          <a:xfrm>
            <a:off x="5029200" y="3392424"/>
            <a:ext cx="54864" cy="182880"/>
          </a:xfrm>
          <a:prstGeom prst="rect">
            <a:avLst/>
          </a:prstGeom>
          <a:solidFill>
            <a:srgbClr val="FFCD00"/>
          </a:solidFill>
          <a:ln/>
        </p:spPr>
        <p:txBody>
          <a:bodyPr/>
          <a:lstStyle/>
          <a:p>
            <a:endParaRPr lang="en-GB"/>
          </a:p>
        </p:txBody>
      </p:sp>
      <p:sp>
        <p:nvSpPr>
          <p:cNvPr id="23" name="Text 21"/>
          <p:cNvSpPr/>
          <p:nvPr/>
        </p:nvSpPr>
        <p:spPr>
          <a:xfrm>
            <a:off x="5166360" y="3346704"/>
            <a:ext cx="3383280" cy="320040"/>
          </a:xfrm>
          <a:prstGeom prst="rect">
            <a:avLst/>
          </a:prstGeom>
          <a:noFill/>
          <a:ln/>
        </p:spPr>
        <p:txBody>
          <a:bodyPr wrap="square" rtlCol="0" anchor="ctr"/>
          <a:lstStyle/>
          <a:p>
            <a:pPr marL="0" indent="0">
              <a:buNone/>
            </a:pPr>
            <a:r>
              <a:rPr lang="en-US" sz="1400" dirty="0">
                <a:solidFill>
                  <a:srgbClr val="FFFFFF"/>
                </a:solidFill>
                <a:latin typeface="Arial" pitchFamily="34" charset="0"/>
                <a:ea typeface="Arial" pitchFamily="34" charset="-122"/>
                <a:cs typeface="Arial" pitchFamily="34" charset="-120"/>
              </a:rPr>
              <a:t>Everyone had a vote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DELIVERY PROCESS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09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Built in five sprints.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1  —  Login &amp; menu</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Foundation. Every member set up. GitHub branches created.</a:t>
            </a:r>
            <a:endParaRPr lang="en-US" sz="1200" dirty="0"/>
          </a:p>
        </p:txBody>
      </p:sp>
      <p:sp>
        <p:nvSpPr>
          <p:cNvPr id="10" name="Text 8"/>
          <p:cNvSpPr/>
          <p:nvPr/>
        </p:nvSpPr>
        <p:spPr>
          <a:xfrm>
            <a:off x="457200" y="2231136"/>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212848"/>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2  —  Game engine</a:t>
            </a:r>
            <a:endParaRPr lang="en-US" sz="1700" dirty="0"/>
          </a:p>
        </p:txBody>
      </p:sp>
      <p:sp>
        <p:nvSpPr>
          <p:cNvPr id="12" name="Text 10"/>
          <p:cNvSpPr/>
          <p:nvPr/>
        </p:nvSpPr>
        <p:spPr>
          <a:xfrm>
            <a:off x="1371600" y="2514600"/>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Core mechanics built. Daily check-ins via WhatsApp.</a:t>
            </a:r>
            <a:endParaRPr lang="en-US" sz="1200" dirty="0"/>
          </a:p>
        </p:txBody>
      </p:sp>
      <p:sp>
        <p:nvSpPr>
          <p:cNvPr id="13" name="Text 11"/>
          <p:cNvSpPr/>
          <p:nvPr/>
        </p:nvSpPr>
        <p:spPr>
          <a:xfrm>
            <a:off x="457200" y="2852928"/>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2834640"/>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3  —  Slicing &amp; sound</a:t>
            </a:r>
            <a:endParaRPr lang="en-US" sz="1700" dirty="0"/>
          </a:p>
        </p:txBody>
      </p:sp>
      <p:sp>
        <p:nvSpPr>
          <p:cNvPr id="15" name="Text 13"/>
          <p:cNvSpPr/>
          <p:nvPr/>
        </p:nvSpPr>
        <p:spPr>
          <a:xfrm>
            <a:off x="1371600" y="3136392"/>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Visual integration. First merge conflicts resolved.</a:t>
            </a:r>
            <a:endParaRPr lang="en-US" sz="1200" dirty="0"/>
          </a:p>
        </p:txBody>
      </p:sp>
      <p:sp>
        <p:nvSpPr>
          <p:cNvPr id="16" name="Text 14"/>
          <p:cNvSpPr/>
          <p:nvPr/>
        </p:nvSpPr>
        <p:spPr>
          <a:xfrm>
            <a:off x="457200" y="3474720"/>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04</a:t>
            </a:r>
            <a:endParaRPr lang="en-US" sz="2000" dirty="0"/>
          </a:p>
        </p:txBody>
      </p:sp>
      <p:sp>
        <p:nvSpPr>
          <p:cNvPr id="17" name="Text 15"/>
          <p:cNvSpPr/>
          <p:nvPr/>
        </p:nvSpPr>
        <p:spPr>
          <a:xfrm>
            <a:off x="1371600" y="3456432"/>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4  —  Leaderboard</a:t>
            </a:r>
            <a:endParaRPr lang="en-US" sz="1700" dirty="0"/>
          </a:p>
        </p:txBody>
      </p:sp>
      <p:sp>
        <p:nvSpPr>
          <p:cNvPr id="18" name="Text 16"/>
          <p:cNvSpPr/>
          <p:nvPr/>
        </p:nvSpPr>
        <p:spPr>
          <a:xfrm>
            <a:off x="1371600" y="3758184"/>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Peer testing begins. Feedback collected and logged.</a:t>
            </a:r>
            <a:endParaRPr lang="en-US" sz="1200" dirty="0"/>
          </a:p>
        </p:txBody>
      </p:sp>
      <p:sp>
        <p:nvSpPr>
          <p:cNvPr id="19" name="Text 17"/>
          <p:cNvSpPr/>
          <p:nvPr/>
        </p:nvSpPr>
        <p:spPr>
          <a:xfrm>
            <a:off x="457200" y="4096512"/>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05</a:t>
            </a:r>
            <a:endParaRPr lang="en-US" sz="2000" dirty="0"/>
          </a:p>
        </p:txBody>
      </p:sp>
      <p:sp>
        <p:nvSpPr>
          <p:cNvPr id="20" name="Text 18"/>
          <p:cNvSpPr/>
          <p:nvPr/>
        </p:nvSpPr>
        <p:spPr>
          <a:xfrm>
            <a:off x="1371600" y="4078224"/>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Sprint 5  —  Testing &amp; polish</a:t>
            </a:r>
            <a:endParaRPr lang="en-US" sz="1700" dirty="0"/>
          </a:p>
        </p:txBody>
      </p:sp>
      <p:sp>
        <p:nvSpPr>
          <p:cNvPr id="21" name="Text 19"/>
          <p:cNvSpPr/>
          <p:nvPr/>
        </p:nvSpPr>
        <p:spPr>
          <a:xfrm>
            <a:off x="1371600" y="4379976"/>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Bug hunt, final fixes, review before submission.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10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Then it broke.</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How the team responded under pressure.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PROBLEM &amp; SOLUTION</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11 / 18</a:t>
            </a:r>
            <a:endParaRPr lang="en-US" sz="900" dirty="0"/>
          </a:p>
        </p:txBody>
      </p:sp>
      <p:sp>
        <p:nvSpPr>
          <p:cNvPr id="5" name="Text 3"/>
          <p:cNvSpPr/>
          <p:nvPr/>
        </p:nvSpPr>
        <p:spPr>
          <a:xfrm>
            <a:off x="457200" y="594360"/>
            <a:ext cx="8229600" cy="762000"/>
          </a:xfrm>
          <a:prstGeom prst="rect">
            <a:avLst/>
          </a:prstGeom>
          <a:noFill/>
          <a:ln/>
        </p:spPr>
        <p:txBody>
          <a:bodyPr wrap="square" rtlCol="0" anchor="ctr"/>
          <a:lstStyle/>
          <a:p>
            <a:pPr marL="0" indent="0">
              <a:buNone/>
            </a:pPr>
            <a:r>
              <a:rPr lang="en-US" sz="3000" b="1" dirty="0">
                <a:solidFill>
                  <a:srgbClr val="FFFFFF"/>
                </a:solidFill>
                <a:latin typeface="Arial Black" pitchFamily="34" charset="0"/>
                <a:ea typeface="Arial Black" pitchFamily="34" charset="-122"/>
                <a:cs typeface="Arial Black" pitchFamily="34" charset="-120"/>
              </a:rPr>
              <a:t>The game stopped working.</a:t>
            </a:r>
            <a:endParaRPr lang="en-US" sz="3000" dirty="0"/>
          </a:p>
        </p:txBody>
      </p:sp>
      <p:sp>
        <p:nvSpPr>
          <p:cNvPr id="6" name="Shape 4"/>
          <p:cNvSpPr/>
          <p:nvPr/>
        </p:nvSpPr>
        <p:spPr>
          <a:xfrm>
            <a:off x="457200" y="1463040"/>
            <a:ext cx="3840480" cy="3108960"/>
          </a:xfrm>
          <a:prstGeom prst="rect">
            <a:avLst/>
          </a:prstGeom>
          <a:solidFill>
            <a:srgbClr val="1A1A1A"/>
          </a:solidFill>
          <a:ln/>
        </p:spPr>
        <p:txBody>
          <a:bodyPr/>
          <a:lstStyle/>
          <a:p>
            <a:endParaRPr lang="en-GB"/>
          </a:p>
        </p:txBody>
      </p:sp>
      <p:sp>
        <p:nvSpPr>
          <p:cNvPr id="7" name="Shape 5"/>
          <p:cNvSpPr/>
          <p:nvPr/>
        </p:nvSpPr>
        <p:spPr>
          <a:xfrm>
            <a:off x="457200" y="1463040"/>
            <a:ext cx="3840480" cy="54864"/>
          </a:xfrm>
          <a:prstGeom prst="rect">
            <a:avLst/>
          </a:prstGeom>
          <a:solidFill>
            <a:srgbClr val="444444"/>
          </a:solidFill>
          <a:ln/>
        </p:spPr>
        <p:txBody>
          <a:bodyPr/>
          <a:lstStyle/>
          <a:p>
            <a:endParaRPr lang="en-GB"/>
          </a:p>
        </p:txBody>
      </p:sp>
      <p:sp>
        <p:nvSpPr>
          <p:cNvPr id="8" name="Text 6"/>
          <p:cNvSpPr/>
          <p:nvPr/>
        </p:nvSpPr>
        <p:spPr>
          <a:xfrm>
            <a:off x="640080" y="1600200"/>
            <a:ext cx="3474720" cy="274320"/>
          </a:xfrm>
          <a:prstGeom prst="rect">
            <a:avLst/>
          </a:prstGeom>
          <a:noFill/>
          <a:ln/>
        </p:spPr>
        <p:txBody>
          <a:bodyPr wrap="square" rtlCol="0" anchor="ctr"/>
          <a:lstStyle/>
          <a:p>
            <a:pPr marL="0" indent="0">
              <a:buNone/>
            </a:pPr>
            <a:r>
              <a:rPr lang="en-US" sz="1000" b="1" kern="0" spc="100" dirty="0">
                <a:solidFill>
                  <a:srgbClr val="555555"/>
                </a:solidFill>
                <a:latin typeface="Arial" pitchFamily="34" charset="0"/>
                <a:ea typeface="Arial" pitchFamily="34" charset="-122"/>
                <a:cs typeface="Arial" pitchFamily="34" charset="-120"/>
              </a:rPr>
              <a:t>THE DEFECT</a:t>
            </a:r>
            <a:endParaRPr lang="en-US" sz="1000" dirty="0"/>
          </a:p>
        </p:txBody>
      </p:sp>
      <p:sp>
        <p:nvSpPr>
          <p:cNvPr id="9" name="Text 7"/>
          <p:cNvSpPr/>
          <p:nvPr/>
        </p:nvSpPr>
        <p:spPr>
          <a:xfrm>
            <a:off x="64008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Game ran.</a:t>
            </a:r>
            <a:endParaRPr lang="en-US" sz="1500" dirty="0"/>
          </a:p>
        </p:txBody>
      </p:sp>
      <p:sp>
        <p:nvSpPr>
          <p:cNvPr id="10" name="Text 8"/>
          <p:cNvSpPr/>
          <p:nvPr/>
        </p:nvSpPr>
        <p:spPr>
          <a:xfrm>
            <a:off x="64008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Question loaded.</a:t>
            </a:r>
            <a:endParaRPr lang="en-US" sz="1500" dirty="0"/>
          </a:p>
        </p:txBody>
      </p:sp>
      <p:sp>
        <p:nvSpPr>
          <p:cNvPr id="11" name="Text 9"/>
          <p:cNvSpPr/>
          <p:nvPr/>
        </p:nvSpPr>
        <p:spPr>
          <a:xfrm>
            <a:off x="64008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Answer targets — never appeared.</a:t>
            </a:r>
            <a:endParaRPr lang="en-US" sz="1500" dirty="0"/>
          </a:p>
        </p:txBody>
      </p:sp>
      <p:sp>
        <p:nvSpPr>
          <p:cNvPr id="12" name="Text 10"/>
          <p:cNvSpPr/>
          <p:nvPr/>
        </p:nvSpPr>
        <p:spPr>
          <a:xfrm>
            <a:off x="64008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Entire game depended on them.</a:t>
            </a:r>
            <a:endParaRPr lang="en-US" sz="1500" dirty="0"/>
          </a:p>
        </p:txBody>
      </p:sp>
      <p:sp>
        <p:nvSpPr>
          <p:cNvPr id="13" name="Shape 11"/>
          <p:cNvSpPr/>
          <p:nvPr/>
        </p:nvSpPr>
        <p:spPr>
          <a:xfrm>
            <a:off x="4846320" y="1463040"/>
            <a:ext cx="3840480" cy="3108960"/>
          </a:xfrm>
          <a:prstGeom prst="rect">
            <a:avLst/>
          </a:prstGeom>
          <a:solidFill>
            <a:srgbClr val="1A1A1A"/>
          </a:solidFill>
          <a:ln/>
        </p:spPr>
        <p:txBody>
          <a:bodyPr/>
          <a:lstStyle/>
          <a:p>
            <a:endParaRPr lang="en-GB"/>
          </a:p>
        </p:txBody>
      </p:sp>
      <p:sp>
        <p:nvSpPr>
          <p:cNvPr id="14" name="Shape 12"/>
          <p:cNvSpPr/>
          <p:nvPr/>
        </p:nvSpPr>
        <p:spPr>
          <a:xfrm>
            <a:off x="4846320" y="1463040"/>
            <a:ext cx="3840480" cy="54864"/>
          </a:xfrm>
          <a:prstGeom prst="rect">
            <a:avLst/>
          </a:prstGeom>
          <a:solidFill>
            <a:srgbClr val="FFCD00"/>
          </a:solidFill>
          <a:ln/>
        </p:spPr>
        <p:txBody>
          <a:bodyPr/>
          <a:lstStyle/>
          <a:p>
            <a:endParaRPr lang="en-GB"/>
          </a:p>
        </p:txBody>
      </p:sp>
      <p:sp>
        <p:nvSpPr>
          <p:cNvPr id="15" name="Text 13"/>
          <p:cNvSpPr/>
          <p:nvPr/>
        </p:nvSpPr>
        <p:spPr>
          <a:xfrm>
            <a:off x="5029200" y="1600200"/>
            <a:ext cx="3474720" cy="274320"/>
          </a:xfrm>
          <a:prstGeom prst="rect">
            <a:avLst/>
          </a:prstGeom>
          <a:noFill/>
          <a:ln/>
        </p:spPr>
        <p:txBody>
          <a:bodyPr wrap="square" rtlCol="0" anchor="ctr"/>
          <a:lstStyle/>
          <a:p>
            <a:pPr marL="0" indent="0">
              <a:buNone/>
            </a:pPr>
            <a:r>
              <a:rPr lang="en-US" sz="1000" b="1" kern="0" spc="100" dirty="0">
                <a:solidFill>
                  <a:srgbClr val="FFCD00"/>
                </a:solidFill>
                <a:latin typeface="Arial" pitchFamily="34" charset="0"/>
                <a:ea typeface="Arial" pitchFamily="34" charset="-122"/>
                <a:cs typeface="Arial" pitchFamily="34" charset="-120"/>
              </a:rPr>
              <a:t>THE FIX</a:t>
            </a:r>
            <a:endParaRPr lang="en-US" sz="1000" dirty="0"/>
          </a:p>
        </p:txBody>
      </p:sp>
      <p:sp>
        <p:nvSpPr>
          <p:cNvPr id="16" name="Text 14"/>
          <p:cNvSpPr/>
          <p:nvPr/>
        </p:nvSpPr>
        <p:spPr>
          <a:xfrm>
            <a:off x="5029200" y="2011680"/>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Raised on WhatsApp immediately.</a:t>
            </a:r>
            <a:endParaRPr lang="en-US" sz="1500" dirty="0"/>
          </a:p>
        </p:txBody>
      </p:sp>
      <p:sp>
        <p:nvSpPr>
          <p:cNvPr id="17" name="Text 15"/>
          <p:cNvSpPr/>
          <p:nvPr/>
        </p:nvSpPr>
        <p:spPr>
          <a:xfrm>
            <a:off x="5029200" y="2542032"/>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Full team read the error log.</a:t>
            </a:r>
            <a:endParaRPr lang="en-US" sz="1500" dirty="0"/>
          </a:p>
        </p:txBody>
      </p:sp>
      <p:sp>
        <p:nvSpPr>
          <p:cNvPr id="18" name="Text 16"/>
          <p:cNvSpPr/>
          <p:nvPr/>
        </p:nvSpPr>
        <p:spPr>
          <a:xfrm>
            <a:off x="5029200" y="3072384"/>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Root cause: two runtime errors.</a:t>
            </a:r>
            <a:endParaRPr lang="en-US" sz="1500" dirty="0"/>
          </a:p>
        </p:txBody>
      </p:sp>
      <p:sp>
        <p:nvSpPr>
          <p:cNvPr id="19" name="Text 17"/>
          <p:cNvSpPr/>
          <p:nvPr/>
        </p:nvSpPr>
        <p:spPr>
          <a:xfrm>
            <a:off x="5029200" y="3602736"/>
            <a:ext cx="3383280" cy="411480"/>
          </a:xfrm>
          <a:prstGeom prst="rect">
            <a:avLst/>
          </a:prstGeom>
          <a:noFill/>
          <a:ln/>
        </p:spPr>
        <p:txBody>
          <a:bodyPr wrap="square" rtlCol="0" anchor="ctr"/>
          <a:lstStyle/>
          <a:p>
            <a:pPr marL="0" indent="0">
              <a:buNone/>
            </a:pPr>
            <a:r>
              <a:rPr lang="en-US" sz="1500" dirty="0">
                <a:solidFill>
                  <a:srgbClr val="FFFFFF"/>
                </a:solidFill>
                <a:latin typeface="Arial" pitchFamily="34" charset="0"/>
                <a:ea typeface="Arial" pitchFamily="34" charset="-122"/>
                <a:cs typeface="Arial" pitchFamily="34" charset="-120"/>
              </a:rPr>
              <a:t>Rebuilt in HTML. Resolved in 1 day.</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LESSONS FROM THE BUG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12 / 18</a:t>
            </a:r>
            <a:endParaRPr lang="en-US" sz="900" dirty="0"/>
          </a:p>
        </p:txBody>
      </p:sp>
      <p:sp>
        <p:nvSpPr>
          <p:cNvPr id="5" name="Text 3"/>
          <p:cNvSpPr/>
          <p:nvPr/>
        </p:nvSpPr>
        <p:spPr>
          <a:xfrm>
            <a:off x="457200" y="685800"/>
            <a:ext cx="8229600" cy="812800"/>
          </a:xfrm>
          <a:prstGeom prst="rect">
            <a:avLst/>
          </a:prstGeom>
          <a:noFill/>
          <a:ln/>
        </p:spPr>
        <p:txBody>
          <a:bodyPr wrap="square" rtlCol="0" anchor="ctr"/>
          <a:lstStyle/>
          <a:p>
            <a:pPr marL="0" indent="0">
              <a:buNone/>
            </a:pPr>
            <a:r>
              <a:rPr lang="en-US" sz="3200" b="1" dirty="0">
                <a:solidFill>
                  <a:srgbClr val="111111"/>
                </a:solidFill>
                <a:latin typeface="Arial Black" pitchFamily="34" charset="0"/>
                <a:ea typeface="Arial Black" pitchFamily="34" charset="-122"/>
                <a:cs typeface="Arial Black" pitchFamily="34" charset="-120"/>
              </a:rPr>
              <a:t>What fixing it taught us.</a:t>
            </a:r>
            <a:endParaRPr lang="en-US" sz="32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Text 5"/>
          <p:cNvSpPr/>
          <p:nvPr/>
        </p:nvSpPr>
        <p:spPr>
          <a:xfrm>
            <a:off x="457200" y="160934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01</a:t>
            </a:r>
            <a:endParaRPr lang="en-US" sz="2000" dirty="0"/>
          </a:p>
        </p:txBody>
      </p:sp>
      <p:sp>
        <p:nvSpPr>
          <p:cNvPr id="8" name="Text 6"/>
          <p:cNvSpPr/>
          <p:nvPr/>
        </p:nvSpPr>
        <p:spPr>
          <a:xfrm>
            <a:off x="1371600" y="159105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Raise it fast</a:t>
            </a:r>
            <a:endParaRPr lang="en-US" sz="1700" dirty="0"/>
          </a:p>
        </p:txBody>
      </p:sp>
      <p:sp>
        <p:nvSpPr>
          <p:cNvPr id="9" name="Text 7"/>
          <p:cNvSpPr/>
          <p:nvPr/>
        </p:nvSpPr>
        <p:spPr>
          <a:xfrm>
            <a:off x="1371600" y="189280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Issue shared on WhatsApp the same hour it was found</a:t>
            </a:r>
            <a:endParaRPr lang="en-US" sz="1200" dirty="0"/>
          </a:p>
        </p:txBody>
      </p:sp>
      <p:sp>
        <p:nvSpPr>
          <p:cNvPr id="10" name="Text 8"/>
          <p:cNvSpPr/>
          <p:nvPr/>
        </p:nvSpPr>
        <p:spPr>
          <a:xfrm>
            <a:off x="457200" y="243230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02</a:t>
            </a:r>
            <a:endParaRPr lang="en-US" sz="2000" dirty="0"/>
          </a:p>
        </p:txBody>
      </p:sp>
      <p:sp>
        <p:nvSpPr>
          <p:cNvPr id="11" name="Text 9"/>
          <p:cNvSpPr/>
          <p:nvPr/>
        </p:nvSpPr>
        <p:spPr>
          <a:xfrm>
            <a:off x="1371600" y="241401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One owner per module</a:t>
            </a:r>
            <a:endParaRPr lang="en-US" sz="1700" dirty="0"/>
          </a:p>
        </p:txBody>
      </p:sp>
      <p:sp>
        <p:nvSpPr>
          <p:cNvPr id="12" name="Text 10"/>
          <p:cNvSpPr/>
          <p:nvPr/>
        </p:nvSpPr>
        <p:spPr>
          <a:xfrm>
            <a:off x="1371600" y="271576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We knew exactly whose code to look at — no confusion</a:t>
            </a:r>
            <a:endParaRPr lang="en-US" sz="1200" dirty="0"/>
          </a:p>
        </p:txBody>
      </p:sp>
      <p:sp>
        <p:nvSpPr>
          <p:cNvPr id="13" name="Text 11"/>
          <p:cNvSpPr/>
          <p:nvPr/>
        </p:nvSpPr>
        <p:spPr>
          <a:xfrm>
            <a:off x="457200" y="3255264"/>
            <a:ext cx="868680" cy="411480"/>
          </a:xfrm>
          <a:prstGeom prst="rect">
            <a:avLst/>
          </a:prstGeom>
          <a:noFill/>
          <a:ln/>
        </p:spPr>
        <p:txBody>
          <a:bodyPr wrap="square" rtlCol="0" anchor="ctr">
            <a:normAutofit/>
          </a:bodyPr>
          <a:lstStyle/>
          <a:p>
            <a:pPr marL="0" indent="0">
              <a:buNone/>
            </a:pPr>
            <a:r>
              <a:rPr lang="en-US" sz="2000" b="1" dirty="0">
                <a:solidFill>
                  <a:srgbClr val="FFCD00"/>
                </a:solidFill>
                <a:latin typeface="Arial Black" pitchFamily="34" charset="0"/>
                <a:ea typeface="Arial Black" pitchFamily="34" charset="-122"/>
                <a:cs typeface="Arial Black" pitchFamily="34" charset="-120"/>
              </a:rPr>
              <a:t>03</a:t>
            </a:r>
            <a:endParaRPr lang="en-US" sz="2000" dirty="0"/>
          </a:p>
        </p:txBody>
      </p:sp>
      <p:sp>
        <p:nvSpPr>
          <p:cNvPr id="14" name="Text 12"/>
          <p:cNvSpPr/>
          <p:nvPr/>
        </p:nvSpPr>
        <p:spPr>
          <a:xfrm>
            <a:off x="1371600" y="3236976"/>
            <a:ext cx="7315200" cy="292608"/>
          </a:xfrm>
          <a:prstGeom prst="rect">
            <a:avLst/>
          </a:prstGeom>
          <a:noFill/>
          <a:ln/>
        </p:spPr>
        <p:txBody>
          <a:bodyPr wrap="square" rtlCol="0" anchor="ctr"/>
          <a:lstStyle/>
          <a:p>
            <a:pPr marL="0" indent="0">
              <a:buNone/>
            </a:pPr>
            <a:r>
              <a:rPr lang="en-US" sz="1700" b="1" dirty="0">
                <a:solidFill>
                  <a:srgbClr val="111111"/>
                </a:solidFill>
                <a:latin typeface="Arial Black" pitchFamily="34" charset="0"/>
                <a:ea typeface="Arial Black" pitchFamily="34" charset="-122"/>
                <a:cs typeface="Arial Black" pitchFamily="34" charset="-120"/>
              </a:rPr>
              <a:t>Review together</a:t>
            </a:r>
            <a:endParaRPr lang="en-US" sz="1700" dirty="0"/>
          </a:p>
        </p:txBody>
      </p:sp>
      <p:sp>
        <p:nvSpPr>
          <p:cNvPr id="15" name="Text 13"/>
          <p:cNvSpPr/>
          <p:nvPr/>
        </p:nvSpPr>
        <p:spPr>
          <a:xfrm>
            <a:off x="1371600" y="3538728"/>
            <a:ext cx="7315200" cy="228600"/>
          </a:xfrm>
          <a:prstGeom prst="rect">
            <a:avLst/>
          </a:prstGeom>
          <a:noFill/>
          <a:ln/>
        </p:spPr>
        <p:txBody>
          <a:bodyPr wrap="square" rtlCol="0" anchor="ctr"/>
          <a:lstStyle/>
          <a:p>
            <a:pPr marL="0" indent="0">
              <a:buNone/>
            </a:pPr>
            <a:r>
              <a:rPr lang="en-US" sz="1200" dirty="0">
                <a:solidFill>
                  <a:srgbClr val="888888"/>
                </a:solidFill>
                <a:latin typeface="Arial" pitchFamily="34" charset="0"/>
                <a:ea typeface="Arial" pitchFamily="34" charset="-122"/>
                <a:cs typeface="Arial" pitchFamily="34" charset="-120"/>
              </a:rPr>
              <a:t>Team read the log as a group — solved what one person would have missed</a:t>
            </a:r>
            <a:endParaRPr lang="en-US" sz="1200" dirty="0"/>
          </a:p>
        </p:txBody>
      </p:sp>
      <p:sp>
        <p:nvSpPr>
          <p:cNvPr id="16" name="Text 14"/>
          <p:cNvSpPr/>
          <p:nvPr/>
        </p:nvSpPr>
        <p:spPr>
          <a:xfrm>
            <a:off x="457200" y="4160520"/>
            <a:ext cx="7772400" cy="320040"/>
          </a:xfrm>
          <a:prstGeom prst="rect">
            <a:avLst/>
          </a:prstGeom>
          <a:noFill/>
          <a:ln/>
        </p:spPr>
        <p:txBody>
          <a:bodyPr wrap="square" rtlCol="0" anchor="ctr"/>
          <a:lstStyle/>
          <a:p>
            <a:pPr marL="0" indent="0">
              <a:buNone/>
            </a:pPr>
            <a:r>
              <a:rPr lang="en-US" sz="1400" dirty="0">
                <a:solidFill>
                  <a:srgbClr val="444444"/>
                </a:solidFill>
                <a:latin typeface="Arial" pitchFamily="34" charset="0"/>
                <a:ea typeface="Arial" pitchFamily="34" charset="-122"/>
                <a:cs typeface="Arial" pitchFamily="34" charset="-120"/>
              </a:rPr>
              <a:t>Structured communication turned a critical bug into a one-day fix.</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13 / 18</a:t>
            </a:r>
            <a:endParaRPr lang="en-US" sz="900" dirty="0"/>
          </a:p>
        </p:txBody>
      </p:sp>
      <p:sp>
        <p:nvSpPr>
          <p:cNvPr id="5" name="Text 3"/>
          <p:cNvSpPr/>
          <p:nvPr/>
        </p:nvSpPr>
        <p:spPr>
          <a:xfrm>
            <a:off x="457200" y="1463040"/>
            <a:ext cx="8229600" cy="1524000"/>
          </a:xfrm>
          <a:prstGeom prst="rect">
            <a:avLst/>
          </a:prstGeom>
          <a:noFill/>
          <a:ln/>
        </p:spPr>
        <p:txBody>
          <a:bodyPr wrap="square" rtlCol="0" anchor="ctr"/>
          <a:lstStyle/>
          <a:p>
            <a:pPr marL="0" indent="0">
              <a:buNone/>
            </a:pPr>
            <a:r>
              <a:rPr lang="en-US" sz="6000" b="1" dirty="0">
                <a:solidFill>
                  <a:srgbClr val="FFFFFF"/>
                </a:solidFill>
                <a:latin typeface="Arial Black" pitchFamily="34" charset="0"/>
                <a:ea typeface="Arial Black" pitchFamily="34" charset="-122"/>
                <a:cs typeface="Arial Black" pitchFamily="34" charset="-120"/>
              </a:rPr>
              <a:t>The result.</a:t>
            </a:r>
            <a:endParaRPr lang="en-US" sz="6000" dirty="0"/>
          </a:p>
        </p:txBody>
      </p:sp>
      <p:sp>
        <p:nvSpPr>
          <p:cNvPr id="6" name="Text 4"/>
          <p:cNvSpPr/>
          <p:nvPr/>
        </p:nvSpPr>
        <p:spPr>
          <a:xfrm>
            <a:off x="457200" y="32004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Did we meet the brief?</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888888"/>
                </a:solidFill>
                <a:latin typeface="Arial" pitchFamily="34" charset="0"/>
                <a:ea typeface="Arial" pitchFamily="34" charset="-122"/>
                <a:cs typeface="Arial" pitchFamily="34" charset="-120"/>
              </a:rPr>
              <a:t>BRIEF REQUIREMENTS</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888888"/>
                </a:solidFill>
                <a:latin typeface="Arial" pitchFamily="34" charset="0"/>
                <a:ea typeface="Arial" pitchFamily="34" charset="-122"/>
                <a:cs typeface="Arial" pitchFamily="34" charset="-120"/>
              </a:rPr>
              <a:t>NINJA QUIZ  ·  503IT  ·  14 / 18</a:t>
            </a:r>
            <a:endParaRPr lang="en-US" sz="900" dirty="0"/>
          </a:p>
        </p:txBody>
      </p:sp>
      <p:sp>
        <p:nvSpPr>
          <p:cNvPr id="5" name="Text 3"/>
          <p:cNvSpPr/>
          <p:nvPr/>
        </p:nvSpPr>
        <p:spPr>
          <a:xfrm>
            <a:off x="457200" y="685800"/>
            <a:ext cx="8229600" cy="965200"/>
          </a:xfrm>
          <a:prstGeom prst="rect">
            <a:avLst/>
          </a:prstGeom>
          <a:noFill/>
          <a:ln/>
        </p:spPr>
        <p:txBody>
          <a:bodyPr wrap="square" rtlCol="0" anchor="ctr"/>
          <a:lstStyle/>
          <a:p>
            <a:pPr marL="0" indent="0">
              <a:buNone/>
            </a:pPr>
            <a:r>
              <a:rPr lang="en-US" sz="3800" b="1" dirty="0">
                <a:solidFill>
                  <a:srgbClr val="111111"/>
                </a:solidFill>
                <a:latin typeface="Arial Black" pitchFamily="34" charset="0"/>
                <a:ea typeface="Arial Black" pitchFamily="34" charset="-122"/>
                <a:cs typeface="Arial Black" pitchFamily="34" charset="-120"/>
              </a:rPr>
              <a:t>Every box. Ticked.</a:t>
            </a:r>
            <a:endParaRPr lang="en-US" sz="3800" dirty="0"/>
          </a:p>
        </p:txBody>
      </p:sp>
      <p:sp>
        <p:nvSpPr>
          <p:cNvPr id="6" name="Shape 4"/>
          <p:cNvSpPr/>
          <p:nvPr/>
        </p:nvSpPr>
        <p:spPr>
          <a:xfrm>
            <a:off x="457200" y="1463040"/>
            <a:ext cx="8229600" cy="10973"/>
          </a:xfrm>
          <a:prstGeom prst="rect">
            <a:avLst/>
          </a:prstGeom>
          <a:solidFill>
            <a:srgbClr val="EEEEEE"/>
          </a:solidFill>
          <a:ln/>
        </p:spPr>
        <p:txBody>
          <a:bodyPr/>
          <a:lstStyle/>
          <a:p>
            <a:endParaRPr lang="en-GB"/>
          </a:p>
        </p:txBody>
      </p:sp>
      <p:sp>
        <p:nvSpPr>
          <p:cNvPr id="7" name="Shape 5"/>
          <p:cNvSpPr/>
          <p:nvPr/>
        </p:nvSpPr>
        <p:spPr>
          <a:xfrm>
            <a:off x="457200" y="1700784"/>
            <a:ext cx="128016" cy="128016"/>
          </a:xfrm>
          <a:prstGeom prst="rect">
            <a:avLst/>
          </a:prstGeom>
          <a:solidFill>
            <a:srgbClr val="FFCD00"/>
          </a:solidFill>
          <a:ln/>
        </p:spPr>
        <p:txBody>
          <a:bodyPr/>
          <a:lstStyle/>
          <a:p>
            <a:endParaRPr lang="en-GB"/>
          </a:p>
        </p:txBody>
      </p:sp>
      <p:sp>
        <p:nvSpPr>
          <p:cNvPr id="8" name="Text 6"/>
          <p:cNvSpPr/>
          <p:nvPr/>
        </p:nvSpPr>
        <p:spPr>
          <a:xfrm>
            <a:off x="749808" y="1572768"/>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Cyber-safety concept taught</a:t>
            </a:r>
            <a:endParaRPr lang="en-US" sz="1400" dirty="0"/>
          </a:p>
        </p:txBody>
      </p:sp>
      <p:sp>
        <p:nvSpPr>
          <p:cNvPr id="9" name="Text 7"/>
          <p:cNvSpPr/>
          <p:nvPr/>
        </p:nvSpPr>
        <p:spPr>
          <a:xfrm>
            <a:off x="5074920" y="1572768"/>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Phishing, passwords, 2FA, VPNs and more</a:t>
            </a:r>
            <a:endParaRPr lang="en-US" sz="1300" dirty="0"/>
          </a:p>
        </p:txBody>
      </p:sp>
      <p:sp>
        <p:nvSpPr>
          <p:cNvPr id="10" name="Shape 8"/>
          <p:cNvSpPr/>
          <p:nvPr/>
        </p:nvSpPr>
        <p:spPr>
          <a:xfrm>
            <a:off x="457200" y="2029968"/>
            <a:ext cx="8229600" cy="10973"/>
          </a:xfrm>
          <a:prstGeom prst="rect">
            <a:avLst/>
          </a:prstGeom>
          <a:solidFill>
            <a:srgbClr val="EEEEEE"/>
          </a:solidFill>
          <a:ln/>
        </p:spPr>
        <p:txBody>
          <a:bodyPr/>
          <a:lstStyle/>
          <a:p>
            <a:endParaRPr lang="en-GB"/>
          </a:p>
        </p:txBody>
      </p:sp>
      <p:sp>
        <p:nvSpPr>
          <p:cNvPr id="11" name="Shape 9"/>
          <p:cNvSpPr/>
          <p:nvPr/>
        </p:nvSpPr>
        <p:spPr>
          <a:xfrm>
            <a:off x="457200" y="2276856"/>
            <a:ext cx="128016" cy="128016"/>
          </a:xfrm>
          <a:prstGeom prst="rect">
            <a:avLst/>
          </a:prstGeom>
          <a:solidFill>
            <a:srgbClr val="FFCD00"/>
          </a:solidFill>
          <a:ln/>
        </p:spPr>
        <p:txBody>
          <a:bodyPr/>
          <a:lstStyle/>
          <a:p>
            <a:endParaRPr lang="en-GB"/>
          </a:p>
        </p:txBody>
      </p:sp>
      <p:sp>
        <p:nvSpPr>
          <p:cNvPr id="12" name="Text 10"/>
          <p:cNvSpPr/>
          <p:nvPr/>
        </p:nvSpPr>
        <p:spPr>
          <a:xfrm>
            <a:off x="749808" y="2148840"/>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Defined audience</a:t>
            </a:r>
            <a:endParaRPr lang="en-US" sz="1400" dirty="0"/>
          </a:p>
        </p:txBody>
      </p:sp>
      <p:sp>
        <p:nvSpPr>
          <p:cNvPr id="13" name="Text 11"/>
          <p:cNvSpPr/>
          <p:nvPr/>
        </p:nvSpPr>
        <p:spPr>
          <a:xfrm>
            <a:off x="5074920" y="2148840"/>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Children and young teens aged 8–14</a:t>
            </a:r>
            <a:endParaRPr lang="en-US" sz="1300" dirty="0"/>
          </a:p>
        </p:txBody>
      </p:sp>
      <p:sp>
        <p:nvSpPr>
          <p:cNvPr id="14" name="Shape 12"/>
          <p:cNvSpPr/>
          <p:nvPr/>
        </p:nvSpPr>
        <p:spPr>
          <a:xfrm>
            <a:off x="457200" y="2606040"/>
            <a:ext cx="8229600" cy="10973"/>
          </a:xfrm>
          <a:prstGeom prst="rect">
            <a:avLst/>
          </a:prstGeom>
          <a:solidFill>
            <a:srgbClr val="EEEEEE"/>
          </a:solidFill>
          <a:ln/>
        </p:spPr>
        <p:txBody>
          <a:bodyPr/>
          <a:lstStyle/>
          <a:p>
            <a:endParaRPr lang="en-GB"/>
          </a:p>
        </p:txBody>
      </p:sp>
      <p:sp>
        <p:nvSpPr>
          <p:cNvPr id="15" name="Shape 13"/>
          <p:cNvSpPr/>
          <p:nvPr/>
        </p:nvSpPr>
        <p:spPr>
          <a:xfrm>
            <a:off x="457200" y="2852928"/>
            <a:ext cx="128016" cy="128016"/>
          </a:xfrm>
          <a:prstGeom prst="rect">
            <a:avLst/>
          </a:prstGeom>
          <a:solidFill>
            <a:srgbClr val="FFCD00"/>
          </a:solidFill>
          <a:ln/>
        </p:spPr>
        <p:txBody>
          <a:bodyPr/>
          <a:lstStyle/>
          <a:p>
            <a:endParaRPr lang="en-GB"/>
          </a:p>
        </p:txBody>
      </p:sp>
      <p:sp>
        <p:nvSpPr>
          <p:cNvPr id="16" name="Text 14"/>
          <p:cNvSpPr/>
          <p:nvPr/>
        </p:nvSpPr>
        <p:spPr>
          <a:xfrm>
            <a:off x="749808" y="2724912"/>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Educational value + replayability</a:t>
            </a:r>
            <a:endParaRPr lang="en-US" sz="1400" dirty="0"/>
          </a:p>
        </p:txBody>
      </p:sp>
      <p:sp>
        <p:nvSpPr>
          <p:cNvPr id="17" name="Text 15"/>
          <p:cNvSpPr/>
          <p:nvPr/>
        </p:nvSpPr>
        <p:spPr>
          <a:xfrm>
            <a:off x="5074920" y="2724912"/>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56 questions · 3 difficulty levels · leaderboard</a:t>
            </a:r>
            <a:endParaRPr lang="en-US" sz="1300" dirty="0"/>
          </a:p>
        </p:txBody>
      </p:sp>
      <p:sp>
        <p:nvSpPr>
          <p:cNvPr id="18" name="Shape 16"/>
          <p:cNvSpPr/>
          <p:nvPr/>
        </p:nvSpPr>
        <p:spPr>
          <a:xfrm>
            <a:off x="457200" y="3182112"/>
            <a:ext cx="8229600" cy="10973"/>
          </a:xfrm>
          <a:prstGeom prst="rect">
            <a:avLst/>
          </a:prstGeom>
          <a:solidFill>
            <a:srgbClr val="EEEEEE"/>
          </a:solidFill>
          <a:ln/>
        </p:spPr>
        <p:txBody>
          <a:bodyPr/>
          <a:lstStyle/>
          <a:p>
            <a:endParaRPr lang="en-GB"/>
          </a:p>
        </p:txBody>
      </p:sp>
      <p:sp>
        <p:nvSpPr>
          <p:cNvPr id="19" name="Shape 17"/>
          <p:cNvSpPr/>
          <p:nvPr/>
        </p:nvSpPr>
        <p:spPr>
          <a:xfrm>
            <a:off x="457200" y="3429000"/>
            <a:ext cx="128016" cy="128016"/>
          </a:xfrm>
          <a:prstGeom prst="rect">
            <a:avLst/>
          </a:prstGeom>
          <a:solidFill>
            <a:srgbClr val="FFCD00"/>
          </a:solidFill>
          <a:ln/>
        </p:spPr>
        <p:txBody>
          <a:bodyPr/>
          <a:lstStyle/>
          <a:p>
            <a:endParaRPr lang="en-GB"/>
          </a:p>
        </p:txBody>
      </p:sp>
      <p:sp>
        <p:nvSpPr>
          <p:cNvPr id="20" name="Text 18"/>
          <p:cNvSpPr/>
          <p:nvPr/>
        </p:nvSpPr>
        <p:spPr>
          <a:xfrm>
            <a:off x="749808" y="3300984"/>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Complete working prototype</a:t>
            </a:r>
            <a:endParaRPr lang="en-US" sz="1400" dirty="0"/>
          </a:p>
        </p:txBody>
      </p:sp>
      <p:sp>
        <p:nvSpPr>
          <p:cNvPr id="21" name="Text 19"/>
          <p:cNvSpPr/>
          <p:nvPr/>
        </p:nvSpPr>
        <p:spPr>
          <a:xfrm>
            <a:off x="5074920" y="3300984"/>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Runs in any browser — no install</a:t>
            </a:r>
            <a:endParaRPr lang="en-US" sz="1300" dirty="0"/>
          </a:p>
        </p:txBody>
      </p:sp>
      <p:sp>
        <p:nvSpPr>
          <p:cNvPr id="22" name="Shape 20"/>
          <p:cNvSpPr/>
          <p:nvPr/>
        </p:nvSpPr>
        <p:spPr>
          <a:xfrm>
            <a:off x="457200" y="3758184"/>
            <a:ext cx="8229600" cy="10973"/>
          </a:xfrm>
          <a:prstGeom prst="rect">
            <a:avLst/>
          </a:prstGeom>
          <a:solidFill>
            <a:srgbClr val="EEEEEE"/>
          </a:solidFill>
          <a:ln/>
        </p:spPr>
        <p:txBody>
          <a:bodyPr/>
          <a:lstStyle/>
          <a:p>
            <a:endParaRPr lang="en-GB"/>
          </a:p>
        </p:txBody>
      </p:sp>
      <p:sp>
        <p:nvSpPr>
          <p:cNvPr id="23" name="Shape 21"/>
          <p:cNvSpPr/>
          <p:nvPr/>
        </p:nvSpPr>
        <p:spPr>
          <a:xfrm>
            <a:off x="457200" y="4005072"/>
            <a:ext cx="128016" cy="128016"/>
          </a:xfrm>
          <a:prstGeom prst="rect">
            <a:avLst/>
          </a:prstGeom>
          <a:solidFill>
            <a:srgbClr val="FFCD00"/>
          </a:solidFill>
          <a:ln/>
        </p:spPr>
        <p:txBody>
          <a:bodyPr/>
          <a:lstStyle/>
          <a:p>
            <a:endParaRPr lang="en-GB"/>
          </a:p>
        </p:txBody>
      </p:sp>
      <p:sp>
        <p:nvSpPr>
          <p:cNvPr id="24" name="Text 22"/>
          <p:cNvSpPr/>
          <p:nvPr/>
        </p:nvSpPr>
        <p:spPr>
          <a:xfrm>
            <a:off x="749808" y="3877056"/>
            <a:ext cx="4206240" cy="411480"/>
          </a:xfrm>
          <a:prstGeom prst="rect">
            <a:avLst/>
          </a:prstGeom>
          <a:noFill/>
          <a:ln/>
        </p:spPr>
        <p:txBody>
          <a:bodyPr wrap="square" rtlCol="0" anchor="ctr"/>
          <a:lstStyle/>
          <a:p>
            <a:pPr marL="0" indent="0">
              <a:buNone/>
            </a:pPr>
            <a:r>
              <a:rPr lang="en-US" sz="1400" b="1" dirty="0">
                <a:solidFill>
                  <a:srgbClr val="111111"/>
                </a:solidFill>
                <a:latin typeface="Arial Black" pitchFamily="34" charset="0"/>
                <a:ea typeface="Arial Black" pitchFamily="34" charset="-122"/>
                <a:cs typeface="Arial Black" pitchFamily="34" charset="-120"/>
              </a:rPr>
              <a:t>Ready for demonstration</a:t>
            </a:r>
            <a:endParaRPr lang="en-US" sz="1400" dirty="0"/>
          </a:p>
        </p:txBody>
      </p:sp>
      <p:sp>
        <p:nvSpPr>
          <p:cNvPr id="25" name="Text 23"/>
          <p:cNvSpPr/>
          <p:nvPr/>
        </p:nvSpPr>
        <p:spPr>
          <a:xfrm>
            <a:off x="5074920" y="3877056"/>
            <a:ext cx="3657600" cy="411480"/>
          </a:xfrm>
          <a:prstGeom prst="rect">
            <a:avLst/>
          </a:prstGeom>
          <a:noFill/>
          <a:ln/>
        </p:spPr>
        <p:txBody>
          <a:bodyPr wrap="square" rtlCol="0" anchor="ctr"/>
          <a:lstStyle/>
          <a:p>
            <a:pPr marL="0" indent="0">
              <a:buNone/>
            </a:pPr>
            <a:r>
              <a:rPr lang="en-US" sz="1300" dirty="0">
                <a:solidFill>
                  <a:srgbClr val="888888"/>
                </a:solidFill>
                <a:latin typeface="Arial" pitchFamily="34" charset="0"/>
                <a:ea typeface="Arial" pitchFamily="34" charset="-122"/>
                <a:cs typeface="Arial" pitchFamily="34" charset="-120"/>
              </a:rPr>
              <a:t>Live today — with supporting documentation</a:t>
            </a:r>
            <a:endParaRPr lang="en-US" sz="1300" dirty="0"/>
          </a:p>
        </p:txBody>
      </p:sp>
      <p:sp>
        <p:nvSpPr>
          <p:cNvPr id="26" name="Shape 24"/>
          <p:cNvSpPr/>
          <p:nvPr/>
        </p:nvSpPr>
        <p:spPr>
          <a:xfrm>
            <a:off x="457200" y="4334256"/>
            <a:ext cx="8229600" cy="10973"/>
          </a:xfrm>
          <a:prstGeom prst="rect">
            <a:avLst/>
          </a:prstGeom>
          <a:solidFill>
            <a:srgbClr val="EEEEEE"/>
          </a:solidFill>
          <a:ln/>
        </p:spPr>
        <p:txBody>
          <a:bodyPr/>
          <a:lstStyle/>
          <a:p>
            <a:endParaRPr lang="en-GB"/>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USER TESTING</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15 / 18</a:t>
            </a:r>
            <a:endParaRPr lang="en-US" sz="900" dirty="0"/>
          </a:p>
        </p:txBody>
      </p:sp>
      <p:sp>
        <p:nvSpPr>
          <p:cNvPr id="5" name="Text 3"/>
          <p:cNvSpPr/>
          <p:nvPr/>
        </p:nvSpPr>
        <p:spPr>
          <a:xfrm>
            <a:off x="457200" y="594360"/>
            <a:ext cx="8229600" cy="914400"/>
          </a:xfrm>
          <a:prstGeom prst="rect">
            <a:avLst/>
          </a:prstGeom>
          <a:noFill/>
          <a:ln/>
        </p:spPr>
        <p:txBody>
          <a:bodyPr wrap="square" rtlCol="0" anchor="ctr"/>
          <a:lstStyle/>
          <a:p>
            <a:pPr marL="0" indent="0">
              <a:buNone/>
            </a:pPr>
            <a:r>
              <a:rPr lang="en-US" sz="3600" b="1" dirty="0">
                <a:solidFill>
                  <a:srgbClr val="FFFFFF"/>
                </a:solidFill>
                <a:latin typeface="Arial Black" pitchFamily="34" charset="0"/>
                <a:ea typeface="Arial Black" pitchFamily="34" charset="-122"/>
                <a:cs typeface="Arial Black" pitchFamily="34" charset="-120"/>
              </a:rPr>
              <a:t>What they said.</a:t>
            </a:r>
            <a:endParaRPr lang="en-US" sz="3600" dirty="0"/>
          </a:p>
        </p:txBody>
      </p:sp>
      <p:sp>
        <p:nvSpPr>
          <p:cNvPr id="6" name="Text 4"/>
          <p:cNvSpPr/>
          <p:nvPr/>
        </p:nvSpPr>
        <p:spPr>
          <a:xfrm>
            <a:off x="457200" y="13716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Peer testing · Sprint 4 &amp; 5 · Anonymous</a:t>
            </a:r>
            <a:endParaRPr lang="en-US" sz="1400" dirty="0"/>
          </a:p>
        </p:txBody>
      </p:sp>
      <p:sp>
        <p:nvSpPr>
          <p:cNvPr id="7" name="Shape 5"/>
          <p:cNvSpPr/>
          <p:nvPr/>
        </p:nvSpPr>
        <p:spPr>
          <a:xfrm>
            <a:off x="457200" y="1965960"/>
            <a:ext cx="2651760" cy="2468880"/>
          </a:xfrm>
          <a:prstGeom prst="rect">
            <a:avLst/>
          </a:prstGeom>
          <a:solidFill>
            <a:srgbClr val="1A1A1A"/>
          </a:solidFill>
          <a:ln/>
        </p:spPr>
        <p:txBody>
          <a:bodyPr/>
          <a:lstStyle/>
          <a:p>
            <a:endParaRPr lang="en-GB"/>
          </a:p>
        </p:txBody>
      </p:sp>
      <p:sp>
        <p:nvSpPr>
          <p:cNvPr id="8" name="Shape 6"/>
          <p:cNvSpPr/>
          <p:nvPr/>
        </p:nvSpPr>
        <p:spPr>
          <a:xfrm>
            <a:off x="457200" y="1965960"/>
            <a:ext cx="2651760" cy="54864"/>
          </a:xfrm>
          <a:prstGeom prst="rect">
            <a:avLst/>
          </a:prstGeom>
          <a:solidFill>
            <a:srgbClr val="FFCD00"/>
          </a:solidFill>
          <a:ln/>
        </p:spPr>
        <p:txBody>
          <a:bodyPr/>
          <a:lstStyle/>
          <a:p>
            <a:endParaRPr lang="en-GB"/>
          </a:p>
        </p:txBody>
      </p:sp>
      <p:sp>
        <p:nvSpPr>
          <p:cNvPr id="9" name="Text 7"/>
          <p:cNvSpPr/>
          <p:nvPr/>
        </p:nvSpPr>
        <p:spPr>
          <a:xfrm>
            <a:off x="62179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"It actually teaches you something while you play."</a:t>
            </a:r>
            <a:endParaRPr lang="en-US" sz="1350" dirty="0"/>
          </a:p>
        </p:txBody>
      </p:sp>
      <p:sp>
        <p:nvSpPr>
          <p:cNvPr id="10" name="Shape 8"/>
          <p:cNvSpPr/>
          <p:nvPr/>
        </p:nvSpPr>
        <p:spPr>
          <a:xfrm>
            <a:off x="621792" y="3657600"/>
            <a:ext cx="228600" cy="36576"/>
          </a:xfrm>
          <a:prstGeom prst="rect">
            <a:avLst/>
          </a:prstGeom>
          <a:solidFill>
            <a:srgbClr val="555555"/>
          </a:solidFill>
          <a:ln/>
        </p:spPr>
        <p:txBody>
          <a:bodyPr/>
          <a:lstStyle/>
          <a:p>
            <a:endParaRPr lang="en-GB"/>
          </a:p>
        </p:txBody>
      </p:sp>
      <p:sp>
        <p:nvSpPr>
          <p:cNvPr id="11" name="Text 9"/>
          <p:cNvSpPr/>
          <p:nvPr/>
        </p:nvSpPr>
        <p:spPr>
          <a:xfrm>
            <a:off x="62179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2" name="Shape 10"/>
          <p:cNvSpPr/>
          <p:nvPr/>
        </p:nvSpPr>
        <p:spPr>
          <a:xfrm>
            <a:off x="3337560" y="1965960"/>
            <a:ext cx="2651760" cy="2468880"/>
          </a:xfrm>
          <a:prstGeom prst="rect">
            <a:avLst/>
          </a:prstGeom>
          <a:solidFill>
            <a:srgbClr val="1A1A1A"/>
          </a:solidFill>
          <a:ln/>
        </p:spPr>
        <p:txBody>
          <a:bodyPr/>
          <a:lstStyle/>
          <a:p>
            <a:endParaRPr lang="en-GB"/>
          </a:p>
        </p:txBody>
      </p:sp>
      <p:sp>
        <p:nvSpPr>
          <p:cNvPr id="13" name="Shape 11"/>
          <p:cNvSpPr/>
          <p:nvPr/>
        </p:nvSpPr>
        <p:spPr>
          <a:xfrm>
            <a:off x="3337560" y="1965960"/>
            <a:ext cx="2651760" cy="54864"/>
          </a:xfrm>
          <a:prstGeom prst="rect">
            <a:avLst/>
          </a:prstGeom>
          <a:solidFill>
            <a:srgbClr val="FFCD00"/>
          </a:solidFill>
          <a:ln/>
        </p:spPr>
        <p:txBody>
          <a:bodyPr/>
          <a:lstStyle/>
          <a:p>
            <a:endParaRPr lang="en-GB"/>
          </a:p>
        </p:txBody>
      </p:sp>
      <p:sp>
        <p:nvSpPr>
          <p:cNvPr id="14" name="Text 12"/>
          <p:cNvSpPr/>
          <p:nvPr/>
        </p:nvSpPr>
        <p:spPr>
          <a:xfrm>
            <a:off x="350215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"I wanted another go straight away."</a:t>
            </a:r>
            <a:endParaRPr lang="en-US" sz="1350" dirty="0"/>
          </a:p>
        </p:txBody>
      </p:sp>
      <p:sp>
        <p:nvSpPr>
          <p:cNvPr id="15" name="Shape 13"/>
          <p:cNvSpPr/>
          <p:nvPr/>
        </p:nvSpPr>
        <p:spPr>
          <a:xfrm>
            <a:off x="3502152" y="3657600"/>
            <a:ext cx="228600" cy="36576"/>
          </a:xfrm>
          <a:prstGeom prst="rect">
            <a:avLst/>
          </a:prstGeom>
          <a:solidFill>
            <a:srgbClr val="555555"/>
          </a:solidFill>
          <a:ln/>
        </p:spPr>
        <p:txBody>
          <a:bodyPr/>
          <a:lstStyle/>
          <a:p>
            <a:endParaRPr lang="en-GB"/>
          </a:p>
        </p:txBody>
      </p:sp>
      <p:sp>
        <p:nvSpPr>
          <p:cNvPr id="16" name="Text 14"/>
          <p:cNvSpPr/>
          <p:nvPr/>
        </p:nvSpPr>
        <p:spPr>
          <a:xfrm>
            <a:off x="350215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4</a:t>
            </a:r>
            <a:endParaRPr lang="en-US" sz="1050" dirty="0"/>
          </a:p>
        </p:txBody>
      </p:sp>
      <p:sp>
        <p:nvSpPr>
          <p:cNvPr id="17" name="Shape 15"/>
          <p:cNvSpPr/>
          <p:nvPr/>
        </p:nvSpPr>
        <p:spPr>
          <a:xfrm>
            <a:off x="6217920" y="1965960"/>
            <a:ext cx="2651760" cy="2468880"/>
          </a:xfrm>
          <a:prstGeom prst="rect">
            <a:avLst/>
          </a:prstGeom>
          <a:solidFill>
            <a:srgbClr val="1A1A1A"/>
          </a:solidFill>
          <a:ln/>
        </p:spPr>
        <p:txBody>
          <a:bodyPr/>
          <a:lstStyle/>
          <a:p>
            <a:endParaRPr lang="en-GB"/>
          </a:p>
        </p:txBody>
      </p:sp>
      <p:sp>
        <p:nvSpPr>
          <p:cNvPr id="18" name="Shape 16"/>
          <p:cNvSpPr/>
          <p:nvPr/>
        </p:nvSpPr>
        <p:spPr>
          <a:xfrm>
            <a:off x="6217920" y="1965960"/>
            <a:ext cx="2651760" cy="54864"/>
          </a:xfrm>
          <a:prstGeom prst="rect">
            <a:avLst/>
          </a:prstGeom>
          <a:solidFill>
            <a:srgbClr val="FFCD00"/>
          </a:solidFill>
          <a:ln/>
        </p:spPr>
        <p:txBody>
          <a:bodyPr/>
          <a:lstStyle/>
          <a:p>
            <a:endParaRPr lang="en-GB"/>
          </a:p>
        </p:txBody>
      </p:sp>
      <p:sp>
        <p:nvSpPr>
          <p:cNvPr id="19" name="Text 17"/>
          <p:cNvSpPr/>
          <p:nvPr/>
        </p:nvSpPr>
        <p:spPr>
          <a:xfrm>
            <a:off x="6382512" y="2148840"/>
            <a:ext cx="2331720" cy="1463040"/>
          </a:xfrm>
          <a:prstGeom prst="rect">
            <a:avLst/>
          </a:prstGeom>
          <a:noFill/>
          <a:ln/>
        </p:spPr>
        <p:txBody>
          <a:bodyPr wrap="square" rtlCol="0" anchor="ctr"/>
          <a:lstStyle/>
          <a:p>
            <a:pPr marL="0" indent="0">
              <a:buNone/>
            </a:pPr>
            <a:r>
              <a:rPr lang="en-US" sz="1350" i="1" dirty="0">
                <a:solidFill>
                  <a:srgbClr val="FFFFFF"/>
                </a:solidFill>
                <a:latin typeface="Arial" pitchFamily="34" charset="0"/>
                <a:ea typeface="Arial" pitchFamily="34" charset="-122"/>
                <a:cs typeface="Arial" pitchFamily="34" charset="-120"/>
              </a:rPr>
              <a:t>"Questions felt hard but fair."</a:t>
            </a:r>
            <a:endParaRPr lang="en-US" sz="1350" dirty="0"/>
          </a:p>
        </p:txBody>
      </p:sp>
      <p:sp>
        <p:nvSpPr>
          <p:cNvPr id="20" name="Shape 18"/>
          <p:cNvSpPr/>
          <p:nvPr/>
        </p:nvSpPr>
        <p:spPr>
          <a:xfrm>
            <a:off x="6382512" y="3657600"/>
            <a:ext cx="228600" cy="36576"/>
          </a:xfrm>
          <a:prstGeom prst="rect">
            <a:avLst/>
          </a:prstGeom>
          <a:solidFill>
            <a:srgbClr val="555555"/>
          </a:solidFill>
          <a:ln/>
        </p:spPr>
        <p:txBody>
          <a:bodyPr/>
          <a:lstStyle/>
          <a:p>
            <a:endParaRPr lang="en-GB"/>
          </a:p>
        </p:txBody>
      </p:sp>
      <p:sp>
        <p:nvSpPr>
          <p:cNvPr id="21" name="Text 19"/>
          <p:cNvSpPr/>
          <p:nvPr/>
        </p:nvSpPr>
        <p:spPr>
          <a:xfrm>
            <a:off x="6382512" y="3767328"/>
            <a:ext cx="2331720" cy="365760"/>
          </a:xfrm>
          <a:prstGeom prst="rect">
            <a:avLst/>
          </a:prstGeom>
          <a:noFill/>
          <a:ln/>
        </p:spPr>
        <p:txBody>
          <a:bodyPr wrap="square" rtlCol="0" anchor="ctr"/>
          <a:lstStyle/>
          <a:p>
            <a:pPr marL="0" indent="0">
              <a:buNone/>
            </a:pPr>
            <a:r>
              <a:rPr lang="en-US" sz="1050" dirty="0">
                <a:solidFill>
                  <a:srgbClr val="555555"/>
                </a:solidFill>
                <a:latin typeface="Arial" pitchFamily="34" charset="0"/>
                <a:ea typeface="Arial" pitchFamily="34" charset="-122"/>
                <a:cs typeface="Arial" pitchFamily="34" charset="-120"/>
              </a:rPr>
              <a:t>Peer tester, Sprint 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THE PRODUCT</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16 / 18</a:t>
            </a:r>
            <a:endParaRPr lang="en-US" sz="900" dirty="0"/>
          </a:p>
        </p:txBody>
      </p:sp>
      <p:sp>
        <p:nvSpPr>
          <p:cNvPr id="5" name="Text 3"/>
          <p:cNvSpPr/>
          <p:nvPr/>
        </p:nvSpPr>
        <p:spPr>
          <a:xfrm>
            <a:off x="457200" y="457200"/>
            <a:ext cx="8229600" cy="660400"/>
          </a:xfrm>
          <a:prstGeom prst="rect">
            <a:avLst/>
          </a:prstGeom>
          <a:noFill/>
          <a:ln/>
        </p:spPr>
        <p:txBody>
          <a:bodyPr wrap="square" rtlCol="0" anchor="ctr"/>
          <a:lstStyle/>
          <a:p>
            <a:pPr marL="0" indent="0">
              <a:buNone/>
            </a:pPr>
            <a:r>
              <a:rPr lang="en-US" sz="2600" b="1" dirty="0">
                <a:solidFill>
                  <a:srgbClr val="FFFFFF"/>
                </a:solidFill>
                <a:latin typeface="Arial Black" pitchFamily="34" charset="0"/>
                <a:ea typeface="Arial Black" pitchFamily="34" charset="-122"/>
                <a:cs typeface="Arial Black" pitchFamily="34" charset="-120"/>
              </a:rPr>
              <a:t>This is what we built.</a:t>
            </a:r>
            <a:endParaRPr lang="en-US" sz="2600" dirty="0"/>
          </a:p>
        </p:txBody>
      </p:sp>
      <p:sp>
        <p:nvSpPr>
          <p:cNvPr id="6" name="Shape 4"/>
          <p:cNvSpPr/>
          <p:nvPr/>
        </p:nvSpPr>
        <p:spPr>
          <a:xfrm>
            <a:off x="1682496" y="1170432"/>
            <a:ext cx="5779008" cy="3639312"/>
          </a:xfrm>
          <a:prstGeom prst="rect">
            <a:avLst/>
          </a:prstGeom>
          <a:solidFill>
            <a:srgbClr val="FFCD00"/>
          </a:solidFill>
          <a:ln/>
        </p:spPr>
        <p:txBody>
          <a:bodyPr/>
          <a:lstStyle/>
          <a:p>
            <a:endParaRPr lang="en-GB"/>
          </a:p>
        </p:txBody>
      </p:sp>
      <p:pic>
        <p:nvPicPr>
          <p:cNvPr id="7" name="Image 0" descr="C:/Ninja Quiz/shots/03-game.png"/>
          <p:cNvPicPr>
            <a:picLocks noChangeAspect="1"/>
          </p:cNvPicPr>
          <p:nvPr/>
        </p:nvPicPr>
        <p:blipFill>
          <a:blip r:embed="rId3"/>
          <a:stretch>
            <a:fillRect/>
          </a:stretch>
        </p:blipFill>
        <p:spPr>
          <a:xfrm>
            <a:off x="1719072" y="1207008"/>
            <a:ext cx="5705856" cy="35661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D0D"/>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FFCD00"/>
          </a:solidFill>
          <a:ln/>
        </p:spPr>
        <p:txBody>
          <a:bodyPr/>
          <a:lstStyle/>
          <a:p>
            <a:endParaRPr lang="en-GB"/>
          </a:p>
        </p:txBody>
      </p:sp>
      <p:sp>
        <p:nvSpPr>
          <p:cNvPr id="3" name="Text 1"/>
          <p:cNvSpPr/>
          <p:nvPr/>
        </p:nvSpPr>
        <p:spPr>
          <a:xfrm>
            <a:off x="457200" y="274320"/>
            <a:ext cx="6400800" cy="228600"/>
          </a:xfrm>
          <a:prstGeom prst="rect">
            <a:avLst/>
          </a:prstGeom>
          <a:noFill/>
          <a:ln/>
        </p:spPr>
        <p:txBody>
          <a:bodyPr wrap="square" rtlCol="0" anchor="ctr"/>
          <a:lstStyle/>
          <a:p>
            <a:pPr marL="0" indent="0">
              <a:buNone/>
            </a:pPr>
            <a:r>
              <a:rPr lang="en-US" sz="1000" b="1" kern="0" spc="200" dirty="0">
                <a:solidFill>
                  <a:srgbClr val="555555"/>
                </a:solidFill>
                <a:latin typeface="Arial" pitchFamily="34" charset="0"/>
                <a:ea typeface="Arial" pitchFamily="34" charset="-122"/>
                <a:cs typeface="Arial" pitchFamily="34" charset="-120"/>
              </a:rPr>
              <a:t>WHAT WE LEARNED</a:t>
            </a:r>
            <a:endParaRPr lang="en-US" sz="1000" dirty="0"/>
          </a:p>
        </p:txBody>
      </p:sp>
      <p:sp>
        <p:nvSpPr>
          <p:cNvPr id="4" name="Text 2"/>
          <p:cNvSpPr/>
          <p:nvPr/>
        </p:nvSpPr>
        <p:spPr>
          <a:xfrm>
            <a:off x="3657600" y="4919472"/>
            <a:ext cx="5212080" cy="182880"/>
          </a:xfrm>
          <a:prstGeom prst="rect">
            <a:avLst/>
          </a:prstGeom>
          <a:noFill/>
          <a:ln/>
        </p:spPr>
        <p:txBody>
          <a:bodyPr wrap="square" rtlCol="0" anchor="ctr"/>
          <a:lstStyle/>
          <a:p>
            <a:pPr marL="0" indent="0" algn="r">
              <a:buNone/>
            </a:pPr>
            <a:r>
              <a:rPr lang="en-US" sz="900" dirty="0">
                <a:solidFill>
                  <a:srgbClr val="555555"/>
                </a:solidFill>
                <a:latin typeface="Arial" pitchFamily="34" charset="0"/>
                <a:ea typeface="Arial" pitchFamily="34" charset="-122"/>
                <a:cs typeface="Arial" pitchFamily="34" charset="-120"/>
              </a:rPr>
              <a:t>NINJA QUIZ  ·  503IT  ·  17 / 18</a:t>
            </a:r>
            <a:endParaRPr lang="en-US" sz="900" dirty="0"/>
          </a:p>
        </p:txBody>
      </p:sp>
      <p:sp>
        <p:nvSpPr>
          <p:cNvPr id="5" name="Text 3"/>
          <p:cNvSpPr/>
          <p:nvPr/>
        </p:nvSpPr>
        <p:spPr>
          <a:xfrm>
            <a:off x="457200" y="1005840"/>
            <a:ext cx="8229600" cy="1320800"/>
          </a:xfrm>
          <a:prstGeom prst="rect">
            <a:avLst/>
          </a:prstGeom>
          <a:noFill/>
          <a:ln/>
        </p:spPr>
        <p:txBody>
          <a:bodyPr wrap="square" rtlCol="0" anchor="ctr"/>
          <a:lstStyle/>
          <a:p>
            <a:pPr marL="0" indent="0">
              <a:buNone/>
            </a:pPr>
            <a:r>
              <a:rPr lang="en-US" sz="5200" b="1" dirty="0">
                <a:solidFill>
                  <a:srgbClr val="FFFFFF"/>
                </a:solidFill>
                <a:latin typeface="Arial Black" pitchFamily="34" charset="0"/>
                <a:ea typeface="Arial Black" pitchFamily="34" charset="-122"/>
                <a:cs typeface="Arial Black" pitchFamily="34" charset="-120"/>
              </a:rPr>
              <a:t>Communication</a:t>
            </a:r>
            <a:endParaRPr lang="en-US" sz="5200" dirty="0"/>
          </a:p>
          <a:p>
            <a:pPr marL="0" indent="0">
              <a:buNone/>
            </a:pPr>
            <a:r>
              <a:rPr lang="en-US" sz="5200" b="1" dirty="0">
                <a:solidFill>
                  <a:srgbClr val="FFFFFF"/>
                </a:solidFill>
                <a:latin typeface="Arial Black" pitchFamily="34" charset="0"/>
                <a:ea typeface="Arial Black" pitchFamily="34" charset="-122"/>
                <a:cs typeface="Arial Black" pitchFamily="34" charset="-120"/>
              </a:rPr>
              <a:t>built the product.</a:t>
            </a:r>
            <a:endParaRPr lang="en-US" sz="5200" dirty="0"/>
          </a:p>
        </p:txBody>
      </p:sp>
      <p:sp>
        <p:nvSpPr>
          <p:cNvPr id="6" name="Shape 4"/>
          <p:cNvSpPr/>
          <p:nvPr/>
        </p:nvSpPr>
        <p:spPr>
          <a:xfrm>
            <a:off x="457200" y="3291840"/>
            <a:ext cx="8229600" cy="10973"/>
          </a:xfrm>
          <a:prstGeom prst="rect">
            <a:avLst/>
          </a:prstGeom>
          <a:solidFill>
            <a:srgbClr val="222222"/>
          </a:solidFill>
          <a:ln/>
        </p:spPr>
        <p:txBody>
          <a:bodyPr/>
          <a:lstStyle/>
          <a:p>
            <a:endParaRPr lang="en-GB"/>
          </a:p>
        </p:txBody>
      </p:sp>
      <p:sp>
        <p:nvSpPr>
          <p:cNvPr id="7" name="Text 5"/>
          <p:cNvSpPr/>
          <p:nvPr/>
        </p:nvSpPr>
        <p:spPr>
          <a:xfrm>
            <a:off x="457200" y="3429000"/>
            <a:ext cx="7772400" cy="320040"/>
          </a:xfrm>
          <a:prstGeom prst="rect">
            <a:avLst/>
          </a:prstGeom>
          <a:noFill/>
          <a:ln/>
        </p:spPr>
        <p:txBody>
          <a:bodyPr wrap="square" rtlCol="0" anchor="ctr"/>
          <a:lstStyle/>
          <a:p>
            <a:pPr marL="0" indent="0">
              <a:buNone/>
            </a:pPr>
            <a:r>
              <a:rPr lang="en-US" sz="1400" dirty="0">
                <a:solidFill>
                  <a:srgbClr val="555555"/>
                </a:solidFill>
                <a:latin typeface="Arial" pitchFamily="34" charset="0"/>
                <a:ea typeface="Arial" pitchFamily="34" charset="-122"/>
                <a:cs typeface="Arial" pitchFamily="34" charset="-120"/>
              </a:rPr>
              <a:t>Not the code. Not the tools. The way five people stayed aligned.</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CD00"/>
        </a:solidFill>
        <a:effectLst/>
      </p:bgPr>
    </p:bg>
    <p:spTree>
      <p:nvGrpSpPr>
        <p:cNvPr id="1" name=""/>
        <p:cNvGrpSpPr/>
        <p:nvPr/>
      </p:nvGrpSpPr>
      <p:grpSpPr>
        <a:xfrm>
          <a:off x="0" y="0"/>
          <a:ext cx="0" cy="0"/>
          <a:chOff x="0" y="0"/>
          <a:chExt cx="0" cy="0"/>
        </a:xfrm>
      </p:grpSpPr>
      <p:sp>
        <p:nvSpPr>
          <p:cNvPr id="2" name="Shape 0"/>
          <p:cNvSpPr/>
          <p:nvPr/>
        </p:nvSpPr>
        <p:spPr>
          <a:xfrm>
            <a:off x="8458200" y="201168"/>
            <a:ext cx="256032" cy="256032"/>
          </a:xfrm>
          <a:prstGeom prst="ellipse">
            <a:avLst/>
          </a:prstGeom>
          <a:solidFill>
            <a:srgbClr val="DDDDDD"/>
          </a:solidFill>
          <a:ln/>
        </p:spPr>
        <p:txBody>
          <a:bodyPr/>
          <a:lstStyle/>
          <a:p>
            <a:endParaRPr lang="en-GB"/>
          </a:p>
        </p:txBody>
      </p:sp>
      <p:sp>
        <p:nvSpPr>
          <p:cNvPr id="3" name="Text 1"/>
          <p:cNvSpPr/>
          <p:nvPr/>
        </p:nvSpPr>
        <p:spPr>
          <a:xfrm>
            <a:off x="457200" y="1280160"/>
            <a:ext cx="8229600" cy="1645920"/>
          </a:xfrm>
          <a:prstGeom prst="rect">
            <a:avLst/>
          </a:prstGeom>
          <a:noFill/>
          <a:ln/>
        </p:spPr>
        <p:txBody>
          <a:bodyPr wrap="square" rtlCol="0" anchor="ctr"/>
          <a:lstStyle/>
          <a:p>
            <a:pPr marL="0" indent="0">
              <a:buNone/>
            </a:pPr>
            <a:r>
              <a:rPr lang="en-US" sz="8000" b="1" dirty="0">
                <a:solidFill>
                  <a:srgbClr val="111111"/>
                </a:solidFill>
                <a:latin typeface="Arial Black" pitchFamily="34" charset="0"/>
                <a:ea typeface="Arial Black" pitchFamily="34" charset="-122"/>
                <a:cs typeface="Arial Black" pitchFamily="34" charset="-120"/>
              </a:rPr>
              <a:t>Thank you.</a:t>
            </a:r>
            <a:endParaRPr lang="en-US" sz="8000" dirty="0"/>
          </a:p>
        </p:txBody>
      </p:sp>
      <p:sp>
        <p:nvSpPr>
          <p:cNvPr id="4" name="Shape 2"/>
          <p:cNvSpPr/>
          <p:nvPr/>
        </p:nvSpPr>
        <p:spPr>
          <a:xfrm>
            <a:off x="475488" y="3246120"/>
            <a:ext cx="1645920" cy="45720"/>
          </a:xfrm>
          <a:prstGeom prst="rect">
            <a:avLst/>
          </a:prstGeom>
          <a:solidFill>
            <a:srgbClr val="111111"/>
          </a:solidFill>
          <a:ln/>
        </p:spPr>
        <p:txBody>
          <a:bodyPr/>
          <a:lstStyle/>
          <a:p>
            <a:endParaRPr lang="en-GB"/>
          </a:p>
        </p:txBody>
      </p:sp>
      <p:sp>
        <p:nvSpPr>
          <p:cNvPr id="5" name="Text 3"/>
          <p:cNvSpPr/>
          <p:nvPr/>
        </p:nvSpPr>
        <p:spPr>
          <a:xfrm>
            <a:off x="475488" y="3429000"/>
            <a:ext cx="8229600" cy="365760"/>
          </a:xfrm>
          <a:prstGeom prst="rect">
            <a:avLst/>
          </a:prstGeom>
          <a:noFill/>
          <a:ln/>
        </p:spPr>
        <p:txBody>
          <a:bodyPr wrap="square" rtlCol="0" anchor="ctr"/>
          <a:lstStyle/>
          <a:p>
            <a:pPr marL="0" indent="0">
              <a:buNone/>
            </a:pPr>
            <a:r>
              <a:rPr lang="en-US" sz="1500" dirty="0">
                <a:solidFill>
                  <a:srgbClr val="333333"/>
                </a:solidFill>
                <a:latin typeface="Arial" pitchFamily="34" charset="0"/>
                <a:ea typeface="Arial" pitchFamily="34" charset="-122"/>
                <a:cs typeface="Arial" pitchFamily="34" charset="-120"/>
              </a:rPr>
              <a:t>Questions welcome — happy to run a live demo.</a:t>
            </a:r>
            <a:endParaRPr lang="en-US" sz="1500" dirty="0"/>
          </a:p>
        </p:txBody>
      </p:sp>
      <p:sp>
        <p:nvSpPr>
          <p:cNvPr id="6" name="Text 4"/>
          <p:cNvSpPr/>
          <p:nvPr/>
        </p:nvSpPr>
        <p:spPr>
          <a:xfrm>
            <a:off x="475488" y="4754880"/>
            <a:ext cx="8229600" cy="228600"/>
          </a:xfrm>
          <a:prstGeom prst="rect">
            <a:avLst/>
          </a:prstGeom>
          <a:noFill/>
          <a:ln/>
        </p:spPr>
        <p:txBody>
          <a:bodyPr wrap="square" rtlCol="0" anchor="ctr"/>
          <a:lstStyle/>
          <a:p>
            <a:pPr marL="0" indent="0">
              <a:buNone/>
            </a:pPr>
            <a:r>
              <a:rPr lang="en-US" sz="1000" b="1" dirty="0">
                <a:solidFill>
                  <a:srgbClr val="444444"/>
                </a:solidFill>
                <a:latin typeface="Arial" pitchFamily="34" charset="0"/>
                <a:ea typeface="Arial" pitchFamily="34" charset="-122"/>
                <a:cs typeface="Arial" pitchFamily="34" charset="-120"/>
              </a:rPr>
              <a:t>Ninja Quiz  ·  Team The Originals  ·  503IT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1456</Words>
  <Application>Microsoft Office PowerPoint</Application>
  <PresentationFormat>On-screen Show (16:9)</PresentationFormat>
  <Paragraphs>187</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Arial Black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 C</cp:lastModifiedBy>
  <cp:revision>2</cp:revision>
  <dcterms:created xsi:type="dcterms:W3CDTF">2026-06-09T16:06:25Z</dcterms:created>
  <dcterms:modified xsi:type="dcterms:W3CDTF">2026-06-09T16:07:28Z</dcterms:modified>
</cp:coreProperties>
</file>