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75" r:id="rId26"/>
    <p:sldId id="265" r:id="rId11"/>
    <p:sldId id="266" r:id="rId12"/>
    <p:sldId id="267" r:id="rId13"/>
    <p:sldId id="268" r:id="rId14"/>
    <p:sldId id="269" r:id="rId15"/>
    <p:sldId id="270" r:id="rId16"/>
    <p:sldId id="271" r:id="rId17"/>
    <p:sldId id="272" r:id="rId18"/>
    <p:sldId id="276" r:id="rId27"/>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3" d="100"/>
          <a:sy n="143" d="100"/>
        </p:scale>
        <p:origin x="16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0.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xml"/><Relationship Id="rId26" Type="http://schemas.openxmlformats.org/officeDocument/2006/relationships/slide" Target="slides/slide10.xml"/><Relationship Id="rId27"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5444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The Originals. We were given a brief: build a game that teaches cyber-safety. This presentation is about how we worked together to do that.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brief existed. One in three children has already encountered an online risk — but passive teaching does not stick. The client needed something young people would actually engage with. That was our starting point.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talk about what we built — let's establish who we are and how we divided the work.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was divided so every person owned one module end-to-end. No overlap meant clear accountability — when something needed fixing, we knew exactly who to speak to. This was a deliberate decision made in our first meeting.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process — how we actually organised, communicated and made decisions as a team.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three tools deliberately. Trello kept tasks visible to everyone — no one had to ask 'what are you working on?' GitHub meant five people could write code at the same time without conflicts. WhatsApp was our daily pulse — stand-ups every week.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eight stand-ups over eight weeks. Same three questions every time. This kept every team member focused on progress and surfaced blockers early — before they became emergencies. The stand-up format came from Agile methodology.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in the project we recognised that undocumented decisions were causing confusion. We moved to a structured approach — minutes for every meeting, a Trello card for every decision. If someone was absent, they could catch up. Nothing was lost.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Agile methodology — five two-week sprints. Each sprint closed with a working demo and a team retrospective. This meant we were always building on something that worked, and the team reviewed its own process at the end of every cycle.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Halfway through the project, we hit our biggest challenge. This is where the team's communication structure was actually tested.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our make-or-break moment. The game ran but answer targets never appeared — the entire gameplay depended on them. The reason it was resolved in one day: the team communicated immediately. Everyone looked at the error log together. Root cause identified, component rebuilt. Not one person could have done that alone.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was not just a technical problem — it was a test of our process. And our process worked. Because every person knew their role, issues were raised immediately, and the team reviewed code collaboratively, we resolved it without delaying the sprint.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process covered — let's show what it produced.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delivered every client requirement. This was possible because of the structured process — clear roles, sprint planning, and documented decisions meant nothing was missed.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testing was part of Sprint 4 and 5. We gathered feedback from peers who had not seen the game before. Their responses validated that the game teaches while entertaining — and the desire to replay confirms educational retention.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Ninja Quiz in play. A cyber-safety question appears, four answer targets fly across the screen, and the player slices the correct one. The product is fully working and available for a live demo right now.</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biggest takeaway from this project: the game existed because of how we communicated — not just how we coded. Structured stand-ups, documented decisions, and fast escalation of issues made the difference between a broken prototype and a working product.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run a live demo of the game. We are also happy to walk through any part of the team process in more detail.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g"/><Relationship Id="rId4"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jpg"/><Relationship Id="rId4"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1005840"/>
            <a:ext cx="8229600" cy="1463040"/>
          </a:xfrm>
          <a:prstGeom prst="rect">
            <a:avLst/>
          </a:prstGeom>
          <a:noFill/>
          <a:ln/>
        </p:spPr>
        <p:txBody>
          <a:bodyPr wrap="square" rtlCol="0" anchor="ctr"/>
          <a:lstStyle/>
          <a:p>
            <a:pPr marL="0" indent="0">
              <a:buNone/>
            </a:pPr>
            <a:r>
              <a:rPr lang="en-US" sz="10000" b="1" dirty="0">
                <a:solidFill>
                  <a:srgbClr val="FFFFFF"/>
                </a:solidFill>
                <a:latin typeface="Arial Black" pitchFamily="34" charset="0"/>
                <a:ea typeface="Arial Black" pitchFamily="34" charset="-122"/>
                <a:cs typeface="Arial Black" pitchFamily="34" charset="-120"/>
              </a:rPr>
              <a:t>Ninja</a:t>
            </a:r>
            <a:endParaRPr lang="en-US" sz="10000" dirty="0"/>
          </a:p>
        </p:txBody>
      </p:sp>
      <p:sp>
        <p:nvSpPr>
          <p:cNvPr id="4" name="Text 2"/>
          <p:cNvSpPr/>
          <p:nvPr/>
        </p:nvSpPr>
        <p:spPr>
          <a:xfrm>
            <a:off x="457200" y="2331720"/>
            <a:ext cx="8229600" cy="1463040"/>
          </a:xfrm>
          <a:prstGeom prst="rect">
            <a:avLst/>
          </a:prstGeom>
          <a:noFill/>
          <a:ln/>
        </p:spPr>
        <p:txBody>
          <a:bodyPr wrap="square" rtlCol="0" anchor="ctr"/>
          <a:lstStyle/>
          <a:p>
            <a:pPr marL="0" indent="0">
              <a:buNone/>
            </a:pPr>
            <a:r>
              <a:rPr lang="en-US" sz="10000" b="1" dirty="0">
                <a:solidFill>
                  <a:srgbClr val="FFCD00"/>
                </a:solidFill>
                <a:latin typeface="Arial Black" pitchFamily="34" charset="0"/>
                <a:ea typeface="Arial Black" pitchFamily="34" charset="-122"/>
                <a:cs typeface="Arial Black" pitchFamily="34" charset="-120"/>
              </a:rPr>
              <a:t>Quiz.</a:t>
            </a:r>
            <a:endParaRPr lang="en-US" sz="10000" dirty="0"/>
          </a:p>
        </p:txBody>
      </p:sp>
      <p:sp>
        <p:nvSpPr>
          <p:cNvPr id="5" name="Text 3"/>
          <p:cNvSpPr/>
          <p:nvPr/>
        </p:nvSpPr>
        <p:spPr>
          <a:xfrm>
            <a:off x="457200" y="3977640"/>
            <a:ext cx="5486400" cy="320040"/>
          </a:xfrm>
          <a:prstGeom prst="rect">
            <a:avLst/>
          </a:prstGeom>
          <a:noFill/>
          <a:ln/>
        </p:spPr>
        <p:txBody>
          <a:bodyPr wrap="square" rtlCol="0" anchor="ctr"/>
          <a:lstStyle/>
          <a:p>
            <a:pPr marL="0" indent="0">
              <a:buNone/>
            </a:pPr>
            <a:r>
              <a:rPr lang="en-US" sz="1400" i="1" dirty="0">
                <a:solidFill>
                  <a:srgbClr val="555555"/>
                </a:solidFill>
                <a:latin typeface="Arial" pitchFamily="34" charset="0"/>
                <a:ea typeface="Arial" pitchFamily="34" charset="-122"/>
                <a:cs typeface="Arial" pitchFamily="34" charset="-120"/>
              </a:rPr>
              <a:t>Cyber-safety for young learners</a:t>
            </a:r>
            <a:endParaRPr lang="en-US" sz="1400" dirty="0"/>
          </a:p>
        </p:txBody>
      </p:sp>
      <p:sp>
        <p:nvSpPr>
          <p:cNvPr id="6" name="Text 4"/>
          <p:cNvSpPr/>
          <p:nvPr/>
        </p:nvSpPr>
        <p:spPr>
          <a:xfrm>
            <a:off x="457200" y="4800600"/>
            <a:ext cx="8229600" cy="228600"/>
          </a:xfrm>
          <a:prstGeom prst="rect">
            <a:avLst/>
          </a:prstGeom>
          <a:noFill/>
          <a:ln/>
        </p:spPr>
        <p:txBody>
          <a:bodyPr wrap="square" rtlCol="0" anchor="ctr"/>
          <a:lstStyle/>
          <a:p>
            <a:pPr marL="0" indent="0">
              <a:buNone/>
            </a:pPr>
            <a:r>
              <a:rPr lang="en-US" sz="1000" dirty="0">
                <a:solidFill>
                  <a:srgbClr val="555555"/>
                </a:solidFill>
                <a:latin typeface="Arial" pitchFamily="34" charset="0"/>
                <a:ea typeface="Arial" pitchFamily="34" charset="-122"/>
                <a:cs typeface="Arial" pitchFamily="34" charset="-120"/>
              </a:rPr>
              <a:t>503IT  ·  Team The Originals  ·  Coventry University London</a:t>
            </a:r>
            <a:endParaRPr lang="en-US" sz="10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457200" y="256032"/>
            <a:ext cx="6400800" cy="256032"/>
          </a:xfrm>
          <a:prstGeom prst="rect">
            <a:avLst/>
          </a:prstGeom>
          <a:noFill/>
        </p:spPr>
        <p:txBody>
          <a:bodyPr wrap="square">
            <a:spAutoFit/>
          </a:bodyPr>
          <a:lstStyle/>
          <a:p>
            <a:pPr algn="l"/>
            <a:r>
              <a:rPr sz="1000" b="1" i="0">
                <a:solidFill>
                  <a:srgbClr val="888888"/>
                </a:solidFill>
              </a:rPr>
              <a:t>WHAT WE WILL COVER</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3400" b="1" i="0">
                <a:solidFill>
                  <a:srgbClr val="FFFFFF"/>
                </a:solidFill>
              </a:rPr>
              <a:t>15 minutes.</a:t>
            </a:r>
          </a:p>
          <a:p>
            <a:pPr algn="l"/>
            <a:r>
              <a:rPr sz="3400" b="1" i="0">
                <a:solidFill>
                  <a:srgbClr val="FFFFFF"/>
                </a:solidFill>
              </a:rPr>
              <a:t>One story.</a:t>
            </a:r>
          </a:p>
        </p:txBody>
      </p:sp>
      <p:sp>
        <p:nvSpPr>
          <p:cNvPr id="5" name="TextBox 4"/>
          <p:cNvSpPr txBox="1"/>
          <p:nvPr/>
        </p:nvSpPr>
        <p:spPr>
          <a:xfrm>
            <a:off x="457200" y="1874519"/>
            <a:ext cx="640080" cy="292608"/>
          </a:xfrm>
          <a:prstGeom prst="rect">
            <a:avLst/>
          </a:prstGeom>
          <a:noFill/>
        </p:spPr>
        <p:txBody>
          <a:bodyPr wrap="square">
            <a:spAutoFit/>
          </a:bodyPr>
          <a:lstStyle/>
          <a:p>
            <a:pPr algn="l"/>
            <a:r>
              <a:rPr sz="1200" b="1" i="0">
                <a:solidFill>
                  <a:srgbClr val="FFCD00"/>
                </a:solidFill>
              </a:rPr>
              <a:t>01</a:t>
            </a:r>
          </a:p>
        </p:txBody>
      </p:sp>
      <p:sp>
        <p:nvSpPr>
          <p:cNvPr id="6" name="TextBox 5"/>
          <p:cNvSpPr txBox="1"/>
          <p:nvPr/>
        </p:nvSpPr>
        <p:spPr>
          <a:xfrm>
            <a:off x="1188720" y="1874519"/>
            <a:ext cx="7680960" cy="292608"/>
          </a:xfrm>
          <a:prstGeom prst="rect">
            <a:avLst/>
          </a:prstGeom>
          <a:noFill/>
        </p:spPr>
        <p:txBody>
          <a:bodyPr wrap="square">
            <a:spAutoFit/>
          </a:bodyPr>
          <a:lstStyle/>
          <a:p>
            <a:pPr algn="l"/>
            <a:r>
              <a:rPr sz="1200" b="0" i="0">
                <a:solidFill>
                  <a:srgbClr val="DDDDDD"/>
                </a:solidFill>
              </a:rPr>
              <a:t>The brief — and why we chose this audience</a:t>
            </a:r>
          </a:p>
        </p:txBody>
      </p:sp>
      <p:sp>
        <p:nvSpPr>
          <p:cNvPr id="7" name="TextBox 6"/>
          <p:cNvSpPr txBox="1"/>
          <p:nvPr/>
        </p:nvSpPr>
        <p:spPr>
          <a:xfrm>
            <a:off x="457200" y="2331720"/>
            <a:ext cx="640080" cy="292608"/>
          </a:xfrm>
          <a:prstGeom prst="rect">
            <a:avLst/>
          </a:prstGeom>
          <a:noFill/>
        </p:spPr>
        <p:txBody>
          <a:bodyPr wrap="square">
            <a:spAutoFit/>
          </a:bodyPr>
          <a:lstStyle/>
          <a:p>
            <a:pPr algn="l"/>
            <a:r>
              <a:rPr sz="1200" b="1" i="0">
                <a:solidFill>
                  <a:srgbClr val="FFCD00"/>
                </a:solidFill>
              </a:rPr>
              <a:t>02</a:t>
            </a:r>
          </a:p>
        </p:txBody>
      </p:sp>
      <p:sp>
        <p:nvSpPr>
          <p:cNvPr id="8" name="TextBox 7"/>
          <p:cNvSpPr txBox="1"/>
          <p:nvPr/>
        </p:nvSpPr>
        <p:spPr>
          <a:xfrm>
            <a:off x="1188720" y="2331720"/>
            <a:ext cx="7680960" cy="292608"/>
          </a:xfrm>
          <a:prstGeom prst="rect">
            <a:avLst/>
          </a:prstGeom>
          <a:noFill/>
        </p:spPr>
        <p:txBody>
          <a:bodyPr wrap="square">
            <a:spAutoFit/>
          </a:bodyPr>
          <a:lstStyle/>
          <a:p>
            <a:pPr algn="l"/>
            <a:r>
              <a:rPr sz="1200" b="0" i="0">
                <a:solidFill>
                  <a:srgbClr val="DDDDDD"/>
                </a:solidFill>
              </a:rPr>
              <a:t>Our team — roles and Belbin framework</a:t>
            </a:r>
          </a:p>
        </p:txBody>
      </p:sp>
      <p:sp>
        <p:nvSpPr>
          <p:cNvPr id="9" name="TextBox 8"/>
          <p:cNvSpPr txBox="1"/>
          <p:nvPr/>
        </p:nvSpPr>
        <p:spPr>
          <a:xfrm>
            <a:off x="457200" y="2788920"/>
            <a:ext cx="640080" cy="292608"/>
          </a:xfrm>
          <a:prstGeom prst="rect">
            <a:avLst/>
          </a:prstGeom>
          <a:noFill/>
        </p:spPr>
        <p:txBody>
          <a:bodyPr wrap="square">
            <a:spAutoFit/>
          </a:bodyPr>
          <a:lstStyle/>
          <a:p>
            <a:pPr algn="l"/>
            <a:r>
              <a:rPr sz="1200" b="1" i="0">
                <a:solidFill>
                  <a:srgbClr val="FFCD00"/>
                </a:solidFill>
              </a:rPr>
              <a:t>03</a:t>
            </a:r>
          </a:p>
        </p:txBody>
      </p:sp>
      <p:sp>
        <p:nvSpPr>
          <p:cNvPr id="10" name="TextBox 9"/>
          <p:cNvSpPr txBox="1"/>
          <p:nvPr/>
        </p:nvSpPr>
        <p:spPr>
          <a:xfrm>
            <a:off x="1188720" y="2788920"/>
            <a:ext cx="7680960" cy="292608"/>
          </a:xfrm>
          <a:prstGeom prst="rect">
            <a:avLst/>
          </a:prstGeom>
          <a:noFill/>
        </p:spPr>
        <p:txBody>
          <a:bodyPr wrap="square">
            <a:spAutoFit/>
          </a:bodyPr>
          <a:lstStyle/>
          <a:p>
            <a:pPr algn="l"/>
            <a:r>
              <a:rPr sz="1200" b="0" i="0">
                <a:solidFill>
                  <a:srgbClr val="DDDDDD"/>
                </a:solidFill>
              </a:rPr>
              <a:t>How we planned, communicated and tracked work</a:t>
            </a:r>
          </a:p>
        </p:txBody>
      </p:sp>
      <p:sp>
        <p:nvSpPr>
          <p:cNvPr id="11" name="TextBox 10"/>
          <p:cNvSpPr txBox="1"/>
          <p:nvPr/>
        </p:nvSpPr>
        <p:spPr>
          <a:xfrm>
            <a:off x="457200" y="3246120"/>
            <a:ext cx="640080" cy="292608"/>
          </a:xfrm>
          <a:prstGeom prst="rect">
            <a:avLst/>
          </a:prstGeom>
          <a:noFill/>
        </p:spPr>
        <p:txBody>
          <a:bodyPr wrap="square">
            <a:spAutoFit/>
          </a:bodyPr>
          <a:lstStyle/>
          <a:p>
            <a:pPr algn="l"/>
            <a:r>
              <a:rPr sz="1200" b="1" i="0">
                <a:solidFill>
                  <a:srgbClr val="FFCD00"/>
                </a:solidFill>
              </a:rPr>
              <a:t>04</a:t>
            </a:r>
          </a:p>
        </p:txBody>
      </p:sp>
      <p:sp>
        <p:nvSpPr>
          <p:cNvPr id="12" name="TextBox 11"/>
          <p:cNvSpPr txBox="1"/>
          <p:nvPr/>
        </p:nvSpPr>
        <p:spPr>
          <a:xfrm>
            <a:off x="1188720" y="3246120"/>
            <a:ext cx="7680960" cy="292608"/>
          </a:xfrm>
          <a:prstGeom prst="rect">
            <a:avLst/>
          </a:prstGeom>
          <a:noFill/>
        </p:spPr>
        <p:txBody>
          <a:bodyPr wrap="square">
            <a:spAutoFit/>
          </a:bodyPr>
          <a:lstStyle/>
          <a:p>
            <a:pPr algn="l"/>
            <a:r>
              <a:rPr sz="1200" b="0" i="0">
                <a:solidFill>
                  <a:srgbClr val="DDDDDD"/>
                </a:solidFill>
              </a:rPr>
              <a:t>Our delivery — 5 sprints and what each taught us</a:t>
            </a:r>
          </a:p>
        </p:txBody>
      </p:sp>
      <p:sp>
        <p:nvSpPr>
          <p:cNvPr id="13" name="TextBox 12"/>
          <p:cNvSpPr txBox="1"/>
          <p:nvPr/>
        </p:nvSpPr>
        <p:spPr>
          <a:xfrm>
            <a:off x="457200" y="3703320"/>
            <a:ext cx="640080" cy="292608"/>
          </a:xfrm>
          <a:prstGeom prst="rect">
            <a:avLst/>
          </a:prstGeom>
          <a:noFill/>
        </p:spPr>
        <p:txBody>
          <a:bodyPr wrap="square">
            <a:spAutoFit/>
          </a:bodyPr>
          <a:lstStyle/>
          <a:p>
            <a:pPr algn="l"/>
            <a:r>
              <a:rPr sz="1200" b="1" i="0">
                <a:solidFill>
                  <a:srgbClr val="FFCD00"/>
                </a:solidFill>
              </a:rPr>
              <a:t>05</a:t>
            </a:r>
          </a:p>
        </p:txBody>
      </p:sp>
      <p:sp>
        <p:nvSpPr>
          <p:cNvPr id="14" name="TextBox 13"/>
          <p:cNvSpPr txBox="1"/>
          <p:nvPr/>
        </p:nvSpPr>
        <p:spPr>
          <a:xfrm>
            <a:off x="1188720" y="3703320"/>
            <a:ext cx="7680960" cy="292608"/>
          </a:xfrm>
          <a:prstGeom prst="rect">
            <a:avLst/>
          </a:prstGeom>
          <a:noFill/>
        </p:spPr>
        <p:txBody>
          <a:bodyPr wrap="square">
            <a:spAutoFit/>
          </a:bodyPr>
          <a:lstStyle/>
          <a:p>
            <a:pPr algn="l"/>
            <a:r>
              <a:rPr sz="1200" b="0" i="0">
                <a:solidFill>
                  <a:srgbClr val="DDDDDD"/>
                </a:solidFill>
              </a:rPr>
              <a:t>The product — a live, playable prototype</a:t>
            </a:r>
          </a:p>
        </p:txBody>
      </p:sp>
      <p:sp>
        <p:nvSpPr>
          <p:cNvPr id="15" name="TextBox 14"/>
          <p:cNvSpPr txBox="1"/>
          <p:nvPr/>
        </p:nvSpPr>
        <p:spPr>
          <a:xfrm>
            <a:off x="457200" y="4160520"/>
            <a:ext cx="640080" cy="292608"/>
          </a:xfrm>
          <a:prstGeom prst="rect">
            <a:avLst/>
          </a:prstGeom>
          <a:noFill/>
        </p:spPr>
        <p:txBody>
          <a:bodyPr wrap="square">
            <a:spAutoFit/>
          </a:bodyPr>
          <a:lstStyle/>
          <a:p>
            <a:pPr algn="l"/>
            <a:r>
              <a:rPr sz="1200" b="1" i="0">
                <a:solidFill>
                  <a:srgbClr val="FFCD00"/>
                </a:solidFill>
              </a:rPr>
              <a:t>06</a:t>
            </a:r>
          </a:p>
        </p:txBody>
      </p:sp>
      <p:sp>
        <p:nvSpPr>
          <p:cNvPr id="16" name="TextBox 15"/>
          <p:cNvSpPr txBox="1"/>
          <p:nvPr/>
        </p:nvSpPr>
        <p:spPr>
          <a:xfrm>
            <a:off x="1188720" y="4160520"/>
            <a:ext cx="7680960" cy="292608"/>
          </a:xfrm>
          <a:prstGeom prst="rect">
            <a:avLst/>
          </a:prstGeom>
          <a:noFill/>
        </p:spPr>
        <p:txBody>
          <a:bodyPr wrap="square">
            <a:spAutoFit/>
          </a:bodyPr>
          <a:lstStyle/>
          <a:p>
            <a:pPr algn="l"/>
            <a:r>
              <a:rPr sz="1200" b="0" i="0">
                <a:solidFill>
                  <a:srgbClr val="DDDDDD"/>
                </a:solidFill>
              </a:rPr>
              <a:t>What we learned — and how it shapes our careers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457200" y="256032"/>
            <a:ext cx="6400800" cy="256032"/>
          </a:xfrm>
          <a:prstGeom prst="rect">
            <a:avLst/>
          </a:prstGeom>
          <a:noFill/>
        </p:spPr>
        <p:txBody>
          <a:bodyPr wrap="square">
            <a:spAutoFit/>
          </a:bodyPr>
          <a:lstStyle/>
          <a:p>
            <a:pPr algn="l"/>
            <a:r>
              <a:rPr sz="1000" b="1" i="0">
                <a:solidFill>
                  <a:srgbClr val="888888"/>
                </a:solidFill>
              </a:rPr>
              <a:t>WHAT WE WILL COVER</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3400" b="1" i="0">
                <a:solidFill>
                  <a:srgbClr val="FFFFFF"/>
                </a:solidFill>
              </a:rPr>
              <a:t>15 minutes.</a:t>
            </a:r>
          </a:p>
          <a:p>
            <a:pPr algn="l"/>
            <a:r>
              <a:rPr sz="3400" b="1" i="0">
                <a:solidFill>
                  <a:srgbClr val="FFFFFF"/>
                </a:solidFill>
              </a:rPr>
              <a:t>One story.</a:t>
            </a:r>
          </a:p>
        </p:txBody>
      </p:sp>
      <p:sp>
        <p:nvSpPr>
          <p:cNvPr id="5" name="TextBox 4"/>
          <p:cNvSpPr txBox="1"/>
          <p:nvPr/>
        </p:nvSpPr>
        <p:spPr>
          <a:xfrm>
            <a:off x="457200" y="1874519"/>
            <a:ext cx="640080" cy="292608"/>
          </a:xfrm>
          <a:prstGeom prst="rect">
            <a:avLst/>
          </a:prstGeom>
          <a:noFill/>
        </p:spPr>
        <p:txBody>
          <a:bodyPr wrap="square">
            <a:spAutoFit/>
          </a:bodyPr>
          <a:lstStyle/>
          <a:p>
            <a:pPr algn="l"/>
            <a:r>
              <a:rPr sz="1200" b="1" i="0">
                <a:solidFill>
                  <a:srgbClr val="FFCD00"/>
                </a:solidFill>
              </a:rPr>
              <a:t>01</a:t>
            </a:r>
          </a:p>
        </p:txBody>
      </p:sp>
      <p:sp>
        <p:nvSpPr>
          <p:cNvPr id="6" name="TextBox 5"/>
          <p:cNvSpPr txBox="1"/>
          <p:nvPr/>
        </p:nvSpPr>
        <p:spPr>
          <a:xfrm>
            <a:off x="1188720" y="1874519"/>
            <a:ext cx="7680960" cy="292608"/>
          </a:xfrm>
          <a:prstGeom prst="rect">
            <a:avLst/>
          </a:prstGeom>
          <a:noFill/>
        </p:spPr>
        <p:txBody>
          <a:bodyPr wrap="square">
            <a:spAutoFit/>
          </a:bodyPr>
          <a:lstStyle/>
          <a:p>
            <a:pPr algn="l"/>
            <a:r>
              <a:rPr sz="1200" b="0" i="0">
                <a:solidFill>
                  <a:srgbClr val="DDDDDD"/>
                </a:solidFill>
              </a:rPr>
              <a:t>The brief — and why we chose this audience</a:t>
            </a:r>
          </a:p>
        </p:txBody>
      </p:sp>
      <p:sp>
        <p:nvSpPr>
          <p:cNvPr id="7" name="TextBox 6"/>
          <p:cNvSpPr txBox="1"/>
          <p:nvPr/>
        </p:nvSpPr>
        <p:spPr>
          <a:xfrm>
            <a:off x="457200" y="2331720"/>
            <a:ext cx="640080" cy="292608"/>
          </a:xfrm>
          <a:prstGeom prst="rect">
            <a:avLst/>
          </a:prstGeom>
          <a:noFill/>
        </p:spPr>
        <p:txBody>
          <a:bodyPr wrap="square">
            <a:spAutoFit/>
          </a:bodyPr>
          <a:lstStyle/>
          <a:p>
            <a:pPr algn="l"/>
            <a:r>
              <a:rPr sz="1200" b="1" i="0">
                <a:solidFill>
                  <a:srgbClr val="FFCD00"/>
                </a:solidFill>
              </a:rPr>
              <a:t>02</a:t>
            </a:r>
          </a:p>
        </p:txBody>
      </p:sp>
      <p:sp>
        <p:nvSpPr>
          <p:cNvPr id="8" name="TextBox 7"/>
          <p:cNvSpPr txBox="1"/>
          <p:nvPr/>
        </p:nvSpPr>
        <p:spPr>
          <a:xfrm>
            <a:off x="1188720" y="2331720"/>
            <a:ext cx="7680960" cy="292608"/>
          </a:xfrm>
          <a:prstGeom prst="rect">
            <a:avLst/>
          </a:prstGeom>
          <a:noFill/>
        </p:spPr>
        <p:txBody>
          <a:bodyPr wrap="square">
            <a:spAutoFit/>
          </a:bodyPr>
          <a:lstStyle/>
          <a:p>
            <a:pPr algn="l"/>
            <a:r>
              <a:rPr sz="1200" b="0" i="0">
                <a:solidFill>
                  <a:srgbClr val="DDDDDD"/>
                </a:solidFill>
              </a:rPr>
              <a:t>Our team — roles and Belbin framework</a:t>
            </a:r>
          </a:p>
        </p:txBody>
      </p:sp>
      <p:sp>
        <p:nvSpPr>
          <p:cNvPr id="9" name="TextBox 8"/>
          <p:cNvSpPr txBox="1"/>
          <p:nvPr/>
        </p:nvSpPr>
        <p:spPr>
          <a:xfrm>
            <a:off x="457200" y="2788920"/>
            <a:ext cx="640080" cy="292608"/>
          </a:xfrm>
          <a:prstGeom prst="rect">
            <a:avLst/>
          </a:prstGeom>
          <a:noFill/>
        </p:spPr>
        <p:txBody>
          <a:bodyPr wrap="square">
            <a:spAutoFit/>
          </a:bodyPr>
          <a:lstStyle/>
          <a:p>
            <a:pPr algn="l"/>
            <a:r>
              <a:rPr sz="1200" b="1" i="0">
                <a:solidFill>
                  <a:srgbClr val="FFCD00"/>
                </a:solidFill>
              </a:rPr>
              <a:t>03</a:t>
            </a:r>
          </a:p>
        </p:txBody>
      </p:sp>
      <p:sp>
        <p:nvSpPr>
          <p:cNvPr id="10" name="TextBox 9"/>
          <p:cNvSpPr txBox="1"/>
          <p:nvPr/>
        </p:nvSpPr>
        <p:spPr>
          <a:xfrm>
            <a:off x="1188720" y="2788920"/>
            <a:ext cx="7680960" cy="292608"/>
          </a:xfrm>
          <a:prstGeom prst="rect">
            <a:avLst/>
          </a:prstGeom>
          <a:noFill/>
        </p:spPr>
        <p:txBody>
          <a:bodyPr wrap="square">
            <a:spAutoFit/>
          </a:bodyPr>
          <a:lstStyle/>
          <a:p>
            <a:pPr algn="l"/>
            <a:r>
              <a:rPr sz="1200" b="0" i="0">
                <a:solidFill>
                  <a:srgbClr val="DDDDDD"/>
                </a:solidFill>
              </a:rPr>
              <a:t>How we planned, communicated and tracked work</a:t>
            </a:r>
          </a:p>
        </p:txBody>
      </p:sp>
      <p:sp>
        <p:nvSpPr>
          <p:cNvPr id="11" name="TextBox 10"/>
          <p:cNvSpPr txBox="1"/>
          <p:nvPr/>
        </p:nvSpPr>
        <p:spPr>
          <a:xfrm>
            <a:off x="457200" y="3246120"/>
            <a:ext cx="640080" cy="292608"/>
          </a:xfrm>
          <a:prstGeom prst="rect">
            <a:avLst/>
          </a:prstGeom>
          <a:noFill/>
        </p:spPr>
        <p:txBody>
          <a:bodyPr wrap="square">
            <a:spAutoFit/>
          </a:bodyPr>
          <a:lstStyle/>
          <a:p>
            <a:pPr algn="l"/>
            <a:r>
              <a:rPr sz="1200" b="1" i="0">
                <a:solidFill>
                  <a:srgbClr val="FFCD00"/>
                </a:solidFill>
              </a:rPr>
              <a:t>04</a:t>
            </a:r>
          </a:p>
        </p:txBody>
      </p:sp>
      <p:sp>
        <p:nvSpPr>
          <p:cNvPr id="12" name="TextBox 11"/>
          <p:cNvSpPr txBox="1"/>
          <p:nvPr/>
        </p:nvSpPr>
        <p:spPr>
          <a:xfrm>
            <a:off x="1188720" y="3246120"/>
            <a:ext cx="7680960" cy="292608"/>
          </a:xfrm>
          <a:prstGeom prst="rect">
            <a:avLst/>
          </a:prstGeom>
          <a:noFill/>
        </p:spPr>
        <p:txBody>
          <a:bodyPr wrap="square">
            <a:spAutoFit/>
          </a:bodyPr>
          <a:lstStyle/>
          <a:p>
            <a:pPr algn="l"/>
            <a:r>
              <a:rPr sz="1200" b="0" i="0">
                <a:solidFill>
                  <a:srgbClr val="DDDDDD"/>
                </a:solidFill>
              </a:rPr>
              <a:t>Our delivery — 5 sprints and what each taught us</a:t>
            </a:r>
          </a:p>
        </p:txBody>
      </p:sp>
      <p:sp>
        <p:nvSpPr>
          <p:cNvPr id="13" name="TextBox 12"/>
          <p:cNvSpPr txBox="1"/>
          <p:nvPr/>
        </p:nvSpPr>
        <p:spPr>
          <a:xfrm>
            <a:off x="457200" y="3703320"/>
            <a:ext cx="640080" cy="292608"/>
          </a:xfrm>
          <a:prstGeom prst="rect">
            <a:avLst/>
          </a:prstGeom>
          <a:noFill/>
        </p:spPr>
        <p:txBody>
          <a:bodyPr wrap="square">
            <a:spAutoFit/>
          </a:bodyPr>
          <a:lstStyle/>
          <a:p>
            <a:pPr algn="l"/>
            <a:r>
              <a:rPr sz="1200" b="1" i="0">
                <a:solidFill>
                  <a:srgbClr val="FFCD00"/>
                </a:solidFill>
              </a:rPr>
              <a:t>05</a:t>
            </a:r>
          </a:p>
        </p:txBody>
      </p:sp>
      <p:sp>
        <p:nvSpPr>
          <p:cNvPr id="14" name="TextBox 13"/>
          <p:cNvSpPr txBox="1"/>
          <p:nvPr/>
        </p:nvSpPr>
        <p:spPr>
          <a:xfrm>
            <a:off x="1188720" y="3703320"/>
            <a:ext cx="7680960" cy="292608"/>
          </a:xfrm>
          <a:prstGeom prst="rect">
            <a:avLst/>
          </a:prstGeom>
          <a:noFill/>
        </p:spPr>
        <p:txBody>
          <a:bodyPr wrap="square">
            <a:spAutoFit/>
          </a:bodyPr>
          <a:lstStyle/>
          <a:p>
            <a:pPr algn="l"/>
            <a:r>
              <a:rPr sz="1200" b="0" i="0">
                <a:solidFill>
                  <a:srgbClr val="DDDDDD"/>
                </a:solidFill>
              </a:rPr>
              <a:t>The product — a live, playable prototype</a:t>
            </a:r>
          </a:p>
        </p:txBody>
      </p:sp>
      <p:sp>
        <p:nvSpPr>
          <p:cNvPr id="15" name="TextBox 14"/>
          <p:cNvSpPr txBox="1"/>
          <p:nvPr/>
        </p:nvSpPr>
        <p:spPr>
          <a:xfrm>
            <a:off x="457200" y="4160520"/>
            <a:ext cx="640080" cy="292608"/>
          </a:xfrm>
          <a:prstGeom prst="rect">
            <a:avLst/>
          </a:prstGeom>
          <a:noFill/>
        </p:spPr>
        <p:txBody>
          <a:bodyPr wrap="square">
            <a:spAutoFit/>
          </a:bodyPr>
          <a:lstStyle/>
          <a:p>
            <a:pPr algn="l"/>
            <a:r>
              <a:rPr sz="1200" b="1" i="0">
                <a:solidFill>
                  <a:srgbClr val="FFCD00"/>
                </a:solidFill>
              </a:rPr>
              <a:t>06</a:t>
            </a:r>
          </a:p>
        </p:txBody>
      </p:sp>
      <p:sp>
        <p:nvSpPr>
          <p:cNvPr id="16" name="TextBox 15"/>
          <p:cNvSpPr txBox="1"/>
          <p:nvPr/>
        </p:nvSpPr>
        <p:spPr>
          <a:xfrm>
            <a:off x="1188720" y="4160520"/>
            <a:ext cx="7680960" cy="292608"/>
          </a:xfrm>
          <a:prstGeom prst="rect">
            <a:avLst/>
          </a:prstGeom>
          <a:noFill/>
        </p:spPr>
        <p:txBody>
          <a:bodyPr wrap="square">
            <a:spAutoFit/>
          </a:bodyPr>
          <a:lstStyle/>
          <a:p>
            <a:pPr algn="l"/>
            <a:r>
              <a:rPr sz="1200" b="0" i="0">
                <a:solidFill>
                  <a:srgbClr val="DDDDDD"/>
                </a:solidFill>
              </a:rPr>
              <a:t>What we learned — and how it shapes our careers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team.</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Who we are. What we each owned.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TEAM</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04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Five people. One piece each.</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Mukesh</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Coordinator — planning, integration, client liaison</a:t>
            </a:r>
            <a:endParaRPr lang="en-US" sz="1200" dirty="0"/>
          </a:p>
        </p:txBody>
      </p:sp>
      <p:sp>
        <p:nvSpPr>
          <p:cNvPr id="10" name="Text 8"/>
          <p:cNvSpPr/>
          <p:nvPr/>
        </p:nvSpPr>
        <p:spPr>
          <a:xfrm>
            <a:off x="457200" y="227685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5856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Suman</a:t>
            </a:r>
            <a:endParaRPr lang="en-US" sz="1700" dirty="0"/>
          </a:p>
        </p:txBody>
      </p:sp>
      <p:sp>
        <p:nvSpPr>
          <p:cNvPr id="12" name="Text 10"/>
          <p:cNvSpPr/>
          <p:nvPr/>
        </p:nvSpPr>
        <p:spPr>
          <a:xfrm>
            <a:off x="1371600" y="256032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Login and registration system</a:t>
            </a:r>
            <a:endParaRPr lang="en-US" sz="1200" dirty="0"/>
          </a:p>
        </p:txBody>
      </p:sp>
      <p:sp>
        <p:nvSpPr>
          <p:cNvPr id="13" name="Text 11"/>
          <p:cNvSpPr/>
          <p:nvPr/>
        </p:nvSpPr>
        <p:spPr>
          <a:xfrm>
            <a:off x="457200" y="294436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92608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Kishor</a:t>
            </a:r>
            <a:endParaRPr lang="en-US" sz="1700" dirty="0"/>
          </a:p>
        </p:txBody>
      </p:sp>
      <p:sp>
        <p:nvSpPr>
          <p:cNvPr id="15" name="Text 13"/>
          <p:cNvSpPr/>
          <p:nvPr/>
        </p:nvSpPr>
        <p:spPr>
          <a:xfrm>
            <a:off x="1371600" y="322783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Question system and countdown timer</a:t>
            </a:r>
            <a:endParaRPr lang="en-US" sz="1200" dirty="0"/>
          </a:p>
        </p:txBody>
      </p:sp>
      <p:sp>
        <p:nvSpPr>
          <p:cNvPr id="16" name="Text 14"/>
          <p:cNvSpPr/>
          <p:nvPr/>
        </p:nvSpPr>
        <p:spPr>
          <a:xfrm>
            <a:off x="457200" y="361188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59359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Bishal</a:t>
            </a:r>
            <a:endParaRPr lang="en-US" sz="1700" dirty="0"/>
          </a:p>
        </p:txBody>
      </p:sp>
      <p:sp>
        <p:nvSpPr>
          <p:cNvPr id="18" name="Text 16"/>
          <p:cNvSpPr/>
          <p:nvPr/>
        </p:nvSpPr>
        <p:spPr>
          <a:xfrm>
            <a:off x="1371600" y="389534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Slicing mechanics and visual effects</a:t>
            </a:r>
            <a:endParaRPr lang="en-US" sz="1200" dirty="0"/>
          </a:p>
        </p:txBody>
      </p:sp>
      <p:sp>
        <p:nvSpPr>
          <p:cNvPr id="19" name="Text 17"/>
          <p:cNvSpPr/>
          <p:nvPr/>
        </p:nvSpPr>
        <p:spPr>
          <a:xfrm>
            <a:off x="457200" y="427939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26110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Aakash</a:t>
            </a:r>
            <a:endParaRPr lang="en-US" sz="1700" dirty="0"/>
          </a:p>
        </p:txBody>
      </p:sp>
      <p:sp>
        <p:nvSpPr>
          <p:cNvPr id="21" name="Text 19"/>
          <p:cNvSpPr/>
          <p:nvPr/>
        </p:nvSpPr>
        <p:spPr>
          <a:xfrm>
            <a:off x="1371600" y="456285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Scoring system and results screen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05 / 18</a:t>
            </a:r>
            <a:endParaRPr lang="en-US" sz="900" dirty="0"/>
          </a:p>
        </p:txBody>
      </p:sp>
      <p:sp>
        <p:nvSpPr>
          <p:cNvPr id="5" name="Text 3"/>
          <p:cNvSpPr/>
          <p:nvPr/>
        </p:nvSpPr>
        <p:spPr>
          <a:xfrm>
            <a:off x="457200" y="1371600"/>
            <a:ext cx="8229600" cy="1422400"/>
          </a:xfrm>
          <a:prstGeom prst="rect">
            <a:avLst/>
          </a:prstGeom>
          <a:noFill/>
          <a:ln/>
        </p:spPr>
        <p:txBody>
          <a:bodyPr wrap="square" rtlCol="0" anchor="ctr"/>
          <a:lstStyle/>
          <a:p>
            <a:pPr marL="0" indent="0">
              <a:buNone/>
            </a:pPr>
            <a:r>
              <a:rPr lang="en-US" sz="5600" b="1" dirty="0">
                <a:solidFill>
                  <a:srgbClr val="FFFFFF"/>
                </a:solidFill>
                <a:latin typeface="Arial Black" pitchFamily="34" charset="0"/>
                <a:ea typeface="Arial Black" pitchFamily="34" charset="-122"/>
                <a:cs typeface="Arial Black" pitchFamily="34" charset="-120"/>
              </a:rPr>
              <a:t>How we worked.</a:t>
            </a:r>
            <a:endParaRPr lang="en-US" sz="5600" dirty="0"/>
          </a:p>
        </p:txBody>
      </p:sp>
      <p:sp>
        <p:nvSpPr>
          <p:cNvPr id="6" name="Text 4"/>
          <p:cNvSpPr/>
          <p:nvPr/>
        </p:nvSpPr>
        <p:spPr>
          <a:xfrm>
            <a:off x="457200" y="310896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Three tools. </a:t>
            </a:r>
            <a:r>
              <a:rPr lang="en-US" sz="1400">
                <a:solidFill>
                  <a:srgbClr val="555555"/>
                </a:solidFill>
                <a:latin typeface="Arial" pitchFamily="34" charset="0"/>
                <a:ea typeface="Arial" pitchFamily="34" charset="-122"/>
                <a:cs typeface="Arial" pitchFamily="34" charset="-120"/>
              </a:rPr>
              <a:t>4 weeks</a:t>
            </a:r>
            <a:r>
              <a:rPr lang="en-US" sz="1400" dirty="0">
                <a:solidFill>
                  <a:srgbClr val="555555"/>
                </a:solidFill>
                <a:latin typeface="Arial" pitchFamily="34" charset="0"/>
                <a:ea typeface="Arial" pitchFamily="34" charset="-122"/>
                <a:cs typeface="Arial" pitchFamily="34" charset="-120"/>
              </a:rPr>
              <a:t>. Every decision documented.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COLLABORATION TOOLS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06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Three tools kept us aligned.</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Trello</a:t>
            </a:r>
            <a:endParaRPr lang="en-US" sz="1700" dirty="0"/>
          </a:p>
        </p:txBody>
      </p:sp>
      <p:sp>
        <p:nvSpPr>
          <p:cNvPr id="9" name="Text 7"/>
          <p:cNvSpPr/>
          <p:nvPr/>
        </p:nvSpPr>
        <p:spPr>
          <a:xfrm>
            <a:off x="1371600" y="189280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Every task visible, assigned and prioritised — nothing fell through the gaps</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GitHub</a:t>
            </a:r>
            <a:endParaRPr lang="en-US" sz="1700" dirty="0"/>
          </a:p>
        </p:txBody>
      </p:sp>
      <p:sp>
        <p:nvSpPr>
          <p:cNvPr id="12" name="Text 10"/>
          <p:cNvSpPr/>
          <p:nvPr/>
        </p:nvSpPr>
        <p:spPr>
          <a:xfrm>
            <a:off x="1371600" y="271576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Branches per feature — no one overwrote anyone else's work</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WhatsApp</a:t>
            </a:r>
            <a:endParaRPr lang="en-US" sz="1700" dirty="0"/>
          </a:p>
        </p:txBody>
      </p:sp>
      <p:sp>
        <p:nvSpPr>
          <p:cNvPr id="15" name="Text 13"/>
          <p:cNvSpPr/>
          <p:nvPr/>
        </p:nvSpPr>
        <p:spPr>
          <a:xfrm>
            <a:off x="1371600" y="353872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Daily contact — issues raised same day, not a week later</a:t>
            </a:r>
            <a:endParaRPr lang="en-US" sz="1200" dirty="0"/>
          </a:p>
        </p:txBody>
      </p:sp>
      <p:sp>
        <p:nvSpPr>
          <p:cNvPr id="16" name="Text 14"/>
          <p:cNvSpPr/>
          <p:nvPr/>
        </p:nvSpPr>
        <p:spPr>
          <a:xfrm>
            <a:off x="457200" y="4160520"/>
            <a:ext cx="41148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Every tool had one purpose. No tool was used for everything.</a:t>
            </a:r>
            <a:endParaRPr lang="en-US" sz="1400" dirty="0"/>
          </a:p>
        </p:txBody>
      </p:sp>
      <p:pic>
        <p:nvPicPr>
          <p:cNvPr id="17" name="Picture 16" descr="image.jpg"/>
          <p:cNvPicPr>
            <a:picLocks noChangeAspect="1"/>
          </p:cNvPicPr>
          <p:nvPr/>
        </p:nvPicPr>
        <p:blipFill>
          <a:blip r:embed="rId3"/>
          <a:stretch>
            <a:fillRect/>
          </a:stretch>
        </p:blipFill>
        <p:spPr>
          <a:xfrm>
            <a:off x="4663440" y="1417320"/>
            <a:ext cx="4206240" cy="3291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HOW WE MET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07 / 18</a:t>
            </a:r>
            <a:endParaRPr lang="en-US" sz="900" dirty="0"/>
          </a:p>
        </p:txBody>
      </p:sp>
      <p:sp>
        <p:nvSpPr>
          <p:cNvPr id="5" name="Text 3"/>
          <p:cNvSpPr/>
          <p:nvPr/>
        </p:nvSpPr>
        <p:spPr>
          <a:xfrm>
            <a:off x="457200" y="777240"/>
            <a:ext cx="4114800" cy="1117600"/>
          </a:xfrm>
          <a:prstGeom prst="rect">
            <a:avLst/>
          </a:prstGeom>
          <a:noFill/>
          <a:ln/>
        </p:spPr>
        <p:txBody>
          <a:bodyPr wrap="square" rtlCol="0" anchor="ctr"/>
          <a:lstStyle/>
          <a:p>
            <a:pPr marL="0" indent="0">
              <a:buNone/>
            </a:pPr>
            <a:r>
              <a:rPr lang="en-US" sz="4400" b="1" dirty="0">
                <a:solidFill>
                  <a:srgbClr val="FFFFFF"/>
                </a:solidFill>
                <a:latin typeface="Arial Black" pitchFamily="34" charset="0"/>
                <a:ea typeface="Arial Black" pitchFamily="34" charset="-122"/>
                <a:cs typeface="Arial Black" pitchFamily="34" charset="-120"/>
              </a:rPr>
              <a:t>Same three questions.</a:t>
            </a:r>
            <a:endParaRPr lang="en-US" sz="4400" dirty="0"/>
          </a:p>
          <a:p>
            <a:pPr marL="0" indent="0">
              <a:buNone/>
            </a:pPr>
            <a:r>
              <a:rPr lang="en-US" sz="4400" b="1" dirty="0">
                <a:solidFill>
                  <a:srgbClr val="FFFFFF"/>
                </a:solidFill>
                <a:latin typeface="Arial Black" pitchFamily="34" charset="0"/>
                <a:ea typeface="Arial Black" pitchFamily="34" charset="-122"/>
                <a:cs typeface="Arial Black" pitchFamily="34" charset="-120"/>
              </a:rPr>
              <a:t>Every week.</a:t>
            </a:r>
            <a:endParaRPr lang="en-US" sz="4400" dirty="0"/>
          </a:p>
        </p:txBody>
      </p:sp>
      <p:sp>
        <p:nvSpPr>
          <p:cNvPr id="6" name="Shape 4"/>
          <p:cNvSpPr/>
          <p:nvPr/>
        </p:nvSpPr>
        <p:spPr>
          <a:xfrm>
            <a:off x="457200" y="2423160"/>
            <a:ext cx="8229600" cy="10973"/>
          </a:xfrm>
          <a:prstGeom prst="rect">
            <a:avLst/>
          </a:prstGeom>
          <a:solidFill>
            <a:srgbClr val="222222"/>
          </a:solidFill>
          <a:ln/>
        </p:spPr>
        <p:txBody>
          <a:bodyPr/>
          <a:lstStyle/>
          <a:p>
            <a:endParaRPr lang="en-GB"/>
          </a:p>
        </p:txBody>
      </p:sp>
      <p:sp>
        <p:nvSpPr>
          <p:cNvPr id="7" name="Text 5"/>
          <p:cNvSpPr/>
          <p:nvPr/>
        </p:nvSpPr>
        <p:spPr>
          <a:xfrm>
            <a:off x="457200" y="2560320"/>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01</a:t>
            </a:r>
            <a:endParaRPr lang="en-US" sz="2400" dirty="0"/>
          </a:p>
        </p:txBody>
      </p:sp>
      <p:sp>
        <p:nvSpPr>
          <p:cNvPr id="8" name="Text 6"/>
          <p:cNvSpPr/>
          <p:nvPr/>
        </p:nvSpPr>
        <p:spPr>
          <a:xfrm>
            <a:off x="1143000" y="2606040"/>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did I finish?</a:t>
            </a:r>
            <a:endParaRPr lang="en-US" sz="2000" dirty="0"/>
          </a:p>
        </p:txBody>
      </p:sp>
      <p:sp>
        <p:nvSpPr>
          <p:cNvPr id="9" name="Text 7"/>
          <p:cNvSpPr/>
          <p:nvPr/>
        </p:nvSpPr>
        <p:spPr>
          <a:xfrm>
            <a:off x="457200" y="3218688"/>
            <a:ext cx="411480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02</a:t>
            </a:r>
            <a:endParaRPr lang="en-US" sz="2400" dirty="0"/>
          </a:p>
        </p:txBody>
      </p:sp>
      <p:sp>
        <p:nvSpPr>
          <p:cNvPr id="10" name="Text 8"/>
          <p:cNvSpPr/>
          <p:nvPr/>
        </p:nvSpPr>
        <p:spPr>
          <a:xfrm>
            <a:off x="1143000" y="3264408"/>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am I doing next?</a:t>
            </a:r>
            <a:endParaRPr lang="en-US" sz="2000" dirty="0"/>
          </a:p>
        </p:txBody>
      </p:sp>
      <p:sp>
        <p:nvSpPr>
          <p:cNvPr id="11" name="Text 9"/>
          <p:cNvSpPr/>
          <p:nvPr/>
        </p:nvSpPr>
        <p:spPr>
          <a:xfrm>
            <a:off x="457200" y="3877056"/>
            <a:ext cx="411480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03</a:t>
            </a:r>
            <a:endParaRPr lang="en-US" sz="2400" dirty="0"/>
          </a:p>
        </p:txBody>
      </p:sp>
      <p:sp>
        <p:nvSpPr>
          <p:cNvPr id="12" name="Text 10"/>
          <p:cNvSpPr/>
          <p:nvPr/>
        </p:nvSpPr>
        <p:spPr>
          <a:xfrm>
            <a:off x="1143000" y="3922776"/>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is blocking me?</a:t>
            </a:r>
            <a:endParaRPr lang="en-US" sz="2000" dirty="0"/>
          </a:p>
        </p:txBody>
      </p:sp>
      <p:pic>
        <p:nvPicPr>
          <p:cNvPr id="13" name="Picture 12" descr="image.jpg"/>
          <p:cNvPicPr>
            <a:picLocks noChangeAspect="1"/>
          </p:cNvPicPr>
          <p:nvPr/>
        </p:nvPicPr>
        <p:blipFill>
          <a:blip r:embed="rId4"/>
          <a:stretch>
            <a:fillRect/>
          </a:stretch>
        </p:blipFill>
        <p:spPr>
          <a:xfrm>
            <a:off x="4663440" y="1417320"/>
            <a:ext cx="4206240" cy="3291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KEY DECISIONS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08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How decisions got made.</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600200"/>
            <a:ext cx="3840480" cy="2926080"/>
          </a:xfrm>
          <a:prstGeom prst="rect">
            <a:avLst/>
          </a:prstGeom>
          <a:solidFill>
            <a:srgbClr val="F5F5F5"/>
          </a:solidFill>
          <a:ln/>
        </p:spPr>
        <p:txBody>
          <a:bodyPr/>
          <a:lstStyle/>
          <a:p>
            <a:endParaRPr lang="en-GB"/>
          </a:p>
        </p:txBody>
      </p:sp>
      <p:sp>
        <p:nvSpPr>
          <p:cNvPr id="8" name="Text 6"/>
          <p:cNvSpPr/>
          <p:nvPr/>
        </p:nvSpPr>
        <p:spPr>
          <a:xfrm>
            <a:off x="594360" y="1737360"/>
            <a:ext cx="3566160" cy="274320"/>
          </a:xfrm>
          <a:prstGeom prst="rect">
            <a:avLst/>
          </a:prstGeom>
          <a:noFill/>
          <a:ln/>
        </p:spPr>
        <p:txBody>
          <a:bodyPr wrap="square" rtlCol="0" anchor="ctr"/>
          <a:lstStyle/>
          <a:p>
            <a:pPr marL="0" indent="0">
              <a:buNone/>
            </a:pPr>
            <a:r>
              <a:rPr lang="en-US" sz="1000" b="1" kern="0" spc="100" dirty="0">
                <a:solidFill>
                  <a:srgbClr val="888888"/>
                </a:solidFill>
                <a:latin typeface="Arial" pitchFamily="34" charset="0"/>
                <a:ea typeface="Arial" pitchFamily="34" charset="-122"/>
                <a:cs typeface="Arial" pitchFamily="34" charset="-120"/>
              </a:rPr>
              <a:t>WITHOUT STRUCTURE</a:t>
            </a:r>
            <a:endParaRPr lang="en-US" sz="1000" dirty="0"/>
          </a:p>
        </p:txBody>
      </p:sp>
      <p:sp>
        <p:nvSpPr>
          <p:cNvPr id="9" name="Shape 7"/>
          <p:cNvSpPr/>
          <p:nvPr/>
        </p:nvSpPr>
        <p:spPr>
          <a:xfrm>
            <a:off x="594360" y="2148840"/>
            <a:ext cx="54864" cy="182880"/>
          </a:xfrm>
          <a:prstGeom prst="rect">
            <a:avLst/>
          </a:prstGeom>
          <a:solidFill>
            <a:srgbClr val="DDDDDD"/>
          </a:solidFill>
          <a:ln/>
        </p:spPr>
        <p:txBody>
          <a:bodyPr/>
          <a:lstStyle/>
          <a:p>
            <a:endParaRPr lang="en-GB"/>
          </a:p>
        </p:txBody>
      </p:sp>
      <p:sp>
        <p:nvSpPr>
          <p:cNvPr id="10" name="Text 8"/>
          <p:cNvSpPr/>
          <p:nvPr/>
        </p:nvSpPr>
        <p:spPr>
          <a:xfrm>
            <a:off x="731520" y="2103120"/>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Whoever spoke first won</a:t>
            </a:r>
            <a:endParaRPr lang="en-US" sz="1400" dirty="0"/>
          </a:p>
        </p:txBody>
      </p:sp>
      <p:sp>
        <p:nvSpPr>
          <p:cNvPr id="11" name="Shape 9"/>
          <p:cNvSpPr/>
          <p:nvPr/>
        </p:nvSpPr>
        <p:spPr>
          <a:xfrm>
            <a:off x="594360" y="2770632"/>
            <a:ext cx="54864" cy="182880"/>
          </a:xfrm>
          <a:prstGeom prst="rect">
            <a:avLst/>
          </a:prstGeom>
          <a:solidFill>
            <a:srgbClr val="DDDDDD"/>
          </a:solidFill>
          <a:ln/>
        </p:spPr>
        <p:txBody>
          <a:bodyPr/>
          <a:lstStyle/>
          <a:p>
            <a:endParaRPr lang="en-GB"/>
          </a:p>
        </p:txBody>
      </p:sp>
      <p:sp>
        <p:nvSpPr>
          <p:cNvPr id="12" name="Text 10"/>
          <p:cNvSpPr/>
          <p:nvPr/>
        </p:nvSpPr>
        <p:spPr>
          <a:xfrm>
            <a:off x="731520" y="2724912"/>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No record of why</a:t>
            </a:r>
            <a:endParaRPr lang="en-US" sz="1400" dirty="0"/>
          </a:p>
        </p:txBody>
      </p:sp>
      <p:sp>
        <p:nvSpPr>
          <p:cNvPr id="13" name="Shape 11"/>
          <p:cNvSpPr/>
          <p:nvPr/>
        </p:nvSpPr>
        <p:spPr>
          <a:xfrm>
            <a:off x="594360" y="3392424"/>
            <a:ext cx="54864" cy="182880"/>
          </a:xfrm>
          <a:prstGeom prst="rect">
            <a:avLst/>
          </a:prstGeom>
          <a:solidFill>
            <a:srgbClr val="DDDDDD"/>
          </a:solidFill>
          <a:ln/>
        </p:spPr>
        <p:txBody>
          <a:bodyPr/>
          <a:lstStyle/>
          <a:p>
            <a:endParaRPr lang="en-GB"/>
          </a:p>
        </p:txBody>
      </p:sp>
      <p:sp>
        <p:nvSpPr>
          <p:cNvPr id="14" name="Text 12"/>
          <p:cNvSpPr/>
          <p:nvPr/>
        </p:nvSpPr>
        <p:spPr>
          <a:xfrm>
            <a:off x="731520" y="3346704"/>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Decisions changed mid-sprint</a:t>
            </a:r>
            <a:endParaRPr lang="en-US" sz="1400" dirty="0"/>
          </a:p>
        </p:txBody>
      </p:sp>
      <p:sp>
        <p:nvSpPr>
          <p:cNvPr id="15" name="Shape 13"/>
          <p:cNvSpPr/>
          <p:nvPr/>
        </p:nvSpPr>
        <p:spPr>
          <a:xfrm>
            <a:off x="4846320" y="1600200"/>
            <a:ext cx="3840480" cy="2926080"/>
          </a:xfrm>
          <a:prstGeom prst="rect">
            <a:avLst/>
          </a:prstGeom>
          <a:solidFill>
            <a:srgbClr val="111111"/>
          </a:solidFill>
          <a:ln/>
        </p:spPr>
        <p:txBody>
          <a:bodyPr/>
          <a:lstStyle/>
          <a:p>
            <a:endParaRPr lang="en-GB"/>
          </a:p>
        </p:txBody>
      </p:sp>
      <p:sp>
        <p:nvSpPr>
          <p:cNvPr id="16" name="Shape 14"/>
          <p:cNvSpPr/>
          <p:nvPr/>
        </p:nvSpPr>
        <p:spPr>
          <a:xfrm>
            <a:off x="4846320" y="1600200"/>
            <a:ext cx="54864" cy="2926080"/>
          </a:xfrm>
          <a:prstGeom prst="rect">
            <a:avLst/>
          </a:prstGeom>
          <a:solidFill>
            <a:srgbClr val="FFCD00"/>
          </a:solidFill>
          <a:ln/>
        </p:spPr>
        <p:txBody>
          <a:bodyPr/>
          <a:lstStyle/>
          <a:p>
            <a:endParaRPr lang="en-GB"/>
          </a:p>
        </p:txBody>
      </p:sp>
      <p:sp>
        <p:nvSpPr>
          <p:cNvPr id="17" name="Text 15"/>
          <p:cNvSpPr/>
          <p:nvPr/>
        </p:nvSpPr>
        <p:spPr>
          <a:xfrm>
            <a:off x="5029200" y="1737360"/>
            <a:ext cx="356616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WITH STRUCTURE</a:t>
            </a:r>
            <a:endParaRPr lang="en-US" sz="1000" dirty="0"/>
          </a:p>
        </p:txBody>
      </p:sp>
      <p:sp>
        <p:nvSpPr>
          <p:cNvPr id="18" name="Shape 16"/>
          <p:cNvSpPr/>
          <p:nvPr/>
        </p:nvSpPr>
        <p:spPr>
          <a:xfrm>
            <a:off x="5029200" y="2148840"/>
            <a:ext cx="54864" cy="182880"/>
          </a:xfrm>
          <a:prstGeom prst="rect">
            <a:avLst/>
          </a:prstGeom>
          <a:solidFill>
            <a:srgbClr val="FFCD00"/>
          </a:solidFill>
          <a:ln/>
        </p:spPr>
        <p:txBody>
          <a:bodyPr/>
          <a:lstStyle/>
          <a:p>
            <a:endParaRPr lang="en-GB"/>
          </a:p>
        </p:txBody>
      </p:sp>
      <p:sp>
        <p:nvSpPr>
          <p:cNvPr id="19" name="Text 17"/>
          <p:cNvSpPr/>
          <p:nvPr/>
        </p:nvSpPr>
        <p:spPr>
          <a:xfrm>
            <a:off x="5166360" y="2103120"/>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Meeting minutes documented</a:t>
            </a:r>
            <a:endParaRPr lang="en-US" sz="1400" dirty="0"/>
          </a:p>
        </p:txBody>
      </p:sp>
      <p:sp>
        <p:nvSpPr>
          <p:cNvPr id="20" name="Shape 18"/>
          <p:cNvSpPr/>
          <p:nvPr/>
        </p:nvSpPr>
        <p:spPr>
          <a:xfrm>
            <a:off x="5029200" y="2770632"/>
            <a:ext cx="54864" cy="182880"/>
          </a:xfrm>
          <a:prstGeom prst="rect">
            <a:avLst/>
          </a:prstGeom>
          <a:solidFill>
            <a:srgbClr val="FFCD00"/>
          </a:solidFill>
          <a:ln/>
        </p:spPr>
        <p:txBody>
          <a:bodyPr/>
          <a:lstStyle/>
          <a:p>
            <a:endParaRPr lang="en-GB"/>
          </a:p>
        </p:txBody>
      </p:sp>
      <p:sp>
        <p:nvSpPr>
          <p:cNvPr id="21" name="Text 19"/>
          <p:cNvSpPr/>
          <p:nvPr/>
        </p:nvSpPr>
        <p:spPr>
          <a:xfrm>
            <a:off x="5166360" y="2724912"/>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Trello card created for each decision</a:t>
            </a:r>
            <a:endParaRPr lang="en-US" sz="1400" dirty="0"/>
          </a:p>
        </p:txBody>
      </p:sp>
      <p:sp>
        <p:nvSpPr>
          <p:cNvPr id="22" name="Shape 20"/>
          <p:cNvSpPr/>
          <p:nvPr/>
        </p:nvSpPr>
        <p:spPr>
          <a:xfrm>
            <a:off x="5029200" y="3392424"/>
            <a:ext cx="54864" cy="182880"/>
          </a:xfrm>
          <a:prstGeom prst="rect">
            <a:avLst/>
          </a:prstGeom>
          <a:solidFill>
            <a:srgbClr val="FFCD00"/>
          </a:solidFill>
          <a:ln/>
        </p:spPr>
        <p:txBody>
          <a:bodyPr/>
          <a:lstStyle/>
          <a:p>
            <a:endParaRPr lang="en-GB"/>
          </a:p>
        </p:txBody>
      </p:sp>
      <p:sp>
        <p:nvSpPr>
          <p:cNvPr id="23" name="Text 21"/>
          <p:cNvSpPr/>
          <p:nvPr/>
        </p:nvSpPr>
        <p:spPr>
          <a:xfrm>
            <a:off x="5166360" y="3346704"/>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Everyone had a vote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DELIVERY PROCESS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09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Built in five sprints.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1  —  Login &amp; menu</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Foundation. Every member set up. GitHub branches created.</a:t>
            </a:r>
            <a:endParaRPr lang="en-US" sz="1200" dirty="0"/>
          </a:p>
        </p:txBody>
      </p:sp>
      <p:sp>
        <p:nvSpPr>
          <p:cNvPr id="10" name="Text 8"/>
          <p:cNvSpPr/>
          <p:nvPr/>
        </p:nvSpPr>
        <p:spPr>
          <a:xfrm>
            <a:off x="457200" y="223113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1284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2  —  Game engine</a:t>
            </a:r>
            <a:endParaRPr lang="en-US" sz="1700" dirty="0"/>
          </a:p>
        </p:txBody>
      </p:sp>
      <p:sp>
        <p:nvSpPr>
          <p:cNvPr id="12" name="Text 10"/>
          <p:cNvSpPr/>
          <p:nvPr/>
        </p:nvSpPr>
        <p:spPr>
          <a:xfrm>
            <a:off x="1371600" y="251460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Core mechanics built. Daily check-ins via WhatsApp.</a:t>
            </a:r>
            <a:endParaRPr lang="en-US" sz="1200" dirty="0"/>
          </a:p>
        </p:txBody>
      </p:sp>
      <p:sp>
        <p:nvSpPr>
          <p:cNvPr id="13" name="Text 11"/>
          <p:cNvSpPr/>
          <p:nvPr/>
        </p:nvSpPr>
        <p:spPr>
          <a:xfrm>
            <a:off x="457200" y="285292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83464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3  —  Slicing &amp; sound</a:t>
            </a:r>
            <a:endParaRPr lang="en-US" sz="1700" dirty="0"/>
          </a:p>
        </p:txBody>
      </p:sp>
      <p:sp>
        <p:nvSpPr>
          <p:cNvPr id="15" name="Text 13"/>
          <p:cNvSpPr/>
          <p:nvPr/>
        </p:nvSpPr>
        <p:spPr>
          <a:xfrm>
            <a:off x="1371600" y="313639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Visual integration. First merge conflicts resolved.</a:t>
            </a:r>
            <a:endParaRPr lang="en-US" sz="1200" dirty="0"/>
          </a:p>
        </p:txBody>
      </p:sp>
      <p:sp>
        <p:nvSpPr>
          <p:cNvPr id="16" name="Text 14"/>
          <p:cNvSpPr/>
          <p:nvPr/>
        </p:nvSpPr>
        <p:spPr>
          <a:xfrm>
            <a:off x="457200" y="347472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45643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4  —  Leaderboard</a:t>
            </a:r>
            <a:endParaRPr lang="en-US" sz="1700" dirty="0"/>
          </a:p>
        </p:txBody>
      </p:sp>
      <p:sp>
        <p:nvSpPr>
          <p:cNvPr id="18" name="Text 16"/>
          <p:cNvSpPr/>
          <p:nvPr/>
        </p:nvSpPr>
        <p:spPr>
          <a:xfrm>
            <a:off x="1371600" y="375818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Peer testing begins. Feedback collected and logged.</a:t>
            </a:r>
            <a:endParaRPr lang="en-US" sz="1200" dirty="0"/>
          </a:p>
        </p:txBody>
      </p:sp>
      <p:sp>
        <p:nvSpPr>
          <p:cNvPr id="19" name="Text 17"/>
          <p:cNvSpPr/>
          <p:nvPr/>
        </p:nvSpPr>
        <p:spPr>
          <a:xfrm>
            <a:off x="457200" y="409651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07822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5  —  Testing &amp; polish</a:t>
            </a:r>
            <a:endParaRPr lang="en-US" sz="1700" dirty="0"/>
          </a:p>
        </p:txBody>
      </p:sp>
      <p:sp>
        <p:nvSpPr>
          <p:cNvPr id="21" name="Text 19"/>
          <p:cNvSpPr/>
          <p:nvPr/>
        </p:nvSpPr>
        <p:spPr>
          <a:xfrm>
            <a:off x="1371600" y="437997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Bug hunt, final fixes, review before submission.</a:t>
            </a:r>
            <a:endParaRPr lang="en-US" sz="12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56032"/>
            <a:ext cx="6400800" cy="256032"/>
          </a:xfrm>
          <a:prstGeom prst="rect">
            <a:avLst/>
          </a:prstGeom>
          <a:noFill/>
        </p:spPr>
        <p:txBody>
          <a:bodyPr wrap="square">
            <a:spAutoFit/>
          </a:bodyPr>
          <a:lstStyle/>
          <a:p>
            <a:pPr algn="l"/>
            <a:r>
              <a:rPr sz="1000" b="1" i="0">
                <a:solidFill>
                  <a:srgbClr val="888888"/>
                </a:solidFill>
              </a:rPr>
              <a:t>SPRINT OUTCOMES</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888888"/>
                </a:solidFill>
              </a:rPr>
              <a:t>NINJA QUIZ  .  503IT</a:t>
            </a:r>
          </a:p>
        </p:txBody>
      </p:sp>
      <p:sp>
        <p:nvSpPr>
          <p:cNvPr id="4" name="TextBox 3"/>
          <p:cNvSpPr txBox="1"/>
          <p:nvPr/>
        </p:nvSpPr>
        <p:spPr>
          <a:xfrm>
            <a:off x="457200" y="658368"/>
            <a:ext cx="8229600" cy="365760"/>
          </a:xfrm>
          <a:prstGeom prst="rect">
            <a:avLst/>
          </a:prstGeom>
          <a:noFill/>
        </p:spPr>
        <p:txBody>
          <a:bodyPr wrap="square">
            <a:spAutoFit/>
          </a:bodyPr>
          <a:lstStyle/>
          <a:p>
            <a:pPr algn="l"/>
            <a:r>
              <a:rPr sz="1500" b="1" i="0">
                <a:solidFill>
                  <a:srgbClr val="111111"/>
                </a:solidFill>
              </a:rPr>
              <a:t>What each sprint delivered — and what it taught the team.</a:t>
            </a:r>
          </a:p>
        </p:txBody>
      </p:sp>
      <p:sp>
        <p:nvSpPr>
          <p:cNvPr id="5" name="TextBox 4"/>
          <p:cNvSpPr txBox="1"/>
          <p:nvPr/>
        </p:nvSpPr>
        <p:spPr>
          <a:xfrm>
            <a:off x="457200" y="1188720"/>
            <a:ext cx="640080" cy="274320"/>
          </a:xfrm>
          <a:prstGeom prst="rect">
            <a:avLst/>
          </a:prstGeom>
          <a:noFill/>
        </p:spPr>
        <p:txBody>
          <a:bodyPr wrap="square">
            <a:spAutoFit/>
          </a:bodyPr>
          <a:lstStyle/>
          <a:p>
            <a:pPr algn="l"/>
            <a:r>
              <a:rPr sz="1200" b="1" i="0">
                <a:solidFill>
                  <a:srgbClr val="FFCD00"/>
                </a:solidFill>
              </a:rPr>
              <a:t>01</a:t>
            </a:r>
          </a:p>
        </p:txBody>
      </p:sp>
      <p:sp>
        <p:nvSpPr>
          <p:cNvPr id="6" name="TextBox 5"/>
          <p:cNvSpPr txBox="1"/>
          <p:nvPr/>
        </p:nvSpPr>
        <p:spPr>
          <a:xfrm>
            <a:off x="1188720" y="1188720"/>
            <a:ext cx="3657600" cy="256032"/>
          </a:xfrm>
          <a:prstGeom prst="rect">
            <a:avLst/>
          </a:prstGeom>
          <a:noFill/>
        </p:spPr>
        <p:txBody>
          <a:bodyPr wrap="square">
            <a:spAutoFit/>
          </a:bodyPr>
          <a:lstStyle/>
          <a:p>
            <a:pPr algn="l"/>
            <a:r>
              <a:rPr sz="1200" b="1" i="0">
                <a:solidFill>
                  <a:srgbClr val="111111"/>
                </a:solidFill>
              </a:rPr>
              <a:t>Sprint 1 — Setup &amp; Login</a:t>
            </a:r>
          </a:p>
        </p:txBody>
      </p:sp>
      <p:sp>
        <p:nvSpPr>
          <p:cNvPr id="7" name="TextBox 6"/>
          <p:cNvSpPr txBox="1"/>
          <p:nvPr/>
        </p:nvSpPr>
        <p:spPr>
          <a:xfrm>
            <a:off x="1188720" y="1463040"/>
            <a:ext cx="7680960" cy="457200"/>
          </a:xfrm>
          <a:prstGeom prst="rect">
            <a:avLst/>
          </a:prstGeom>
          <a:noFill/>
        </p:spPr>
        <p:txBody>
          <a:bodyPr wrap="square">
            <a:spAutoFit/>
          </a:bodyPr>
          <a:lstStyle/>
          <a:p>
            <a:pPr algn="l"/>
            <a:r>
              <a:rPr sz="900" b="0" i="0">
                <a:solidFill>
                  <a:srgbClr val="555555"/>
                </a:solidFill>
              </a:rPr>
              <a:t>Built: auth system, GitHub branches, role structure.</a:t>
            </a:r>
          </a:p>
          <a:p>
            <a:pPr algn="l"/>
            <a:r>
              <a:rPr sz="900" b="0" i="0">
                <a:solidFill>
                  <a:srgbClr val="555555"/>
                </a:solidFill>
              </a:rPr>
              <a:t>Learned: agreeing roles before coding prevented overlap and blame.</a:t>
            </a:r>
          </a:p>
        </p:txBody>
      </p:sp>
      <p:sp>
        <p:nvSpPr>
          <p:cNvPr id="8" name="TextBox 7"/>
          <p:cNvSpPr txBox="1"/>
          <p:nvPr/>
        </p:nvSpPr>
        <p:spPr>
          <a:xfrm>
            <a:off x="457200" y="1938528"/>
            <a:ext cx="640080" cy="274320"/>
          </a:xfrm>
          <a:prstGeom prst="rect">
            <a:avLst/>
          </a:prstGeom>
          <a:noFill/>
        </p:spPr>
        <p:txBody>
          <a:bodyPr wrap="square">
            <a:spAutoFit/>
          </a:bodyPr>
          <a:lstStyle/>
          <a:p>
            <a:pPr algn="l"/>
            <a:r>
              <a:rPr sz="1200" b="1" i="0">
                <a:solidFill>
                  <a:srgbClr val="FFCD00"/>
                </a:solidFill>
              </a:rPr>
              <a:t>02</a:t>
            </a:r>
          </a:p>
        </p:txBody>
      </p:sp>
      <p:sp>
        <p:nvSpPr>
          <p:cNvPr id="9" name="TextBox 8"/>
          <p:cNvSpPr txBox="1"/>
          <p:nvPr/>
        </p:nvSpPr>
        <p:spPr>
          <a:xfrm>
            <a:off x="1188720" y="1938528"/>
            <a:ext cx="3657600" cy="256032"/>
          </a:xfrm>
          <a:prstGeom prst="rect">
            <a:avLst/>
          </a:prstGeom>
          <a:noFill/>
        </p:spPr>
        <p:txBody>
          <a:bodyPr wrap="square">
            <a:spAutoFit/>
          </a:bodyPr>
          <a:lstStyle/>
          <a:p>
            <a:pPr algn="l"/>
            <a:r>
              <a:rPr sz="1200" b="1" i="0">
                <a:solidFill>
                  <a:srgbClr val="111111"/>
                </a:solidFill>
              </a:rPr>
              <a:t>Sprint 2 — Game Engine</a:t>
            </a:r>
          </a:p>
        </p:txBody>
      </p:sp>
      <p:sp>
        <p:nvSpPr>
          <p:cNvPr id="10" name="TextBox 9"/>
          <p:cNvSpPr txBox="1"/>
          <p:nvPr/>
        </p:nvSpPr>
        <p:spPr>
          <a:xfrm>
            <a:off x="1188720" y="2212848"/>
            <a:ext cx="7680960" cy="457200"/>
          </a:xfrm>
          <a:prstGeom prst="rect">
            <a:avLst/>
          </a:prstGeom>
          <a:noFill/>
        </p:spPr>
        <p:txBody>
          <a:bodyPr wrap="square">
            <a:spAutoFit/>
          </a:bodyPr>
          <a:lstStyle/>
          <a:p>
            <a:pPr algn="l"/>
            <a:r>
              <a:rPr sz="900" b="0" i="0">
                <a:solidFill>
                  <a:srgbClr val="555555"/>
                </a:solidFill>
              </a:rPr>
              <a:t>Built: core quiz loop, slash mechanic.</a:t>
            </a:r>
          </a:p>
          <a:p>
            <a:pPr algn="l"/>
            <a:r>
              <a:rPr sz="900" b="0" i="0">
                <a:solidFill>
                  <a:srgbClr val="555555"/>
                </a:solidFill>
              </a:rPr>
              <a:t>Learned: daily WhatsApp check-ins replaced long weekly catch-ups and kept everyone unblocked.</a:t>
            </a:r>
          </a:p>
        </p:txBody>
      </p:sp>
      <p:sp>
        <p:nvSpPr>
          <p:cNvPr id="11" name="TextBox 10"/>
          <p:cNvSpPr txBox="1"/>
          <p:nvPr/>
        </p:nvSpPr>
        <p:spPr>
          <a:xfrm>
            <a:off x="457200" y="2688336"/>
            <a:ext cx="640080" cy="274320"/>
          </a:xfrm>
          <a:prstGeom prst="rect">
            <a:avLst/>
          </a:prstGeom>
          <a:noFill/>
        </p:spPr>
        <p:txBody>
          <a:bodyPr wrap="square">
            <a:spAutoFit/>
          </a:bodyPr>
          <a:lstStyle/>
          <a:p>
            <a:pPr algn="l"/>
            <a:r>
              <a:rPr sz="1200" b="1" i="0">
                <a:solidFill>
                  <a:srgbClr val="FFCD00"/>
                </a:solidFill>
              </a:rPr>
              <a:t>03</a:t>
            </a:r>
          </a:p>
        </p:txBody>
      </p:sp>
      <p:sp>
        <p:nvSpPr>
          <p:cNvPr id="12" name="TextBox 11"/>
          <p:cNvSpPr txBox="1"/>
          <p:nvPr/>
        </p:nvSpPr>
        <p:spPr>
          <a:xfrm>
            <a:off x="1188720" y="2688336"/>
            <a:ext cx="3657600" cy="256032"/>
          </a:xfrm>
          <a:prstGeom prst="rect">
            <a:avLst/>
          </a:prstGeom>
          <a:noFill/>
        </p:spPr>
        <p:txBody>
          <a:bodyPr wrap="square">
            <a:spAutoFit/>
          </a:bodyPr>
          <a:lstStyle/>
          <a:p>
            <a:pPr algn="l"/>
            <a:r>
              <a:rPr sz="1200" b="1" i="0">
                <a:solidFill>
                  <a:srgbClr val="111111"/>
                </a:solidFill>
              </a:rPr>
              <a:t>Sprint 3 — Slicing &amp; Sound</a:t>
            </a:r>
          </a:p>
        </p:txBody>
      </p:sp>
      <p:sp>
        <p:nvSpPr>
          <p:cNvPr id="13" name="TextBox 12"/>
          <p:cNvSpPr txBox="1"/>
          <p:nvPr/>
        </p:nvSpPr>
        <p:spPr>
          <a:xfrm>
            <a:off x="1188720" y="2962656"/>
            <a:ext cx="7680960" cy="457200"/>
          </a:xfrm>
          <a:prstGeom prst="rect">
            <a:avLst/>
          </a:prstGeom>
          <a:noFill/>
        </p:spPr>
        <p:txBody>
          <a:bodyPr wrap="square">
            <a:spAutoFit/>
          </a:bodyPr>
          <a:lstStyle/>
          <a:p>
            <a:pPr algn="l"/>
            <a:r>
              <a:rPr sz="900" b="0" i="0">
                <a:solidFill>
                  <a:srgbClr val="555555"/>
                </a:solidFill>
              </a:rPr>
              <a:t>Built: animations, visual effects, audio.</a:t>
            </a:r>
          </a:p>
          <a:p>
            <a:pPr algn="l"/>
            <a:r>
              <a:rPr sz="900" b="0" i="0">
                <a:solidFill>
                  <a:srgbClr val="555555"/>
                </a:solidFill>
              </a:rPr>
              <a:t>Learned: first merge conflicts taught us to always pull before push — a discipline we kept.</a:t>
            </a:r>
          </a:p>
        </p:txBody>
      </p:sp>
      <p:sp>
        <p:nvSpPr>
          <p:cNvPr id="14" name="TextBox 13"/>
          <p:cNvSpPr txBox="1"/>
          <p:nvPr/>
        </p:nvSpPr>
        <p:spPr>
          <a:xfrm>
            <a:off x="457200" y="3438144"/>
            <a:ext cx="640080" cy="274320"/>
          </a:xfrm>
          <a:prstGeom prst="rect">
            <a:avLst/>
          </a:prstGeom>
          <a:noFill/>
        </p:spPr>
        <p:txBody>
          <a:bodyPr wrap="square">
            <a:spAutoFit/>
          </a:bodyPr>
          <a:lstStyle/>
          <a:p>
            <a:pPr algn="l"/>
            <a:r>
              <a:rPr sz="1200" b="1" i="0">
                <a:solidFill>
                  <a:srgbClr val="FFCD00"/>
                </a:solidFill>
              </a:rPr>
              <a:t>04</a:t>
            </a:r>
          </a:p>
        </p:txBody>
      </p:sp>
      <p:sp>
        <p:nvSpPr>
          <p:cNvPr id="15" name="TextBox 14"/>
          <p:cNvSpPr txBox="1"/>
          <p:nvPr/>
        </p:nvSpPr>
        <p:spPr>
          <a:xfrm>
            <a:off x="1188720" y="3438144"/>
            <a:ext cx="3657600" cy="256032"/>
          </a:xfrm>
          <a:prstGeom prst="rect">
            <a:avLst/>
          </a:prstGeom>
          <a:noFill/>
        </p:spPr>
        <p:txBody>
          <a:bodyPr wrap="square">
            <a:spAutoFit/>
          </a:bodyPr>
          <a:lstStyle/>
          <a:p>
            <a:pPr algn="l"/>
            <a:r>
              <a:rPr sz="1200" b="1" i="0">
                <a:solidFill>
                  <a:srgbClr val="111111"/>
                </a:solidFill>
              </a:rPr>
              <a:t>Sprint 4 — Leaderboard &amp; Test</a:t>
            </a:r>
          </a:p>
        </p:txBody>
      </p:sp>
      <p:sp>
        <p:nvSpPr>
          <p:cNvPr id="16" name="TextBox 15"/>
          <p:cNvSpPr txBox="1"/>
          <p:nvPr/>
        </p:nvSpPr>
        <p:spPr>
          <a:xfrm>
            <a:off x="1188720" y="3712463"/>
            <a:ext cx="7680960" cy="457200"/>
          </a:xfrm>
          <a:prstGeom prst="rect">
            <a:avLst/>
          </a:prstGeom>
          <a:noFill/>
        </p:spPr>
        <p:txBody>
          <a:bodyPr wrap="square">
            <a:spAutoFit/>
          </a:bodyPr>
          <a:lstStyle/>
          <a:p>
            <a:pPr algn="l"/>
            <a:r>
              <a:rPr sz="900" b="0" i="0">
                <a:solidFill>
                  <a:srgbClr val="555555"/>
                </a:solidFill>
              </a:rPr>
              <a:t>Built: scoring, peer testing sessions.</a:t>
            </a:r>
          </a:p>
          <a:p>
            <a:pPr algn="l"/>
            <a:r>
              <a:rPr sz="900" b="0" i="0">
                <a:solidFill>
                  <a:srgbClr val="555555"/>
                </a:solidFill>
              </a:rPr>
              <a:t>Learned: external testers found issues we missed — peer testing is essential, not optional.</a:t>
            </a:r>
          </a:p>
        </p:txBody>
      </p:sp>
      <p:sp>
        <p:nvSpPr>
          <p:cNvPr id="17" name="TextBox 16"/>
          <p:cNvSpPr txBox="1"/>
          <p:nvPr/>
        </p:nvSpPr>
        <p:spPr>
          <a:xfrm>
            <a:off x="457200" y="4187952"/>
            <a:ext cx="640080" cy="274320"/>
          </a:xfrm>
          <a:prstGeom prst="rect">
            <a:avLst/>
          </a:prstGeom>
          <a:noFill/>
        </p:spPr>
        <p:txBody>
          <a:bodyPr wrap="square">
            <a:spAutoFit/>
          </a:bodyPr>
          <a:lstStyle/>
          <a:p>
            <a:pPr algn="l"/>
            <a:r>
              <a:rPr sz="1200" b="1" i="0">
                <a:solidFill>
                  <a:srgbClr val="FFCD00"/>
                </a:solidFill>
              </a:rPr>
              <a:t>05</a:t>
            </a:r>
          </a:p>
        </p:txBody>
      </p:sp>
      <p:sp>
        <p:nvSpPr>
          <p:cNvPr id="18" name="TextBox 17"/>
          <p:cNvSpPr txBox="1"/>
          <p:nvPr/>
        </p:nvSpPr>
        <p:spPr>
          <a:xfrm>
            <a:off x="1188720" y="4187952"/>
            <a:ext cx="3657600" cy="256032"/>
          </a:xfrm>
          <a:prstGeom prst="rect">
            <a:avLst/>
          </a:prstGeom>
          <a:noFill/>
        </p:spPr>
        <p:txBody>
          <a:bodyPr wrap="square">
            <a:spAutoFit/>
          </a:bodyPr>
          <a:lstStyle/>
          <a:p>
            <a:pPr algn="l"/>
            <a:r>
              <a:rPr sz="1200" b="1" i="0">
                <a:solidFill>
                  <a:srgbClr val="111111"/>
                </a:solidFill>
              </a:rPr>
              <a:t>Sprint 5 — Polish &amp; Submit</a:t>
            </a:r>
          </a:p>
        </p:txBody>
      </p:sp>
      <p:sp>
        <p:nvSpPr>
          <p:cNvPr id="19" name="TextBox 18"/>
          <p:cNvSpPr txBox="1"/>
          <p:nvPr/>
        </p:nvSpPr>
        <p:spPr>
          <a:xfrm>
            <a:off x="1188720" y="4462272"/>
            <a:ext cx="7680960" cy="457200"/>
          </a:xfrm>
          <a:prstGeom prst="rect">
            <a:avLst/>
          </a:prstGeom>
          <a:noFill/>
        </p:spPr>
        <p:txBody>
          <a:bodyPr wrap="square">
            <a:spAutoFit/>
          </a:bodyPr>
          <a:lstStyle/>
          <a:p>
            <a:pPr algn="l"/>
            <a:r>
              <a:rPr sz="900" b="0" i="0">
                <a:solidFill>
                  <a:srgbClr val="555555"/>
                </a:solidFill>
              </a:rPr>
              <a:t>Built: final bug fixes, documentation.</a:t>
            </a:r>
          </a:p>
          <a:p>
            <a:pPr algn="l"/>
            <a:r>
              <a:rPr sz="900" b="0" i="0">
                <a:solidFill>
                  <a:srgbClr val="555555"/>
                </a:solidFill>
              </a:rPr>
              <a:t>Learned: a team that communicates daily ships on time. We did.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10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Then it broke.</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How the team responded under pressure.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PROBLEM &amp; SOLUTION</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11 / 18</a:t>
            </a:r>
            <a:endParaRPr lang="en-US" sz="900" dirty="0"/>
          </a:p>
        </p:txBody>
      </p:sp>
      <p:sp>
        <p:nvSpPr>
          <p:cNvPr id="5" name="Text 3"/>
          <p:cNvSpPr/>
          <p:nvPr/>
        </p:nvSpPr>
        <p:spPr>
          <a:xfrm>
            <a:off x="457200" y="594360"/>
            <a:ext cx="8229600" cy="762000"/>
          </a:xfrm>
          <a:prstGeom prst="rect">
            <a:avLst/>
          </a:prstGeom>
          <a:noFill/>
          <a:ln/>
        </p:spPr>
        <p:txBody>
          <a:bodyPr wrap="square" rtlCol="0" anchor="ctr"/>
          <a:lstStyle/>
          <a:p>
            <a:pPr marL="0" indent="0">
              <a:buNone/>
            </a:pPr>
            <a:r>
              <a:rPr lang="en-US" sz="3000" b="1" dirty="0">
                <a:solidFill>
                  <a:srgbClr val="FFFFFF"/>
                </a:solidFill>
                <a:latin typeface="Arial Black" pitchFamily="34" charset="0"/>
                <a:ea typeface="Arial Black" pitchFamily="34" charset="-122"/>
                <a:cs typeface="Arial Black" pitchFamily="34" charset="-120"/>
              </a:rPr>
              <a:t>The game stopped working.</a:t>
            </a:r>
            <a:endParaRPr lang="en-US" sz="3000" dirty="0"/>
          </a:p>
        </p:txBody>
      </p:sp>
      <p:sp>
        <p:nvSpPr>
          <p:cNvPr id="6" name="Shape 4"/>
          <p:cNvSpPr/>
          <p:nvPr/>
        </p:nvSpPr>
        <p:spPr>
          <a:xfrm>
            <a:off x="457200" y="1463040"/>
            <a:ext cx="3840480" cy="3108960"/>
          </a:xfrm>
          <a:prstGeom prst="rect">
            <a:avLst/>
          </a:prstGeom>
          <a:solidFill>
            <a:srgbClr val="1A1A1A"/>
          </a:solidFill>
          <a:ln/>
        </p:spPr>
        <p:txBody>
          <a:bodyPr/>
          <a:lstStyle/>
          <a:p>
            <a:endParaRPr lang="en-GB"/>
          </a:p>
        </p:txBody>
      </p:sp>
      <p:sp>
        <p:nvSpPr>
          <p:cNvPr id="7" name="Shape 5"/>
          <p:cNvSpPr/>
          <p:nvPr/>
        </p:nvSpPr>
        <p:spPr>
          <a:xfrm>
            <a:off x="457200" y="1463040"/>
            <a:ext cx="3840480" cy="54864"/>
          </a:xfrm>
          <a:prstGeom prst="rect">
            <a:avLst/>
          </a:prstGeom>
          <a:solidFill>
            <a:srgbClr val="444444"/>
          </a:solidFill>
          <a:ln/>
        </p:spPr>
        <p:txBody>
          <a:bodyPr/>
          <a:lstStyle/>
          <a:p>
            <a:endParaRPr lang="en-GB"/>
          </a:p>
        </p:txBody>
      </p:sp>
      <p:sp>
        <p:nvSpPr>
          <p:cNvPr id="8" name="Text 6"/>
          <p:cNvSpPr/>
          <p:nvPr/>
        </p:nvSpPr>
        <p:spPr>
          <a:xfrm>
            <a:off x="640080" y="1600200"/>
            <a:ext cx="3474720" cy="274320"/>
          </a:xfrm>
          <a:prstGeom prst="rect">
            <a:avLst/>
          </a:prstGeom>
          <a:noFill/>
          <a:ln/>
        </p:spPr>
        <p:txBody>
          <a:bodyPr wrap="square" rtlCol="0" anchor="ctr"/>
          <a:lstStyle/>
          <a:p>
            <a:pPr marL="0" indent="0">
              <a:buNone/>
            </a:pPr>
            <a:r>
              <a:rPr lang="en-US" sz="1000" b="1" kern="0" spc="100" dirty="0">
                <a:solidFill>
                  <a:srgbClr val="555555"/>
                </a:solidFill>
                <a:latin typeface="Arial" pitchFamily="34" charset="0"/>
                <a:ea typeface="Arial" pitchFamily="34" charset="-122"/>
                <a:cs typeface="Arial" pitchFamily="34" charset="-120"/>
              </a:rPr>
              <a:t>THE DEFECT</a:t>
            </a:r>
            <a:endParaRPr lang="en-US" sz="1000" dirty="0"/>
          </a:p>
        </p:txBody>
      </p:sp>
      <p:sp>
        <p:nvSpPr>
          <p:cNvPr id="9" name="Text 7"/>
          <p:cNvSpPr/>
          <p:nvPr/>
        </p:nvSpPr>
        <p:spPr>
          <a:xfrm>
            <a:off x="64008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Game ran.</a:t>
            </a:r>
            <a:endParaRPr lang="en-US" sz="1500" dirty="0"/>
          </a:p>
        </p:txBody>
      </p:sp>
      <p:sp>
        <p:nvSpPr>
          <p:cNvPr id="10" name="Text 8"/>
          <p:cNvSpPr/>
          <p:nvPr/>
        </p:nvSpPr>
        <p:spPr>
          <a:xfrm>
            <a:off x="64008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Question loaded.</a:t>
            </a:r>
            <a:endParaRPr lang="en-US" sz="1500" dirty="0"/>
          </a:p>
        </p:txBody>
      </p:sp>
      <p:sp>
        <p:nvSpPr>
          <p:cNvPr id="11" name="Text 9"/>
          <p:cNvSpPr/>
          <p:nvPr/>
        </p:nvSpPr>
        <p:spPr>
          <a:xfrm>
            <a:off x="64008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Answer targets — never appeared.</a:t>
            </a:r>
            <a:endParaRPr lang="en-US" sz="1500" dirty="0"/>
          </a:p>
        </p:txBody>
      </p:sp>
      <p:sp>
        <p:nvSpPr>
          <p:cNvPr id="12" name="Text 10"/>
          <p:cNvSpPr/>
          <p:nvPr/>
        </p:nvSpPr>
        <p:spPr>
          <a:xfrm>
            <a:off x="64008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Entire game depended on them.</a:t>
            </a:r>
            <a:endParaRPr lang="en-US" sz="1500" dirty="0"/>
          </a:p>
        </p:txBody>
      </p:sp>
      <p:sp>
        <p:nvSpPr>
          <p:cNvPr id="13" name="Shape 11"/>
          <p:cNvSpPr/>
          <p:nvPr/>
        </p:nvSpPr>
        <p:spPr>
          <a:xfrm>
            <a:off x="4846320" y="1463040"/>
            <a:ext cx="3840480" cy="3108960"/>
          </a:xfrm>
          <a:prstGeom prst="rect">
            <a:avLst/>
          </a:prstGeom>
          <a:solidFill>
            <a:srgbClr val="1A1A1A"/>
          </a:solidFill>
          <a:ln/>
        </p:spPr>
        <p:txBody>
          <a:bodyPr/>
          <a:lstStyle/>
          <a:p>
            <a:endParaRPr lang="en-GB"/>
          </a:p>
        </p:txBody>
      </p:sp>
      <p:sp>
        <p:nvSpPr>
          <p:cNvPr id="14" name="Shape 12"/>
          <p:cNvSpPr/>
          <p:nvPr/>
        </p:nvSpPr>
        <p:spPr>
          <a:xfrm>
            <a:off x="4846320" y="1463040"/>
            <a:ext cx="3840480" cy="54864"/>
          </a:xfrm>
          <a:prstGeom prst="rect">
            <a:avLst/>
          </a:prstGeom>
          <a:solidFill>
            <a:srgbClr val="FFCD00"/>
          </a:solidFill>
          <a:ln/>
        </p:spPr>
        <p:txBody>
          <a:bodyPr/>
          <a:lstStyle/>
          <a:p>
            <a:endParaRPr lang="en-GB"/>
          </a:p>
        </p:txBody>
      </p:sp>
      <p:sp>
        <p:nvSpPr>
          <p:cNvPr id="15" name="Text 13"/>
          <p:cNvSpPr/>
          <p:nvPr/>
        </p:nvSpPr>
        <p:spPr>
          <a:xfrm>
            <a:off x="5029200" y="1600200"/>
            <a:ext cx="347472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THE FIX</a:t>
            </a:r>
            <a:endParaRPr lang="en-US" sz="1000" dirty="0"/>
          </a:p>
        </p:txBody>
      </p:sp>
      <p:sp>
        <p:nvSpPr>
          <p:cNvPr id="16" name="Text 14"/>
          <p:cNvSpPr/>
          <p:nvPr/>
        </p:nvSpPr>
        <p:spPr>
          <a:xfrm>
            <a:off x="502920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Raised on WhatsApp immediately.</a:t>
            </a:r>
            <a:endParaRPr lang="en-US" sz="1500" dirty="0"/>
          </a:p>
        </p:txBody>
      </p:sp>
      <p:sp>
        <p:nvSpPr>
          <p:cNvPr id="17" name="Text 15"/>
          <p:cNvSpPr/>
          <p:nvPr/>
        </p:nvSpPr>
        <p:spPr>
          <a:xfrm>
            <a:off x="502920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Full team read the error log.</a:t>
            </a:r>
            <a:endParaRPr lang="en-US" sz="1500" dirty="0"/>
          </a:p>
        </p:txBody>
      </p:sp>
      <p:sp>
        <p:nvSpPr>
          <p:cNvPr id="18" name="Text 16"/>
          <p:cNvSpPr/>
          <p:nvPr/>
        </p:nvSpPr>
        <p:spPr>
          <a:xfrm>
            <a:off x="502920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Root cause: two runtime errors.</a:t>
            </a:r>
            <a:endParaRPr lang="en-US" sz="1500" dirty="0"/>
          </a:p>
        </p:txBody>
      </p:sp>
      <p:sp>
        <p:nvSpPr>
          <p:cNvPr id="19" name="Text 17"/>
          <p:cNvSpPr/>
          <p:nvPr/>
        </p:nvSpPr>
        <p:spPr>
          <a:xfrm>
            <a:off x="502920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Rebuilt in HTML. Resolved in 1 day.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LESSONS FROM THE BUG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12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What fixing it taught us.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Raise it fast</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Issue shared on WhatsApp the same hour it was found</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One owner per module</a:t>
            </a:r>
            <a:endParaRPr lang="en-US" sz="1700" dirty="0"/>
          </a:p>
        </p:txBody>
      </p:sp>
      <p:sp>
        <p:nvSpPr>
          <p:cNvPr id="12" name="Text 10"/>
          <p:cNvSpPr/>
          <p:nvPr/>
        </p:nvSpPr>
        <p:spPr>
          <a:xfrm>
            <a:off x="1371600" y="271576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We knew exactly whose code to look at — no confusion</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Review together</a:t>
            </a:r>
            <a:endParaRPr lang="en-US" sz="1700" dirty="0"/>
          </a:p>
        </p:txBody>
      </p:sp>
      <p:sp>
        <p:nvSpPr>
          <p:cNvPr id="15" name="Text 13"/>
          <p:cNvSpPr/>
          <p:nvPr/>
        </p:nvSpPr>
        <p:spPr>
          <a:xfrm>
            <a:off x="1371600" y="353872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Team read the log as a group — solved what one person would have missed</a:t>
            </a:r>
            <a:endParaRPr lang="en-US" sz="1200" dirty="0"/>
          </a:p>
        </p:txBody>
      </p:sp>
      <p:sp>
        <p:nvSpPr>
          <p:cNvPr id="16" name="Text 14"/>
          <p:cNvSpPr/>
          <p:nvPr/>
        </p:nvSpPr>
        <p:spPr>
          <a:xfrm>
            <a:off x="457200" y="4160520"/>
            <a:ext cx="77724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Structured communication turned a critical bug into a one-day fix.</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result.</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Did we meet the brief?</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BRIEF REQUIREMENTS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14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Every box. Ticked.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Cyber-safety concept taught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Phishing, passwords, 2FA, VPNs and more</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Defined audience</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Children and young teens aged 8–14</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Educational value + replayability</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56 questions · 3 difficulty levels · leaderboard</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Complete working prototype</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Runs in any browser — no install</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Ready for demonstration</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Live today — with supporting documentation</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USER TESTING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15 / 18</a:t>
            </a:r>
            <a:endParaRPr lang="en-US" sz="900" dirty="0"/>
          </a:p>
        </p:txBody>
      </p:sp>
      <p:sp>
        <p:nvSpPr>
          <p:cNvPr id="5" name="Text 3"/>
          <p:cNvSpPr/>
          <p:nvPr/>
        </p:nvSpPr>
        <p:spPr>
          <a:xfrm>
            <a:off x="457200" y="594360"/>
            <a:ext cx="8229600" cy="914400"/>
          </a:xfrm>
          <a:prstGeom prst="rect">
            <a:avLst/>
          </a:prstGeom>
          <a:noFill/>
          <a:ln/>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What they said.</a:t>
            </a:r>
            <a:endParaRPr lang="en-US" sz="3600" dirty="0"/>
          </a:p>
        </p:txBody>
      </p:sp>
      <p:sp>
        <p:nvSpPr>
          <p:cNvPr id="6" name="Text 4"/>
          <p:cNvSpPr/>
          <p:nvPr/>
        </p:nvSpPr>
        <p:spPr>
          <a:xfrm>
            <a:off x="457200" y="13716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Peer testing · Sprint 4 &amp; 5 · Anonymous</a:t>
            </a:r>
            <a:endParaRPr lang="en-US" sz="1400" dirty="0"/>
          </a:p>
        </p:txBody>
      </p:sp>
      <p:sp>
        <p:nvSpPr>
          <p:cNvPr id="7" name="Shape 5"/>
          <p:cNvSpPr/>
          <p:nvPr/>
        </p:nvSpPr>
        <p:spPr>
          <a:xfrm>
            <a:off x="457200" y="1965960"/>
            <a:ext cx="2651760" cy="2468880"/>
          </a:xfrm>
          <a:prstGeom prst="rect">
            <a:avLst/>
          </a:prstGeom>
          <a:solidFill>
            <a:srgbClr val="1A1A1A"/>
          </a:solidFill>
          <a:ln/>
        </p:spPr>
        <p:txBody>
          <a:bodyPr/>
          <a:lstStyle/>
          <a:p>
            <a:endParaRPr lang="en-GB"/>
          </a:p>
        </p:txBody>
      </p:sp>
      <p:sp>
        <p:nvSpPr>
          <p:cNvPr id="8" name="Shape 6"/>
          <p:cNvSpPr/>
          <p:nvPr/>
        </p:nvSpPr>
        <p:spPr>
          <a:xfrm>
            <a:off x="457200" y="1965960"/>
            <a:ext cx="2651760" cy="54864"/>
          </a:xfrm>
          <a:prstGeom prst="rect">
            <a:avLst/>
          </a:prstGeom>
          <a:solidFill>
            <a:srgbClr val="FFCD00"/>
          </a:solidFill>
          <a:ln/>
        </p:spPr>
        <p:txBody>
          <a:bodyPr/>
          <a:lstStyle/>
          <a:p>
            <a:endParaRPr lang="en-GB"/>
          </a:p>
        </p:txBody>
      </p:sp>
      <p:sp>
        <p:nvSpPr>
          <p:cNvPr id="9" name="Text 7"/>
          <p:cNvSpPr/>
          <p:nvPr/>
        </p:nvSpPr>
        <p:spPr>
          <a:xfrm>
            <a:off x="62179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"It actually teaches you something while you play."</a:t>
            </a:r>
            <a:endParaRPr lang="en-US" sz="1350" dirty="0"/>
          </a:p>
        </p:txBody>
      </p:sp>
      <p:sp>
        <p:nvSpPr>
          <p:cNvPr id="10" name="Shape 8"/>
          <p:cNvSpPr/>
          <p:nvPr/>
        </p:nvSpPr>
        <p:spPr>
          <a:xfrm>
            <a:off x="621792" y="3657600"/>
            <a:ext cx="228600" cy="36576"/>
          </a:xfrm>
          <a:prstGeom prst="rect">
            <a:avLst/>
          </a:prstGeom>
          <a:solidFill>
            <a:srgbClr val="555555"/>
          </a:solidFill>
          <a:ln/>
        </p:spPr>
        <p:txBody>
          <a:bodyPr/>
          <a:lstStyle/>
          <a:p>
            <a:endParaRPr lang="en-GB"/>
          </a:p>
        </p:txBody>
      </p:sp>
      <p:sp>
        <p:nvSpPr>
          <p:cNvPr id="11" name="Text 9"/>
          <p:cNvSpPr/>
          <p:nvPr/>
        </p:nvSpPr>
        <p:spPr>
          <a:xfrm>
            <a:off x="62179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2" name="Shape 10"/>
          <p:cNvSpPr/>
          <p:nvPr/>
        </p:nvSpPr>
        <p:spPr>
          <a:xfrm>
            <a:off x="3337560" y="1965960"/>
            <a:ext cx="2651760" cy="2468880"/>
          </a:xfrm>
          <a:prstGeom prst="rect">
            <a:avLst/>
          </a:prstGeom>
          <a:solidFill>
            <a:srgbClr val="1A1A1A"/>
          </a:solidFill>
          <a:ln/>
        </p:spPr>
        <p:txBody>
          <a:bodyPr/>
          <a:lstStyle/>
          <a:p>
            <a:endParaRPr lang="en-GB"/>
          </a:p>
        </p:txBody>
      </p:sp>
      <p:sp>
        <p:nvSpPr>
          <p:cNvPr id="13" name="Shape 11"/>
          <p:cNvSpPr/>
          <p:nvPr/>
        </p:nvSpPr>
        <p:spPr>
          <a:xfrm>
            <a:off x="3337560" y="1965960"/>
            <a:ext cx="2651760" cy="54864"/>
          </a:xfrm>
          <a:prstGeom prst="rect">
            <a:avLst/>
          </a:prstGeom>
          <a:solidFill>
            <a:srgbClr val="FFCD00"/>
          </a:solidFill>
          <a:ln/>
        </p:spPr>
        <p:txBody>
          <a:bodyPr/>
          <a:lstStyle/>
          <a:p>
            <a:endParaRPr lang="en-GB"/>
          </a:p>
        </p:txBody>
      </p:sp>
      <p:sp>
        <p:nvSpPr>
          <p:cNvPr id="14" name="Text 12"/>
          <p:cNvSpPr/>
          <p:nvPr/>
        </p:nvSpPr>
        <p:spPr>
          <a:xfrm>
            <a:off x="350215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 wanted another go straight away."</a:t>
            </a:r>
            <a:endParaRPr lang="en-US" sz="1350" dirty="0"/>
          </a:p>
        </p:txBody>
      </p:sp>
      <p:sp>
        <p:nvSpPr>
          <p:cNvPr id="15" name="Shape 13"/>
          <p:cNvSpPr/>
          <p:nvPr/>
        </p:nvSpPr>
        <p:spPr>
          <a:xfrm>
            <a:off x="3502152" y="3657600"/>
            <a:ext cx="228600" cy="36576"/>
          </a:xfrm>
          <a:prstGeom prst="rect">
            <a:avLst/>
          </a:prstGeom>
          <a:solidFill>
            <a:srgbClr val="555555"/>
          </a:solidFill>
          <a:ln/>
        </p:spPr>
        <p:txBody>
          <a:bodyPr/>
          <a:lstStyle/>
          <a:p>
            <a:endParaRPr lang="en-GB"/>
          </a:p>
        </p:txBody>
      </p:sp>
      <p:sp>
        <p:nvSpPr>
          <p:cNvPr id="16" name="Text 14"/>
          <p:cNvSpPr/>
          <p:nvPr/>
        </p:nvSpPr>
        <p:spPr>
          <a:xfrm>
            <a:off x="350215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7" name="Shape 15"/>
          <p:cNvSpPr/>
          <p:nvPr/>
        </p:nvSpPr>
        <p:spPr>
          <a:xfrm>
            <a:off x="6217920" y="1965960"/>
            <a:ext cx="2651760" cy="2468880"/>
          </a:xfrm>
          <a:prstGeom prst="rect">
            <a:avLst/>
          </a:prstGeom>
          <a:solidFill>
            <a:srgbClr val="1A1A1A"/>
          </a:solidFill>
          <a:ln/>
        </p:spPr>
        <p:txBody>
          <a:bodyPr/>
          <a:lstStyle/>
          <a:p>
            <a:endParaRPr lang="en-GB"/>
          </a:p>
        </p:txBody>
      </p:sp>
      <p:sp>
        <p:nvSpPr>
          <p:cNvPr id="18" name="Shape 16"/>
          <p:cNvSpPr/>
          <p:nvPr/>
        </p:nvSpPr>
        <p:spPr>
          <a:xfrm>
            <a:off x="6217920" y="1965960"/>
            <a:ext cx="2651760" cy="54864"/>
          </a:xfrm>
          <a:prstGeom prst="rect">
            <a:avLst/>
          </a:prstGeom>
          <a:solidFill>
            <a:srgbClr val="FFCD00"/>
          </a:solidFill>
          <a:ln/>
        </p:spPr>
        <p:txBody>
          <a:bodyPr/>
          <a:lstStyle/>
          <a:p>
            <a:endParaRPr lang="en-GB"/>
          </a:p>
        </p:txBody>
      </p:sp>
      <p:sp>
        <p:nvSpPr>
          <p:cNvPr id="19" name="Text 17"/>
          <p:cNvSpPr/>
          <p:nvPr/>
        </p:nvSpPr>
        <p:spPr>
          <a:xfrm>
            <a:off x="638251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"Questions felt hard but fair."</a:t>
            </a:r>
            <a:endParaRPr lang="en-US" sz="1350" dirty="0"/>
          </a:p>
        </p:txBody>
      </p:sp>
      <p:sp>
        <p:nvSpPr>
          <p:cNvPr id="20" name="Shape 18"/>
          <p:cNvSpPr/>
          <p:nvPr/>
        </p:nvSpPr>
        <p:spPr>
          <a:xfrm>
            <a:off x="6382512" y="3657600"/>
            <a:ext cx="228600" cy="36576"/>
          </a:xfrm>
          <a:prstGeom prst="rect">
            <a:avLst/>
          </a:prstGeom>
          <a:solidFill>
            <a:srgbClr val="555555"/>
          </a:solidFill>
          <a:ln/>
        </p:spPr>
        <p:txBody>
          <a:bodyPr/>
          <a:lstStyle/>
          <a:p>
            <a:endParaRPr lang="en-GB"/>
          </a:p>
        </p:txBody>
      </p:sp>
      <p:sp>
        <p:nvSpPr>
          <p:cNvPr id="21" name="Text 19"/>
          <p:cNvSpPr/>
          <p:nvPr/>
        </p:nvSpPr>
        <p:spPr>
          <a:xfrm>
            <a:off x="638251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5</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PRODUCT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16 / 18</a:t>
            </a:r>
            <a:endParaRPr lang="en-US" sz="900" dirty="0"/>
          </a:p>
        </p:txBody>
      </p:sp>
      <p:sp>
        <p:nvSpPr>
          <p:cNvPr id="5" name="Text 3"/>
          <p:cNvSpPr/>
          <p:nvPr/>
        </p:nvSpPr>
        <p:spPr>
          <a:xfrm>
            <a:off x="457200" y="457200"/>
            <a:ext cx="8229600" cy="660400"/>
          </a:xfrm>
          <a:prstGeom prst="rect">
            <a:avLst/>
          </a:prstGeom>
          <a:noFill/>
          <a:ln/>
        </p:spPr>
        <p:txBody>
          <a:bodyPr wrap="square" rtlCol="0" anchor="ctr"/>
          <a:lstStyle/>
          <a:p>
            <a:pPr marL="0" indent="0">
              <a:buNone/>
            </a:pPr>
            <a:r>
              <a:rPr lang="en-US" sz="2600" b="1" dirty="0">
                <a:solidFill>
                  <a:srgbClr val="FFFFFF"/>
                </a:solidFill>
                <a:latin typeface="Arial Black" pitchFamily="34" charset="0"/>
                <a:ea typeface="Arial Black" pitchFamily="34" charset="-122"/>
                <a:cs typeface="Arial Black" pitchFamily="34" charset="-120"/>
              </a:rPr>
              <a:t>This is what we built.</a:t>
            </a:r>
            <a:endParaRPr lang="en-US" sz="2600" dirty="0"/>
          </a:p>
        </p:txBody>
      </p:sp>
      <p:pic>
        <p:nvPicPr>
          <p:cNvPr id="6" name="Picture 5" descr="Game ss.png"/>
          <p:cNvPicPr>
            <a:picLocks noChangeAspect="1"/>
          </p:cNvPicPr>
          <p:nvPr/>
        </p:nvPicPr>
        <p:blipFill>
          <a:blip r:embed="rId4"/>
          <a:stretch>
            <a:fillRect/>
          </a:stretch>
        </p:blipFill>
        <p:spPr>
          <a:xfrm>
            <a:off x="365760" y="1005840"/>
            <a:ext cx="8412480" cy="39319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WHAT WE LEARNED</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17 / 18</a:t>
            </a:r>
            <a:endParaRPr lang="en-US" sz="900" dirty="0"/>
          </a:p>
        </p:txBody>
      </p:sp>
      <p:sp>
        <p:nvSpPr>
          <p:cNvPr id="5" name="Text 3"/>
          <p:cNvSpPr/>
          <p:nvPr/>
        </p:nvSpPr>
        <p:spPr>
          <a:xfrm>
            <a:off x="457200" y="1005840"/>
            <a:ext cx="8229600" cy="1320800"/>
          </a:xfrm>
          <a:prstGeom prst="rect">
            <a:avLst/>
          </a:prstGeom>
          <a:noFill/>
          <a:ln/>
        </p:spPr>
        <p:txBody>
          <a:bodyPr wrap="square" rtlCol="0" anchor="ctr"/>
          <a:lstStyle/>
          <a:p>
            <a:pPr marL="0" indent="0">
              <a:buNone/>
            </a:pPr>
            <a:r>
              <a:rPr lang="en-US" sz="5200" b="1" dirty="0">
                <a:solidFill>
                  <a:srgbClr val="FFFFFF"/>
                </a:solidFill>
                <a:latin typeface="Arial Black" pitchFamily="34" charset="0"/>
                <a:ea typeface="Arial Black" pitchFamily="34" charset="-122"/>
                <a:cs typeface="Arial Black" pitchFamily="34" charset="-120"/>
              </a:rPr>
              <a:t>Communication</a:t>
            </a:r>
            <a:endParaRPr lang="en-US" sz="5200" dirty="0"/>
          </a:p>
          <a:p>
            <a:pPr marL="0" indent="0">
              <a:buNone/>
            </a:pPr>
            <a:r>
              <a:rPr lang="en-US" sz="5200" b="1" dirty="0">
                <a:solidFill>
                  <a:srgbClr val="FFFFFF"/>
                </a:solidFill>
                <a:latin typeface="Arial Black" pitchFamily="34" charset="0"/>
                <a:ea typeface="Arial Black" pitchFamily="34" charset="-122"/>
                <a:cs typeface="Arial Black" pitchFamily="34" charset="-120"/>
              </a:rPr>
              <a:t>built the product.</a:t>
            </a:r>
            <a:endParaRPr lang="en-US" sz="5200" dirty="0"/>
          </a:p>
        </p:txBody>
      </p:sp>
      <p:sp>
        <p:nvSpPr>
          <p:cNvPr id="6" name="Shape 4"/>
          <p:cNvSpPr/>
          <p:nvPr/>
        </p:nvSpPr>
        <p:spPr>
          <a:xfrm>
            <a:off x="457200" y="3291840"/>
            <a:ext cx="8229600" cy="10973"/>
          </a:xfrm>
          <a:prstGeom prst="rect">
            <a:avLst/>
          </a:prstGeom>
          <a:solidFill>
            <a:srgbClr val="222222"/>
          </a:solidFill>
          <a:ln/>
        </p:spPr>
        <p:txBody>
          <a:bodyPr/>
          <a:lstStyle/>
          <a:p>
            <a:endParaRPr lang="en-GB"/>
          </a:p>
        </p:txBody>
      </p:sp>
      <p:sp>
        <p:nvSpPr>
          <p:cNvPr id="7" name="Text 5"/>
          <p:cNvSpPr/>
          <p:nvPr/>
        </p:nvSpPr>
        <p:spPr>
          <a:xfrm>
            <a:off x="457200" y="34290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Not the code. Not the tools. The way five people stayed aligned.</a:t>
            </a:r>
            <a:endParaRPr lang="en-US" sz="14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457200" y="256032"/>
            <a:ext cx="6858000" cy="256032"/>
          </a:xfrm>
          <a:prstGeom prst="rect">
            <a:avLst/>
          </a:prstGeom>
          <a:noFill/>
        </p:spPr>
        <p:txBody>
          <a:bodyPr wrap="square">
            <a:spAutoFit/>
          </a:bodyPr>
          <a:lstStyle/>
          <a:p>
            <a:pPr algn="l"/>
            <a:r>
              <a:rPr sz="1000" b="1" i="0">
                <a:solidFill>
                  <a:srgbClr val="888888"/>
                </a:solidFill>
              </a:rPr>
              <a:t>PROFESSIONAL DEVELOPMENT</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2800" b="1" i="0">
                <a:solidFill>
                  <a:srgbClr val="FFFFFF"/>
                </a:solidFill>
              </a:rPr>
              <a:t>This project taught us how</a:t>
            </a:r>
          </a:p>
          <a:p>
            <a:pPr algn="l"/>
            <a:r>
              <a:rPr sz="2800" b="1" i="0">
                <a:solidFill>
                  <a:srgbClr val="FFFFFF"/>
                </a:solidFill>
              </a:rPr>
              <a:t>industry teams actually work.</a:t>
            </a:r>
          </a:p>
        </p:txBody>
      </p:sp>
      <p:sp>
        <p:nvSpPr>
          <p:cNvPr id="5" name="TextBox 4"/>
          <p:cNvSpPr txBox="1"/>
          <p:nvPr/>
        </p:nvSpPr>
        <p:spPr>
          <a:xfrm>
            <a:off x="457200" y="1874519"/>
            <a:ext cx="3840480" cy="256032"/>
          </a:xfrm>
          <a:prstGeom prst="rect">
            <a:avLst/>
          </a:prstGeom>
          <a:noFill/>
        </p:spPr>
        <p:txBody>
          <a:bodyPr wrap="square">
            <a:spAutoFit/>
          </a:bodyPr>
          <a:lstStyle/>
          <a:p>
            <a:pPr algn="l"/>
            <a:r>
              <a:rPr sz="1300" b="1" i="0">
                <a:solidFill>
                  <a:srgbClr val="FFCD00"/>
                </a:solidFill>
              </a:rPr>
              <a:t>Structured communication</a:t>
            </a:r>
          </a:p>
        </p:txBody>
      </p:sp>
      <p:sp>
        <p:nvSpPr>
          <p:cNvPr id="6" name="TextBox 5"/>
          <p:cNvSpPr txBox="1"/>
          <p:nvPr/>
        </p:nvSpPr>
        <p:spPr>
          <a:xfrm>
            <a:off x="457200" y="2148839"/>
            <a:ext cx="8229600" cy="411480"/>
          </a:xfrm>
          <a:prstGeom prst="rect">
            <a:avLst/>
          </a:prstGeom>
          <a:noFill/>
        </p:spPr>
        <p:txBody>
          <a:bodyPr wrap="square">
            <a:spAutoFit/>
          </a:bodyPr>
          <a:lstStyle/>
          <a:p>
            <a:pPr algn="l"/>
            <a:r>
              <a:rPr sz="1100" b="0" i="0">
                <a:solidFill>
                  <a:srgbClr val="AAAAAA"/>
                </a:solidFill>
              </a:rPr>
              <a:t>Raising issues immediately, logging decisions in Trello and meeting minutes — these are professional standards, not student habits.</a:t>
            </a:r>
          </a:p>
        </p:txBody>
      </p:sp>
      <p:sp>
        <p:nvSpPr>
          <p:cNvPr id="7" name="TextBox 6"/>
          <p:cNvSpPr txBox="1"/>
          <p:nvPr/>
        </p:nvSpPr>
        <p:spPr>
          <a:xfrm>
            <a:off x="457200" y="2697479"/>
            <a:ext cx="3840480" cy="256032"/>
          </a:xfrm>
          <a:prstGeom prst="rect">
            <a:avLst/>
          </a:prstGeom>
          <a:noFill/>
        </p:spPr>
        <p:txBody>
          <a:bodyPr wrap="square">
            <a:spAutoFit/>
          </a:bodyPr>
          <a:lstStyle/>
          <a:p>
            <a:pPr algn="l"/>
            <a:r>
              <a:rPr sz="1300" b="1" i="0">
                <a:solidFill>
                  <a:srgbClr val="FFCD00"/>
                </a:solidFill>
              </a:rPr>
              <a:t>Real version control</a:t>
            </a:r>
          </a:p>
        </p:txBody>
      </p:sp>
      <p:sp>
        <p:nvSpPr>
          <p:cNvPr id="8" name="TextBox 7"/>
          <p:cNvSpPr txBox="1"/>
          <p:nvPr/>
        </p:nvSpPr>
        <p:spPr>
          <a:xfrm>
            <a:off x="457200" y="2971799"/>
            <a:ext cx="8229600" cy="411480"/>
          </a:xfrm>
          <a:prstGeom prst="rect">
            <a:avLst/>
          </a:prstGeom>
          <a:noFill/>
        </p:spPr>
        <p:txBody>
          <a:bodyPr wrap="square">
            <a:spAutoFit/>
          </a:bodyPr>
          <a:lstStyle/>
          <a:p>
            <a:pPr algn="l"/>
            <a:r>
              <a:rPr sz="1100" b="0" i="0">
                <a:solidFill>
                  <a:srgbClr val="AAAAAA"/>
                </a:solidFill>
              </a:rPr>
              <a:t>Feature branches, no pushing to main without review. We left this project with actual Git workflow experience.</a:t>
            </a:r>
          </a:p>
        </p:txBody>
      </p:sp>
      <p:sp>
        <p:nvSpPr>
          <p:cNvPr id="9" name="TextBox 8"/>
          <p:cNvSpPr txBox="1"/>
          <p:nvPr/>
        </p:nvSpPr>
        <p:spPr>
          <a:xfrm>
            <a:off x="457200" y="3520439"/>
            <a:ext cx="3840480" cy="256032"/>
          </a:xfrm>
          <a:prstGeom prst="rect">
            <a:avLst/>
          </a:prstGeom>
          <a:noFill/>
        </p:spPr>
        <p:txBody>
          <a:bodyPr wrap="square">
            <a:spAutoFit/>
          </a:bodyPr>
          <a:lstStyle/>
          <a:p>
            <a:pPr algn="l"/>
            <a:r>
              <a:rPr sz="1300" b="1" i="0">
                <a:solidFill>
                  <a:srgbClr val="FFCD00"/>
                </a:solidFill>
              </a:rPr>
              <a:t>Agile delivery mindset</a:t>
            </a:r>
          </a:p>
        </p:txBody>
      </p:sp>
      <p:sp>
        <p:nvSpPr>
          <p:cNvPr id="10" name="TextBox 9"/>
          <p:cNvSpPr txBox="1"/>
          <p:nvPr/>
        </p:nvSpPr>
        <p:spPr>
          <a:xfrm>
            <a:off x="457200" y="3794759"/>
            <a:ext cx="8229600" cy="411480"/>
          </a:xfrm>
          <a:prstGeom prst="rect">
            <a:avLst/>
          </a:prstGeom>
          <a:noFill/>
        </p:spPr>
        <p:txBody>
          <a:bodyPr wrap="square">
            <a:spAutoFit/>
          </a:bodyPr>
          <a:lstStyle/>
          <a:p>
            <a:pPr algn="l"/>
            <a:r>
              <a:rPr sz="1100" b="0" i="0">
                <a:solidFill>
                  <a:srgbClr val="AAAAAA"/>
                </a:solidFill>
              </a:rPr>
              <a:t>Five sprints with goals, retrospectives, and user testing mirrors how software teams ship in industry.</a:t>
            </a:r>
          </a:p>
        </p:txBody>
      </p:sp>
      <p:sp>
        <p:nvSpPr>
          <p:cNvPr id="11" name="TextBox 10"/>
          <p:cNvSpPr txBox="1"/>
          <p:nvPr/>
        </p:nvSpPr>
        <p:spPr>
          <a:xfrm>
            <a:off x="457200" y="4343400"/>
            <a:ext cx="3840480" cy="256032"/>
          </a:xfrm>
          <a:prstGeom prst="rect">
            <a:avLst/>
          </a:prstGeom>
          <a:noFill/>
        </p:spPr>
        <p:txBody>
          <a:bodyPr wrap="square">
            <a:spAutoFit/>
          </a:bodyPr>
          <a:lstStyle/>
          <a:p>
            <a:pPr algn="l"/>
            <a:r>
              <a:rPr sz="1300" b="1" i="0">
                <a:solidFill>
                  <a:srgbClr val="FFCD00"/>
                </a:solidFill>
              </a:rPr>
              <a:t>Resilience under pressure</a:t>
            </a:r>
          </a:p>
        </p:txBody>
      </p:sp>
      <p:sp>
        <p:nvSpPr>
          <p:cNvPr id="12" name="TextBox 11"/>
          <p:cNvSpPr txBox="1"/>
          <p:nvPr/>
        </p:nvSpPr>
        <p:spPr>
          <a:xfrm>
            <a:off x="457200" y="4617720"/>
            <a:ext cx="8229600" cy="411480"/>
          </a:xfrm>
          <a:prstGeom prst="rect">
            <a:avLst/>
          </a:prstGeom>
          <a:noFill/>
        </p:spPr>
        <p:txBody>
          <a:bodyPr wrap="square">
            <a:spAutoFit/>
          </a:bodyPr>
          <a:lstStyle/>
          <a:p>
            <a:pPr algn="l"/>
            <a:r>
              <a:rPr sz="1100" b="0" i="0">
                <a:solidFill>
                  <a:srgbClr val="AAAAAA"/>
                </a:solidFill>
              </a:rPr>
              <a:t>When the game broke 2 weeks before submission, we diagnosed and fixed it in one day — as a team. That experience is irreplaceable.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CD00"/>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1280160"/>
            <a:ext cx="8229600" cy="1645920"/>
          </a:xfrm>
          <a:prstGeom prst="rect">
            <a:avLst/>
          </a:prstGeom>
          <a:noFill/>
          <a:ln/>
        </p:spPr>
        <p:txBody>
          <a:bodyPr wrap="square" rtlCol="0" anchor="ctr"/>
          <a:lstStyle/>
          <a:p>
            <a:pPr marL="0" indent="0">
              <a:buNone/>
            </a:pPr>
            <a:r>
              <a:rPr lang="en-US" sz="8000" b="1" dirty="0">
                <a:solidFill>
                  <a:srgbClr val="111111"/>
                </a:solidFill>
                <a:latin typeface="Arial Black" pitchFamily="34" charset="0"/>
                <a:ea typeface="Arial Black" pitchFamily="34" charset="-122"/>
                <a:cs typeface="Arial Black" pitchFamily="34" charset="-120"/>
              </a:rPr>
              <a:t>Thank you.</a:t>
            </a:r>
            <a:endParaRPr lang="en-US" sz="8000" dirty="0"/>
          </a:p>
        </p:txBody>
      </p:sp>
      <p:sp>
        <p:nvSpPr>
          <p:cNvPr id="4" name="Shape 2"/>
          <p:cNvSpPr/>
          <p:nvPr/>
        </p:nvSpPr>
        <p:spPr>
          <a:xfrm>
            <a:off x="475488" y="3246120"/>
            <a:ext cx="1645920" cy="45720"/>
          </a:xfrm>
          <a:prstGeom prst="rect">
            <a:avLst/>
          </a:prstGeom>
          <a:solidFill>
            <a:srgbClr val="111111"/>
          </a:solidFill>
          <a:ln/>
        </p:spPr>
        <p:txBody>
          <a:bodyPr/>
          <a:lstStyle/>
          <a:p>
            <a:endParaRPr lang="en-GB"/>
          </a:p>
        </p:txBody>
      </p:sp>
      <p:sp>
        <p:nvSpPr>
          <p:cNvPr id="5" name="Text 3"/>
          <p:cNvSpPr/>
          <p:nvPr/>
        </p:nvSpPr>
        <p:spPr>
          <a:xfrm>
            <a:off x="475488" y="3429000"/>
            <a:ext cx="8229600" cy="365760"/>
          </a:xfrm>
          <a:prstGeom prst="rect">
            <a:avLst/>
          </a:prstGeom>
          <a:noFill/>
          <a:ln/>
        </p:spPr>
        <p:txBody>
          <a:bodyPr wrap="square" rtlCol="0" anchor="ctr"/>
          <a:lstStyle/>
          <a:p>
            <a:pPr marL="0" indent="0">
              <a:buNone/>
            </a:pPr>
            <a:r>
              <a:rPr lang="en-US" sz="1500" dirty="0">
                <a:solidFill>
                  <a:srgbClr val="333333"/>
                </a:solidFill>
                <a:latin typeface="Arial" pitchFamily="34" charset="0"/>
                <a:ea typeface="Arial" pitchFamily="34" charset="-122"/>
                <a:cs typeface="Arial" pitchFamily="34" charset="-120"/>
              </a:rPr>
              <a:t>Questions welcome — happy to run a live demo.</a:t>
            </a:r>
            <a:endParaRPr lang="en-US" sz="1500" dirty="0"/>
          </a:p>
        </p:txBody>
      </p:sp>
      <p:sp>
        <p:nvSpPr>
          <p:cNvPr id="6" name="Text 4"/>
          <p:cNvSpPr/>
          <p:nvPr/>
        </p:nvSpPr>
        <p:spPr>
          <a:xfrm>
            <a:off x="475488" y="4754880"/>
            <a:ext cx="8229600" cy="228600"/>
          </a:xfrm>
          <a:prstGeom prst="rect">
            <a:avLst/>
          </a:prstGeom>
          <a:noFill/>
          <a:ln/>
        </p:spPr>
        <p:txBody>
          <a:bodyPr wrap="square" rtlCol="0" anchor="ctr"/>
          <a:lstStyle/>
          <a:p>
            <a:pPr marL="0" indent="0">
              <a:buNone/>
            </a:pPr>
            <a:r>
              <a:rPr lang="en-US" sz="1000" b="1" dirty="0">
                <a:solidFill>
                  <a:srgbClr val="444444"/>
                </a:solidFill>
                <a:latin typeface="Arial" pitchFamily="34" charset="0"/>
                <a:ea typeface="Arial" pitchFamily="34" charset="-122"/>
                <a:cs typeface="Arial" pitchFamily="34" charset="-120"/>
              </a:rPr>
              <a:t>Ninja Quiz  ·  Team The Originals  ·  503IT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1456</Words>
  <Application>Microsoft Office PowerPoint</Application>
  <PresentationFormat>On-screen Show (16:9)</PresentationFormat>
  <Paragraphs>187</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Aakash G C</cp:lastModifiedBy>
  <cp:revision>2</cp:revision>
  <dcterms:created xsi:type="dcterms:W3CDTF">2026-06-09T16:06:25Z</dcterms:created>
  <dcterms:modified xsi:type="dcterms:W3CDTF">2026-06-09T16:07:28Z</dcterms:modified>
</cp:coreProperties>
</file>