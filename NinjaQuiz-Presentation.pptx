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75" r:id="rId26"/>
    <p:sldId id="265" r:id="rId11"/>
    <p:sldId id="266" r:id="rId12"/>
    <p:sldId id="267" r:id="rId13"/>
    <p:sldId id="268" r:id="rId14"/>
    <p:sldId id="269" r:id="rId15"/>
    <p:sldId id="270" r:id="rId16"/>
    <p:sldId id="271" r:id="rId17"/>
    <p:sldId id="272" r:id="rId18"/>
    <p:sldId id="276" r:id="rId27"/>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xml"/><Relationship Id="rId26" Type="http://schemas.openxmlformats.org/officeDocument/2006/relationships/slide" Target="slides/slide11.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brief existed. One in three children has already encountered an online risk — but passive teaching does not stick. The client needed something young people would actually engage with. That was our starting point.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WHAT WE WILL COVER</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3400" b="1" i="0">
                <a:solidFill>
                  <a:srgbClr val="FFFFFF"/>
                </a:solidFill>
              </a:rPr>
              <a:t>15 minutes.</a:t>
            </a:r>
          </a:p>
          <a:p>
            <a:pPr algn="l"/>
            <a:r>
              <a:rPr sz="3400" b="1" i="0">
                <a:solidFill>
                  <a:srgbClr val="FFFFFF"/>
                </a:solidFill>
              </a:rPr>
              <a:t>One story.</a:t>
            </a:r>
          </a:p>
        </p:txBody>
      </p:sp>
      <p:sp>
        <p:nvSpPr>
          <p:cNvPr id="5" name="TextBox 4"/>
          <p:cNvSpPr txBox="1"/>
          <p:nvPr/>
        </p:nvSpPr>
        <p:spPr>
          <a:xfrm>
            <a:off x="457200" y="1874519"/>
            <a:ext cx="640080" cy="292608"/>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874519"/>
            <a:ext cx="7680960" cy="292608"/>
          </a:xfrm>
          <a:prstGeom prst="rect">
            <a:avLst/>
          </a:prstGeom>
          <a:noFill/>
        </p:spPr>
        <p:txBody>
          <a:bodyPr wrap="square">
            <a:spAutoFit/>
          </a:bodyPr>
          <a:lstStyle/>
          <a:p>
            <a:pPr algn="l"/>
            <a:r>
              <a:rPr sz="1200" b="0" i="0">
                <a:solidFill>
                  <a:srgbClr val="DDDDDD"/>
                </a:solidFill>
              </a:rPr>
              <a:t>The brief — and why we chose this audience</a:t>
            </a:r>
          </a:p>
        </p:txBody>
      </p:sp>
      <p:sp>
        <p:nvSpPr>
          <p:cNvPr id="7" name="TextBox 6"/>
          <p:cNvSpPr txBox="1"/>
          <p:nvPr/>
        </p:nvSpPr>
        <p:spPr>
          <a:xfrm>
            <a:off x="457200" y="2331720"/>
            <a:ext cx="640080" cy="292608"/>
          </a:xfrm>
          <a:prstGeom prst="rect">
            <a:avLst/>
          </a:prstGeom>
          <a:noFill/>
        </p:spPr>
        <p:txBody>
          <a:bodyPr wrap="square">
            <a:spAutoFit/>
          </a:bodyPr>
          <a:lstStyle/>
          <a:p>
            <a:pPr algn="l"/>
            <a:r>
              <a:rPr sz="1200" b="1" i="0">
                <a:solidFill>
                  <a:srgbClr val="FFCD00"/>
                </a:solidFill>
              </a:rPr>
              <a:t>02</a:t>
            </a:r>
          </a:p>
        </p:txBody>
      </p:sp>
      <p:sp>
        <p:nvSpPr>
          <p:cNvPr id="8" name="TextBox 7"/>
          <p:cNvSpPr txBox="1"/>
          <p:nvPr/>
        </p:nvSpPr>
        <p:spPr>
          <a:xfrm>
            <a:off x="1188720" y="2331720"/>
            <a:ext cx="7680960" cy="292608"/>
          </a:xfrm>
          <a:prstGeom prst="rect">
            <a:avLst/>
          </a:prstGeom>
          <a:noFill/>
        </p:spPr>
        <p:txBody>
          <a:bodyPr wrap="square">
            <a:spAutoFit/>
          </a:bodyPr>
          <a:lstStyle/>
          <a:p>
            <a:pPr algn="l"/>
            <a:r>
              <a:rPr sz="1200" b="0" i="0">
                <a:solidFill>
                  <a:srgbClr val="DDDDDD"/>
                </a:solidFill>
              </a:rPr>
              <a:t>Our team — roles and Belbin framework</a:t>
            </a:r>
          </a:p>
        </p:txBody>
      </p:sp>
      <p:sp>
        <p:nvSpPr>
          <p:cNvPr id="9" name="TextBox 8"/>
          <p:cNvSpPr txBox="1"/>
          <p:nvPr/>
        </p:nvSpPr>
        <p:spPr>
          <a:xfrm>
            <a:off x="457200" y="2788920"/>
            <a:ext cx="640080" cy="292608"/>
          </a:xfrm>
          <a:prstGeom prst="rect">
            <a:avLst/>
          </a:prstGeom>
          <a:noFill/>
        </p:spPr>
        <p:txBody>
          <a:bodyPr wrap="square">
            <a:spAutoFit/>
          </a:bodyPr>
          <a:lstStyle/>
          <a:p>
            <a:pPr algn="l"/>
            <a:r>
              <a:rPr sz="1200" b="1" i="0">
                <a:solidFill>
                  <a:srgbClr val="FFCD00"/>
                </a:solidFill>
              </a:rPr>
              <a:t>03</a:t>
            </a:r>
          </a:p>
        </p:txBody>
      </p:sp>
      <p:sp>
        <p:nvSpPr>
          <p:cNvPr id="10" name="TextBox 9"/>
          <p:cNvSpPr txBox="1"/>
          <p:nvPr/>
        </p:nvSpPr>
        <p:spPr>
          <a:xfrm>
            <a:off x="1188720" y="2788920"/>
            <a:ext cx="7680960" cy="292608"/>
          </a:xfrm>
          <a:prstGeom prst="rect">
            <a:avLst/>
          </a:prstGeom>
          <a:noFill/>
        </p:spPr>
        <p:txBody>
          <a:bodyPr wrap="square">
            <a:spAutoFit/>
          </a:bodyPr>
          <a:lstStyle/>
          <a:p>
            <a:pPr algn="l"/>
            <a:r>
              <a:rPr sz="1200" b="0" i="0">
                <a:solidFill>
                  <a:srgbClr val="DDDDDD"/>
                </a:solidFill>
              </a:rPr>
              <a:t>How we planned, communicated and tracked work</a:t>
            </a:r>
          </a:p>
        </p:txBody>
      </p:sp>
      <p:sp>
        <p:nvSpPr>
          <p:cNvPr id="11" name="TextBox 10"/>
          <p:cNvSpPr txBox="1"/>
          <p:nvPr/>
        </p:nvSpPr>
        <p:spPr>
          <a:xfrm>
            <a:off x="457200" y="3246120"/>
            <a:ext cx="640080" cy="292608"/>
          </a:xfrm>
          <a:prstGeom prst="rect">
            <a:avLst/>
          </a:prstGeom>
          <a:noFill/>
        </p:spPr>
        <p:txBody>
          <a:bodyPr wrap="square">
            <a:spAutoFit/>
          </a:bodyPr>
          <a:lstStyle/>
          <a:p>
            <a:pPr algn="l"/>
            <a:r>
              <a:rPr sz="1200" b="1" i="0">
                <a:solidFill>
                  <a:srgbClr val="FFCD00"/>
                </a:solidFill>
              </a:rPr>
              <a:t>04</a:t>
            </a:r>
          </a:p>
        </p:txBody>
      </p:sp>
      <p:sp>
        <p:nvSpPr>
          <p:cNvPr id="12" name="TextBox 11"/>
          <p:cNvSpPr txBox="1"/>
          <p:nvPr/>
        </p:nvSpPr>
        <p:spPr>
          <a:xfrm>
            <a:off x="1188720" y="3246120"/>
            <a:ext cx="7680960" cy="292608"/>
          </a:xfrm>
          <a:prstGeom prst="rect">
            <a:avLst/>
          </a:prstGeom>
          <a:noFill/>
        </p:spPr>
        <p:txBody>
          <a:bodyPr wrap="square">
            <a:spAutoFit/>
          </a:bodyPr>
          <a:lstStyle/>
          <a:p>
            <a:pPr algn="l"/>
            <a:r>
              <a:rPr sz="1200" b="0" i="0">
                <a:solidFill>
                  <a:srgbClr val="DDDDDD"/>
                </a:solidFill>
              </a:rPr>
              <a:t>Our delivery — 5 sprints and what each taught us</a:t>
            </a:r>
          </a:p>
        </p:txBody>
      </p:sp>
      <p:sp>
        <p:nvSpPr>
          <p:cNvPr id="13" name="TextBox 12"/>
          <p:cNvSpPr txBox="1"/>
          <p:nvPr/>
        </p:nvSpPr>
        <p:spPr>
          <a:xfrm>
            <a:off x="457200" y="3703320"/>
            <a:ext cx="640080" cy="292608"/>
          </a:xfrm>
          <a:prstGeom prst="rect">
            <a:avLst/>
          </a:prstGeom>
          <a:noFill/>
        </p:spPr>
        <p:txBody>
          <a:bodyPr wrap="square">
            <a:spAutoFit/>
          </a:bodyPr>
          <a:lstStyle/>
          <a:p>
            <a:pPr algn="l"/>
            <a:r>
              <a:rPr sz="1200" b="1" i="0">
                <a:solidFill>
                  <a:srgbClr val="FFCD00"/>
                </a:solidFill>
              </a:rPr>
              <a:t>05</a:t>
            </a:r>
          </a:p>
        </p:txBody>
      </p:sp>
      <p:sp>
        <p:nvSpPr>
          <p:cNvPr id="14" name="TextBox 13"/>
          <p:cNvSpPr txBox="1"/>
          <p:nvPr/>
        </p:nvSpPr>
        <p:spPr>
          <a:xfrm>
            <a:off x="1188720" y="3703320"/>
            <a:ext cx="7680960" cy="292608"/>
          </a:xfrm>
          <a:prstGeom prst="rect">
            <a:avLst/>
          </a:prstGeom>
          <a:noFill/>
        </p:spPr>
        <p:txBody>
          <a:bodyPr wrap="square">
            <a:spAutoFit/>
          </a:bodyPr>
          <a:lstStyle/>
          <a:p>
            <a:pPr algn="l"/>
            <a:r>
              <a:rPr sz="1200" b="0" i="0">
                <a:solidFill>
                  <a:srgbClr val="DDDDDD"/>
                </a:solidFill>
              </a:rPr>
              <a:t>The product — a live, playable prototype</a:t>
            </a:r>
          </a:p>
        </p:txBody>
      </p:sp>
      <p:sp>
        <p:nvSpPr>
          <p:cNvPr id="15" name="TextBox 14"/>
          <p:cNvSpPr txBox="1"/>
          <p:nvPr/>
        </p:nvSpPr>
        <p:spPr>
          <a:xfrm>
            <a:off x="457200" y="4160520"/>
            <a:ext cx="640080" cy="292608"/>
          </a:xfrm>
          <a:prstGeom prst="rect">
            <a:avLst/>
          </a:prstGeom>
          <a:noFill/>
        </p:spPr>
        <p:txBody>
          <a:bodyPr wrap="square">
            <a:spAutoFit/>
          </a:bodyPr>
          <a:lstStyle/>
          <a:p>
            <a:pPr algn="l"/>
            <a:r>
              <a:rPr sz="1200" b="1" i="0">
                <a:solidFill>
                  <a:srgbClr val="FFCD00"/>
                </a:solidFill>
              </a:rPr>
              <a:t>06</a:t>
            </a:r>
          </a:p>
        </p:txBody>
      </p:sp>
      <p:sp>
        <p:nvSpPr>
          <p:cNvPr id="16" name="TextBox 15"/>
          <p:cNvSpPr txBox="1"/>
          <p:nvPr/>
        </p:nvSpPr>
        <p:spPr>
          <a:xfrm>
            <a:off x="1188720" y="4160520"/>
            <a:ext cx="7680960" cy="292608"/>
          </a:xfrm>
          <a:prstGeom prst="rect">
            <a:avLst/>
          </a:prstGeom>
          <a:noFill/>
        </p:spPr>
        <p:txBody>
          <a:bodyPr wrap="square">
            <a:spAutoFit/>
          </a:bodyPr>
          <a:lstStyle/>
          <a:p>
            <a:pPr algn="l"/>
            <a:r>
              <a:rPr sz="1200" b="0" i="0">
                <a:solidFill>
                  <a:srgbClr val="DDDDDD"/>
                </a:solidFill>
              </a:rPr>
              <a:t>What we learned — and how it shapes our careers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BRIEF</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02 / 18</a:t>
            </a:r>
            <a:endParaRPr lang="en-US" sz="900" dirty="0"/>
          </a:p>
        </p:txBody>
      </p:sp>
      <p:sp>
        <p:nvSpPr>
          <p:cNvPr id="5" name="Text 3"/>
          <p:cNvSpPr/>
          <p:nvPr/>
        </p:nvSpPr>
        <p:spPr>
          <a:xfrm>
            <a:off x="457200" y="822960"/>
            <a:ext cx="8229600" cy="2438400"/>
          </a:xfrm>
          <a:prstGeom prst="rect">
            <a:avLst/>
          </a:prstGeom>
          <a:noFill/>
          <a:ln/>
        </p:spPr>
        <p:txBody>
          <a:bodyPr wrap="square" rtlCol="0" anchor="ctr"/>
          <a:lstStyle/>
          <a:p>
            <a:pPr marL="0" indent="0">
              <a:buNone/>
            </a:pPr>
            <a:r>
              <a:rPr lang="en-US" sz="9600" b="1" dirty="0">
                <a:solidFill>
                  <a:srgbClr val="FFCD00"/>
                </a:solidFill>
                <a:latin typeface="Arial Black" pitchFamily="34" charset="0"/>
                <a:ea typeface="Arial Black" pitchFamily="34" charset="-122"/>
                <a:cs typeface="Arial Black" pitchFamily="34" charset="-120"/>
              </a:rPr>
              <a:t>1 in 3</a:t>
            </a:r>
            <a:endParaRPr lang="en-US" sz="9600" dirty="0"/>
          </a:p>
        </p:txBody>
      </p:sp>
      <p:sp>
        <p:nvSpPr>
          <p:cNvPr id="6" name="Text 4"/>
          <p:cNvSpPr/>
          <p:nvPr/>
        </p:nvSpPr>
        <p:spPr>
          <a:xfrm>
            <a:off x="457200" y="246888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children have already faced an online risk.</a:t>
            </a:r>
            <a:endParaRPr lang="en-US" sz="1400" dirty="0"/>
          </a:p>
        </p:txBody>
      </p:sp>
      <p:sp>
        <p:nvSpPr>
          <p:cNvPr id="7" name="Text 5"/>
          <p:cNvSpPr/>
          <p:nvPr/>
        </p:nvSpPr>
        <p:spPr>
          <a:xfrm>
            <a:off x="457200" y="292608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The brief: build a game that actually teaches them to stay safe.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Scoring system and results screen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41148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image.jpg"/>
          <p:cNvPicPr>
            <a:picLocks noChangeAspect="1"/>
          </p:cNvPicPr>
          <p:nvPr/>
        </p:nvPicPr>
        <p:blipFill>
          <a:blip r:embed="rId3"/>
          <a:stretch>
            <a:fillRect/>
          </a:stretch>
        </p:blipFill>
        <p:spPr>
          <a:xfrm>
            <a:off x="4663440" y="1417320"/>
            <a:ext cx="4206240" cy="3291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57200" y="777240"/>
            <a:ext cx="4114800" cy="1117600"/>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team live meeting.jpeg"/>
          <p:cNvPicPr>
            <a:picLocks noChangeAspect="1"/>
          </p:cNvPicPr>
          <p:nvPr/>
        </p:nvPicPr>
        <p:blipFill>
          <a:blip r:embed="rId3"/>
          <a:stretch>
            <a:fillRect/>
          </a:stretch>
        </p:blipFill>
        <p:spPr>
          <a:xfrm>
            <a:off x="4572000" y="731520"/>
            <a:ext cx="4389120" cy="4023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SPRINT OUTCOMES</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888888"/>
                </a:solidFill>
              </a:rPr>
              <a:t>NINJA QUIZ  .  503IT</a:t>
            </a:r>
          </a:p>
        </p:txBody>
      </p:sp>
      <p:sp>
        <p:nvSpPr>
          <p:cNvPr id="4" name="TextBox 3"/>
          <p:cNvSpPr txBox="1"/>
          <p:nvPr/>
        </p:nvSpPr>
        <p:spPr>
          <a:xfrm>
            <a:off x="457200" y="658368"/>
            <a:ext cx="8229600" cy="365760"/>
          </a:xfrm>
          <a:prstGeom prst="rect">
            <a:avLst/>
          </a:prstGeom>
          <a:noFill/>
        </p:spPr>
        <p:txBody>
          <a:bodyPr wrap="square">
            <a:spAutoFit/>
          </a:bodyPr>
          <a:lstStyle/>
          <a:p>
            <a:pPr algn="l"/>
            <a:r>
              <a:rPr sz="1500" b="1" i="0">
                <a:solidFill>
                  <a:srgbClr val="111111"/>
                </a:solidFill>
              </a:rPr>
              <a:t>What each sprint delivered — and what it taught the team.</a:t>
            </a:r>
          </a:p>
        </p:txBody>
      </p:sp>
      <p:sp>
        <p:nvSpPr>
          <p:cNvPr id="5" name="TextBox 4"/>
          <p:cNvSpPr txBox="1"/>
          <p:nvPr/>
        </p:nvSpPr>
        <p:spPr>
          <a:xfrm>
            <a:off x="457200" y="1188720"/>
            <a:ext cx="640080" cy="274320"/>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188720"/>
            <a:ext cx="3657600" cy="256032"/>
          </a:xfrm>
          <a:prstGeom prst="rect">
            <a:avLst/>
          </a:prstGeom>
          <a:noFill/>
        </p:spPr>
        <p:txBody>
          <a:bodyPr wrap="square">
            <a:spAutoFit/>
          </a:bodyPr>
          <a:lstStyle/>
          <a:p>
            <a:pPr algn="l"/>
            <a:r>
              <a:rPr sz="1200" b="1" i="0">
                <a:solidFill>
                  <a:srgbClr val="111111"/>
                </a:solidFill>
              </a:rPr>
              <a:t>Sprint 1 — Setup &amp; Login</a:t>
            </a:r>
          </a:p>
        </p:txBody>
      </p:sp>
      <p:sp>
        <p:nvSpPr>
          <p:cNvPr id="7" name="TextBox 6"/>
          <p:cNvSpPr txBox="1"/>
          <p:nvPr/>
        </p:nvSpPr>
        <p:spPr>
          <a:xfrm>
            <a:off x="1188720" y="1463040"/>
            <a:ext cx="7680960" cy="457200"/>
          </a:xfrm>
          <a:prstGeom prst="rect">
            <a:avLst/>
          </a:prstGeom>
          <a:noFill/>
        </p:spPr>
        <p:txBody>
          <a:bodyPr wrap="square">
            <a:spAutoFit/>
          </a:bodyPr>
          <a:lstStyle/>
          <a:p>
            <a:pPr algn="l"/>
            <a:r>
              <a:rPr sz="900" b="0" i="0">
                <a:solidFill>
                  <a:srgbClr val="555555"/>
                </a:solidFill>
              </a:rPr>
              <a:t>Built: auth system, GitHub branches, role structure.</a:t>
            </a:r>
          </a:p>
          <a:p>
            <a:pPr algn="l"/>
            <a:r>
              <a:rPr sz="900" b="0" i="0">
                <a:solidFill>
                  <a:srgbClr val="555555"/>
                </a:solidFill>
              </a:rPr>
              <a:t>Learned: agreeing roles before coding prevented overlap and blame.</a:t>
            </a:r>
          </a:p>
        </p:txBody>
      </p:sp>
      <p:sp>
        <p:nvSpPr>
          <p:cNvPr id="8" name="TextBox 7"/>
          <p:cNvSpPr txBox="1"/>
          <p:nvPr/>
        </p:nvSpPr>
        <p:spPr>
          <a:xfrm>
            <a:off x="457200" y="1938528"/>
            <a:ext cx="640080" cy="274320"/>
          </a:xfrm>
          <a:prstGeom prst="rect">
            <a:avLst/>
          </a:prstGeom>
          <a:noFill/>
        </p:spPr>
        <p:txBody>
          <a:bodyPr wrap="square">
            <a:spAutoFit/>
          </a:bodyPr>
          <a:lstStyle/>
          <a:p>
            <a:pPr algn="l"/>
            <a:r>
              <a:rPr sz="1200" b="1" i="0">
                <a:solidFill>
                  <a:srgbClr val="FFCD00"/>
                </a:solidFill>
              </a:rPr>
              <a:t>02</a:t>
            </a:r>
          </a:p>
        </p:txBody>
      </p:sp>
      <p:sp>
        <p:nvSpPr>
          <p:cNvPr id="9" name="TextBox 8"/>
          <p:cNvSpPr txBox="1"/>
          <p:nvPr/>
        </p:nvSpPr>
        <p:spPr>
          <a:xfrm>
            <a:off x="1188720" y="1938528"/>
            <a:ext cx="3657600" cy="256032"/>
          </a:xfrm>
          <a:prstGeom prst="rect">
            <a:avLst/>
          </a:prstGeom>
          <a:noFill/>
        </p:spPr>
        <p:txBody>
          <a:bodyPr wrap="square">
            <a:spAutoFit/>
          </a:bodyPr>
          <a:lstStyle/>
          <a:p>
            <a:pPr algn="l"/>
            <a:r>
              <a:rPr sz="1200" b="1" i="0">
                <a:solidFill>
                  <a:srgbClr val="111111"/>
                </a:solidFill>
              </a:rPr>
              <a:t>Sprint 2 — Game Engine</a:t>
            </a:r>
          </a:p>
        </p:txBody>
      </p:sp>
      <p:sp>
        <p:nvSpPr>
          <p:cNvPr id="10" name="TextBox 9"/>
          <p:cNvSpPr txBox="1"/>
          <p:nvPr/>
        </p:nvSpPr>
        <p:spPr>
          <a:xfrm>
            <a:off x="1188720" y="2212848"/>
            <a:ext cx="7680960" cy="457200"/>
          </a:xfrm>
          <a:prstGeom prst="rect">
            <a:avLst/>
          </a:prstGeom>
          <a:noFill/>
        </p:spPr>
        <p:txBody>
          <a:bodyPr wrap="square">
            <a:spAutoFit/>
          </a:bodyPr>
          <a:lstStyle/>
          <a:p>
            <a:pPr algn="l"/>
            <a:r>
              <a:rPr sz="900" b="0" i="0">
                <a:solidFill>
                  <a:srgbClr val="555555"/>
                </a:solidFill>
              </a:rPr>
              <a:t>Built: core quiz loop, slash mechanic.</a:t>
            </a:r>
          </a:p>
          <a:p>
            <a:pPr algn="l"/>
            <a:r>
              <a:rPr sz="900" b="0" i="0">
                <a:solidFill>
                  <a:srgbClr val="555555"/>
                </a:solidFill>
              </a:rPr>
              <a:t>Learned: daily WhatsApp check-ins replaced long weekly catch-ups and kept everyone unblocked.</a:t>
            </a:r>
          </a:p>
        </p:txBody>
      </p:sp>
      <p:sp>
        <p:nvSpPr>
          <p:cNvPr id="11" name="TextBox 10"/>
          <p:cNvSpPr txBox="1"/>
          <p:nvPr/>
        </p:nvSpPr>
        <p:spPr>
          <a:xfrm>
            <a:off x="457200" y="2688336"/>
            <a:ext cx="640080" cy="274320"/>
          </a:xfrm>
          <a:prstGeom prst="rect">
            <a:avLst/>
          </a:prstGeom>
          <a:noFill/>
        </p:spPr>
        <p:txBody>
          <a:bodyPr wrap="square">
            <a:spAutoFit/>
          </a:bodyPr>
          <a:lstStyle/>
          <a:p>
            <a:pPr algn="l"/>
            <a:r>
              <a:rPr sz="1200" b="1" i="0">
                <a:solidFill>
                  <a:srgbClr val="FFCD00"/>
                </a:solidFill>
              </a:rPr>
              <a:t>03</a:t>
            </a:r>
          </a:p>
        </p:txBody>
      </p:sp>
      <p:sp>
        <p:nvSpPr>
          <p:cNvPr id="12" name="TextBox 11"/>
          <p:cNvSpPr txBox="1"/>
          <p:nvPr/>
        </p:nvSpPr>
        <p:spPr>
          <a:xfrm>
            <a:off x="1188720" y="2688336"/>
            <a:ext cx="3657600" cy="256032"/>
          </a:xfrm>
          <a:prstGeom prst="rect">
            <a:avLst/>
          </a:prstGeom>
          <a:noFill/>
        </p:spPr>
        <p:txBody>
          <a:bodyPr wrap="square">
            <a:spAutoFit/>
          </a:bodyPr>
          <a:lstStyle/>
          <a:p>
            <a:pPr algn="l"/>
            <a:r>
              <a:rPr sz="1200" b="1" i="0">
                <a:solidFill>
                  <a:srgbClr val="111111"/>
                </a:solidFill>
              </a:rPr>
              <a:t>Sprint 3 — Slicing &amp; Sound</a:t>
            </a:r>
          </a:p>
        </p:txBody>
      </p:sp>
      <p:sp>
        <p:nvSpPr>
          <p:cNvPr id="13" name="TextBox 12"/>
          <p:cNvSpPr txBox="1"/>
          <p:nvPr/>
        </p:nvSpPr>
        <p:spPr>
          <a:xfrm>
            <a:off x="1188720" y="2962656"/>
            <a:ext cx="7680960" cy="457200"/>
          </a:xfrm>
          <a:prstGeom prst="rect">
            <a:avLst/>
          </a:prstGeom>
          <a:noFill/>
        </p:spPr>
        <p:txBody>
          <a:bodyPr wrap="square">
            <a:spAutoFit/>
          </a:bodyPr>
          <a:lstStyle/>
          <a:p>
            <a:pPr algn="l"/>
            <a:r>
              <a:rPr sz="900" b="0" i="0">
                <a:solidFill>
                  <a:srgbClr val="555555"/>
                </a:solidFill>
              </a:rPr>
              <a:t>Built: animations, visual effects, audio.</a:t>
            </a:r>
          </a:p>
          <a:p>
            <a:pPr algn="l"/>
            <a:r>
              <a:rPr sz="900" b="0" i="0">
                <a:solidFill>
                  <a:srgbClr val="555555"/>
                </a:solidFill>
              </a:rPr>
              <a:t>Learned: first merge conflicts taught us to always pull before push — a discipline we kept.</a:t>
            </a:r>
          </a:p>
        </p:txBody>
      </p:sp>
      <p:sp>
        <p:nvSpPr>
          <p:cNvPr id="14" name="TextBox 13"/>
          <p:cNvSpPr txBox="1"/>
          <p:nvPr/>
        </p:nvSpPr>
        <p:spPr>
          <a:xfrm>
            <a:off x="457200" y="3438144"/>
            <a:ext cx="640080" cy="274320"/>
          </a:xfrm>
          <a:prstGeom prst="rect">
            <a:avLst/>
          </a:prstGeom>
          <a:noFill/>
        </p:spPr>
        <p:txBody>
          <a:bodyPr wrap="square">
            <a:spAutoFit/>
          </a:bodyPr>
          <a:lstStyle/>
          <a:p>
            <a:pPr algn="l"/>
            <a:r>
              <a:rPr sz="1200" b="1" i="0">
                <a:solidFill>
                  <a:srgbClr val="FFCD00"/>
                </a:solidFill>
              </a:rPr>
              <a:t>04</a:t>
            </a:r>
          </a:p>
        </p:txBody>
      </p:sp>
      <p:sp>
        <p:nvSpPr>
          <p:cNvPr id="15" name="TextBox 14"/>
          <p:cNvSpPr txBox="1"/>
          <p:nvPr/>
        </p:nvSpPr>
        <p:spPr>
          <a:xfrm>
            <a:off x="1188720" y="3438144"/>
            <a:ext cx="3657600" cy="256032"/>
          </a:xfrm>
          <a:prstGeom prst="rect">
            <a:avLst/>
          </a:prstGeom>
          <a:noFill/>
        </p:spPr>
        <p:txBody>
          <a:bodyPr wrap="square">
            <a:spAutoFit/>
          </a:bodyPr>
          <a:lstStyle/>
          <a:p>
            <a:pPr algn="l"/>
            <a:r>
              <a:rPr sz="1200" b="1" i="0">
                <a:solidFill>
                  <a:srgbClr val="111111"/>
                </a:solidFill>
              </a:rPr>
              <a:t>Sprint 4 — Leaderboard &amp; Test</a:t>
            </a:r>
          </a:p>
        </p:txBody>
      </p:sp>
      <p:sp>
        <p:nvSpPr>
          <p:cNvPr id="16" name="TextBox 15"/>
          <p:cNvSpPr txBox="1"/>
          <p:nvPr/>
        </p:nvSpPr>
        <p:spPr>
          <a:xfrm>
            <a:off x="1188720" y="3712463"/>
            <a:ext cx="7680960" cy="457200"/>
          </a:xfrm>
          <a:prstGeom prst="rect">
            <a:avLst/>
          </a:prstGeom>
          <a:noFill/>
        </p:spPr>
        <p:txBody>
          <a:bodyPr wrap="square">
            <a:spAutoFit/>
          </a:bodyPr>
          <a:lstStyle/>
          <a:p>
            <a:pPr algn="l"/>
            <a:r>
              <a:rPr sz="900" b="0" i="0">
                <a:solidFill>
                  <a:srgbClr val="555555"/>
                </a:solidFill>
              </a:rPr>
              <a:t>Built: scoring, peer testing sessions.</a:t>
            </a:r>
          </a:p>
          <a:p>
            <a:pPr algn="l"/>
            <a:r>
              <a:rPr sz="900" b="0" i="0">
                <a:solidFill>
                  <a:srgbClr val="555555"/>
                </a:solidFill>
              </a:rPr>
              <a:t>Learned: external testers found issues we missed — peer testing is essential, not optional.</a:t>
            </a:r>
          </a:p>
        </p:txBody>
      </p:sp>
      <p:sp>
        <p:nvSpPr>
          <p:cNvPr id="17" name="TextBox 16"/>
          <p:cNvSpPr txBox="1"/>
          <p:nvPr/>
        </p:nvSpPr>
        <p:spPr>
          <a:xfrm>
            <a:off x="457200" y="4187952"/>
            <a:ext cx="640080" cy="274320"/>
          </a:xfrm>
          <a:prstGeom prst="rect">
            <a:avLst/>
          </a:prstGeom>
          <a:noFill/>
        </p:spPr>
        <p:txBody>
          <a:bodyPr wrap="square">
            <a:spAutoFit/>
          </a:bodyPr>
          <a:lstStyle/>
          <a:p>
            <a:pPr algn="l"/>
            <a:r>
              <a:rPr sz="1200" b="1" i="0">
                <a:solidFill>
                  <a:srgbClr val="FFCD00"/>
                </a:solidFill>
              </a:rPr>
              <a:t>05</a:t>
            </a:r>
          </a:p>
        </p:txBody>
      </p:sp>
      <p:sp>
        <p:nvSpPr>
          <p:cNvPr id="18" name="TextBox 17"/>
          <p:cNvSpPr txBox="1"/>
          <p:nvPr/>
        </p:nvSpPr>
        <p:spPr>
          <a:xfrm>
            <a:off x="1188720" y="4187952"/>
            <a:ext cx="3657600" cy="256032"/>
          </a:xfrm>
          <a:prstGeom prst="rect">
            <a:avLst/>
          </a:prstGeom>
          <a:noFill/>
        </p:spPr>
        <p:txBody>
          <a:bodyPr wrap="square">
            <a:spAutoFit/>
          </a:bodyPr>
          <a:lstStyle/>
          <a:p>
            <a:pPr algn="l"/>
            <a:r>
              <a:rPr sz="1200" b="1" i="0">
                <a:solidFill>
                  <a:srgbClr val="111111"/>
                </a:solidFill>
              </a:rPr>
              <a:t>Sprint 5 — Polish &amp; Submit</a:t>
            </a:r>
          </a:p>
        </p:txBody>
      </p:sp>
      <p:sp>
        <p:nvSpPr>
          <p:cNvPr id="19" name="TextBox 18"/>
          <p:cNvSpPr txBox="1"/>
          <p:nvPr/>
        </p:nvSpPr>
        <p:spPr>
          <a:xfrm>
            <a:off x="1188720" y="4462272"/>
            <a:ext cx="7680960" cy="457200"/>
          </a:xfrm>
          <a:prstGeom prst="rect">
            <a:avLst/>
          </a:prstGeom>
          <a:noFill/>
        </p:spPr>
        <p:txBody>
          <a:bodyPr wrap="square">
            <a:spAutoFit/>
          </a:bodyPr>
          <a:lstStyle/>
          <a:p>
            <a:pPr algn="l"/>
            <a:r>
              <a:rPr sz="900" b="0" i="0">
                <a:solidFill>
                  <a:srgbClr val="555555"/>
                </a:solidFill>
              </a:rPr>
              <a:t>Built: final bug fixes, documentation.</a:t>
            </a:r>
          </a:p>
          <a:p>
            <a:pPr algn="l"/>
            <a:r>
              <a:rPr sz="900" b="0" i="0">
                <a:solidFill>
                  <a:srgbClr val="555555"/>
                </a:solidFill>
              </a:rPr>
              <a:t>Learned: a team that communicates daily ships on time. We did.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4"/>
          <a:stretch>
            <a:fillRect/>
          </a:stretch>
        </p:blipFill>
        <p:spPr>
          <a:xfrm>
            <a:off x="365760" y="1005840"/>
            <a:ext cx="8412480" cy="39319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1456</Words>
  <Application>Microsoft Office PowerPoint</Application>
  <PresentationFormat>On-screen Show (16:9)</PresentationFormat>
  <Paragraphs>187</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2</cp:revision>
  <dcterms:created xsi:type="dcterms:W3CDTF">2026-06-09T16:06:25Z</dcterms:created>
  <dcterms:modified xsi:type="dcterms:W3CDTF">2026-06-09T16:07:28Z</dcterms:modified>
</cp:coreProperties>
</file>